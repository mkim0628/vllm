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1024" r:id="rId2"/>
    <p:sldId id="934" r:id="rId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90" d="100"/>
          <a:sy n="90" d="100"/>
        </p:scale>
        <p:origin x="1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B61EA-E44B-436E-BD46-F55C309ED902}" type="datetimeFigureOut">
              <a:rPr lang="ko-KR" altLang="en-US" smtClean="0"/>
              <a:t>2026-10-27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F6AE5-D570-4BC0-BB04-0F3B1F178075}" type="slidenum">
              <a:rPr lang="ko-KR" altLang="en-US" smtClean="0"/>
              <a:t>‹#›</a:t>
            </a:fld>
            <a:endParaRPr lang="ko-KR" altLang="en-US"/>
          </a:p>
        </p:txBody>
      </p:sp>
    </p:spTree>
    <p:extLst>
      <p:ext uri="{BB962C8B-B14F-4D97-AF65-F5344CB8AC3E}">
        <p14:creationId xmlns:p14="http://schemas.microsoft.com/office/powerpoint/2010/main" val="37506749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dirty="0"/>
              <a:t>[발표 스크립트 | 슬라이드 3 | 약 2분00초 | 누적 약 3분]</a:t>
            </a:r>
          </a:p>
          <a:p>
            <a:r>
              <a:rPr lang="ko-KR" dirty="0"/>
              <a:t>먼저 과제 배경입니다. 한 줄로 요약하면, Agentic AI가 확산되면서 메모리 병목이 심해지고 있고, 메모리 시장은 공급 부족과 수요 분화 국면에 들어섰다는 것입니다.</a:t>
            </a:r>
          </a:p>
          <a:p>
            <a:r>
              <a:rPr lang="ko-KR" dirty="0"/>
              <a:t>왼쪽 위 그래프는 KV 캐시 수요와 메모리 공급을 비교한 것입니다. 보라색 선이 KV 캐시 수요인데, Agent 세션이 길어지면서 연 2.5배씩 증가한다고 가정하면 2030년에 312.5ZB, 즉 300ZB를 넘어섭니다. 반면 막대는 DRAM과 NAND의 총 공급량으로, 2030년 기준 DRAM이 약 66EB, NAND가 약 1.76ZB입니다. 단위가 EB와 ZB로 1,000배씩 다르다는 점에 주의해 주십시오. 그래서 수요 312.5ZB는 NAND 총 공급의 약 177배, DRAM과 비교하면 수천 배에 해당합니다. 그래서 병목이 연산 대역폭에서 용량으로 옮겨 간다고 말씀드렸습니다. 이 수치는 Llama3 70B 기준으로 토큰당 KV 캐시 약 0.33MB를 가정한 추정이고, 공급 데이터는 Gartner 전망을 참고했습니다.</a:t>
            </a:r>
          </a:p>
          <a:p>
            <a:r>
              <a:rPr lang="ko-KR" dirty="0"/>
              <a:t>그 아래 도식은 시간 축의 문제입니다. Agent는 추론, 도구 호출, 검색을 번갈아 수행하는데, 도구가 도는 동안 GPU 연산이 끝나고 CPU로 넘어가면 GPU는 다른 요청을 처리합니다. 도구 실행이 끝나 돌아와도 GPU가 비기를 기다려야 해서 WAIT가 발생합니다. 이런 대기 때문에 지연 시간이 최대 3.66배까지 늘어난다는 보고가 있습니다. 그동안 그 세션의 KV 캐시는 HBM에서 일을 하지 않고 자리만 차지합니다.</a:t>
            </a:r>
          </a:p>
          <a:p>
            <a:r>
              <a:rPr lang="ko-KR" dirty="0"/>
              <a:t>오른쪽은 시장입니다. HBM 시장은 2025년 약 350억 달러에서 2028년 약 1,000억 달러로, 연평균 약 42% 성장이 전망됩니다. 범용 DRAM 계약가는 2025년 4분기를 100으로 두면 2026년 4분기에 약 401, 즉 약 4배까지 오를 것으로 추정되고, 분기별 상승률은 둔화되지만 가격은 계속 오르는 구조입니다. 공급은 대규모 증설이 27년 말~28년 이후라 당분간 부족합니다.</a:t>
            </a:r>
          </a:p>
          <a:p>
            <a:r>
              <a:rPr lang="ko-KR" dirty="0"/>
              <a:t>비싸고 부족한 HBM 때문에 고객 수요는 용도별로 갈라지고 있습니다. 표를 보시면 HBM이 기준이고, Base die에 고객 특화 로직을 넣는 cHBM은 2025년 약 62억 달러에서 2031년 약 254억 달러로 연평균 약 27%, 서버 단위로 용량을 확장하고 KV를 공유하는 CXL 메모리 풀은 2026년 약 25억 달러에서 2031년 약 129억 달러로 연평균 약 39% 성장이 전망됩니다. SOCAMM2·LPDDR과 HBF 같은 KV 전용 계층은 아직 공개 추정치가 없는 초기 시장입니다. 이 분화된 수요를 어떤 메모리 구조로 받을 것인가가 이 과제의 출발점입니다.</a:t>
            </a:r>
          </a:p>
          <a:p>
            <a:r>
              <a:rPr lang="ko-KR" dirty="0"/>
              <a:t>시장 규모는 기관별 정의와 범위가 달라 직접 비교는 어렵다는 점은 각주에 밝혀 두었습니다.</a:t>
            </a:r>
          </a:p>
        </p:txBody>
      </p:sp>
      <p:sp>
        <p:nvSpPr>
          <p:cNvPr id="4" name="슬라이드 번호 개체 틀 3"/>
          <p:cNvSpPr>
            <a:spLocks noGrp="1"/>
          </p:cNvSpPr>
          <p:nvPr>
            <p:ph type="sldNum" sz="quarter" idx="10"/>
          </p:nvPr>
        </p:nvSpPr>
        <p:spPr/>
        <p:txBody>
          <a:bodyPr/>
          <a:lstStyle/>
          <a:p>
            <a:fld id="{4DB17B06-B204-4E73-B04E-053CD704EFD3}" type="slidenum">
              <a:rPr lang="ko-KR" altLang="en-US" smtClean="0"/>
              <a:t>1</a:t>
            </a:fld>
            <a:endParaRPr lang="ko-KR" altLang="en-US"/>
          </a:p>
        </p:txBody>
      </p:sp>
    </p:spTree>
    <p:extLst>
      <p:ext uri="{BB962C8B-B14F-4D97-AF65-F5344CB8AC3E}">
        <p14:creationId xmlns:p14="http://schemas.microsoft.com/office/powerpoint/2010/main" val="3342421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[발표 스크립트 | 슬라이드 15 | 약 1분15초 | 누적 약 17분]</a:t>
            </a:r>
          </a:p>
          <a:p>
            <a:r>
              <a:rPr lang="ko-KR" dirty="0"/>
              <a:t>뒤 설명을 위해 KV 캐시와 Prefill/Decode를 짧게 정리합니다. LLM은 다음 토큰을 만들 때 앞선 모든 토큰의 Key와 Value를 참조합니다. 이를 매번 다시 계산하지 않도록 저장해 두는 것이 KV 캐시입니다.</a:t>
            </a:r>
          </a:p>
          <a:p>
            <a:r>
              <a:rPr lang="ko-KR" dirty="0"/>
              <a:t>Prefill은 입력 프롬프트 전체를 한 번에 연산하면서 KV 캐시를 만드는 단계로, 연산량이 큰 compute-bound 단계입니다. Decode는 토큰을 하나씩 생성하는 단계로, 새 토큰의 KV만 계산해 캐시에 덧붙이고 기존 캐시 전체를 읽습니다. 그래서 대역폭이 중요한 memory-bound 단계입니다. 예시의 '오늘의 날씨는' 세 토큰을 먼저 Prefill 하고, '맑', '고', '바'를 하나씩 Decode 하는 식입니다.</a:t>
            </a:r>
          </a:p>
          <a:p>
            <a:r>
              <a:rPr lang="ko-KR" dirty="0"/>
              <a:t>문제는 크기입니다. KV 캐시는 문맥 길이에 정비례해서, 70B급 모델 FP16 기준으로 4K 토큰이면 약 1.3GB, 32K면 10GB, 128K면 40GB입니다. 여기에 동시 사용자 수가 곱해지므로, 앞에서 본 HBM 한계가 바로 여기서 나옵니다.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88214D-28D4-4EE1-A5D0-EE2C90EB4B6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3328EEA-A8E8-432A-B1AB-C1DB159580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285AAB4-320B-48EE-B135-B380ECE1DCD2}"/>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D8E5CA92-51B0-4359-83FE-87D0C1CF97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D41C0C3-A1A1-4F7E-B702-2702550E3159}"/>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10725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97CC88-B1C3-42BD-99FD-DE14874A2F5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D9D30FE-982F-4B0E-8AED-80A9A931D1E8}"/>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40D8457-F1EA-496D-9F7D-F252B58433FB}"/>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0EE4929E-1CC9-47FA-91FE-D6357F1B19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A95EB81-BB19-46E2-9852-E06801F2F0A3}"/>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773235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7F0C0E-235E-4F47-86F1-F1EB2859635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99B9BA6-68C0-4B4A-B225-3E2E66672D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AA0EFA12-8D00-47EF-883A-896BB93C5E01}"/>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DC785335-A1FC-48C8-836D-17A106578A0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4621FC5-1D48-42DF-88F4-D7E32698F6C9}"/>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1875234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057695-4D46-4BB8-A48D-2C2C2DBB654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9446C22-5131-42CF-88D7-BBC16F16360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2DC3C78-3DCD-4E60-B268-283FE3A8CF0E}"/>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06912FAB-F840-454F-B17D-522B1EACD716}"/>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7934BC58-8038-4323-9EAB-EC7C6A28E17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5FCA268-8EBF-4569-93F0-0254B6397E18}"/>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3847205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5A6EB8-2686-44BF-8662-CC29D2B41092}"/>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EE9E3D5D-812E-4388-8C87-A61B8D58E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C18DE2DF-2EB8-4692-A283-8277B308CA7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4545C0E-8D73-489C-9DC5-ACC0CDBD82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0CC0810C-6906-4D6B-849F-C5C9381C3F2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28F2806-DB95-4697-AA6A-608942E8B8B6}"/>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8" name="바닥글 개체 틀 7">
            <a:extLst>
              <a:ext uri="{FF2B5EF4-FFF2-40B4-BE49-F238E27FC236}">
                <a16:creationId xmlns:a16="http://schemas.microsoft.com/office/drawing/2014/main" id="{E1B2B25B-B66F-4AFC-A20A-4BFE100DC7FD}"/>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F46F0FB-7E07-4CD7-B265-5F1B18B99257}"/>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354339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4C088E-A09C-4EC6-A940-97D788781AA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A878B8A-22A2-4AB8-AFC2-3D86D81521AD}"/>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4" name="바닥글 개체 틀 3">
            <a:extLst>
              <a:ext uri="{FF2B5EF4-FFF2-40B4-BE49-F238E27FC236}">
                <a16:creationId xmlns:a16="http://schemas.microsoft.com/office/drawing/2014/main" id="{E036891D-0708-44DD-978B-95C56B9D9D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3F45AAC-51C9-48D8-8D28-96DB763A457A}"/>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2194745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FB72101-97DB-4DF5-A4F0-B8431EDECEA1}"/>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3" name="바닥글 개체 틀 2">
            <a:extLst>
              <a:ext uri="{FF2B5EF4-FFF2-40B4-BE49-F238E27FC236}">
                <a16:creationId xmlns:a16="http://schemas.microsoft.com/office/drawing/2014/main" id="{27E08FA5-6A4C-4044-990C-C20A4F59DDE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97E3764-577B-4621-866C-B4E535D8BC2A}"/>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3108988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5280E6-9512-4B6D-B884-4879ABCC38B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92F926A5-4CFA-4F52-A6E1-036CECE811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F729968-7B7C-4FE6-AAE8-646077EC89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6AA8E8F-D55C-4498-95B9-05AAED7A6831}"/>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02C1D8BE-549A-4808-B70C-82D2C81678D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1000D2E-0F14-41A9-97ED-0E15F89E8A7C}"/>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2462052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64059-1B26-4366-842B-EAF704A604A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6BE47235-E237-4D19-A42F-180B3A32C8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9B3ED4F-EAF7-473D-A4C8-4F7288A80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0954E27-B42A-407D-8BE4-BC6CC5F4B4A4}"/>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1CB484DF-445E-4920-9550-9F848EB29B1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6D59C2A-7078-41ED-A227-B32664780219}"/>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895796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639F7E-0B35-4CD7-AA39-3B55DBD7AB8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AB7121FC-1954-4345-B14B-EFBA81171D1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810CA4-07E1-4B67-BA89-EFBF3720E4FE}"/>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E99EA154-2E3D-4C63-99A1-2D18E0D16B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BBED1-EB8D-4517-9886-3C5C483D6C7D}"/>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3361818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DE433DC5-3416-4AE6-96BA-0BDECEE6AD0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AB8BDDA-2EA1-4AAC-ABB7-A1D98E86FF0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6110615-187D-4504-A7EF-BF4DD326BDA2}"/>
              </a:ext>
            </a:extLst>
          </p:cNvPr>
          <p:cNvSpPr>
            <a:spLocks noGrp="1"/>
          </p:cNvSpPr>
          <p:nvPr>
            <p:ph type="dt" sz="half" idx="10"/>
          </p:nvPr>
        </p:nvSpPr>
        <p:spPr/>
        <p:txBody>
          <a:body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13B95FE6-BE7D-4EB5-9A10-92F97F3C343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9FC9F80-683C-48A0-BA96-16E59FC17982}"/>
              </a:ext>
            </a:extLst>
          </p:cNvPr>
          <p:cNvSpPr>
            <a:spLocks noGrp="1"/>
          </p:cNvSpPr>
          <p:nvPr>
            <p:ph type="sldNum" sz="quarter" idx="12"/>
          </p:nvPr>
        </p:nvSpPr>
        <p:spPr/>
        <p:txBody>
          <a:body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170642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과제소개">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Tree>
    <p:extLst>
      <p:ext uri="{BB962C8B-B14F-4D97-AF65-F5344CB8AC3E}">
        <p14:creationId xmlns:p14="http://schemas.microsoft.com/office/powerpoint/2010/main" val="2239937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설계">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dirty="0">
                <a:solidFill>
                  <a:schemeClr val="bg1"/>
                </a:solidFill>
              </a:endParaRPr>
            </a:p>
          </p:txBody>
        </p:sp>
      </p:grpSp>
    </p:spTree>
    <p:extLst>
      <p:ext uri="{BB962C8B-B14F-4D97-AF65-F5344CB8AC3E}">
        <p14:creationId xmlns:p14="http://schemas.microsoft.com/office/powerpoint/2010/main" val="209562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D14E7D1-113E-4CBF-AE3A-94FDDAEC7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82DED66-D46F-4246-AE2F-5BDCDCB50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C8F0B0D-B047-4F41-B29C-9D5712AE4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2FB86F-DEEF-4A61-B486-797DEDB93291}"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B2DCDFF9-9DF1-462F-B9C4-90F1B9D464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F92DF62-B9C0-43EB-ABC1-51D39718DF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9AE34A-0FB5-46B8-B37B-68F9AE48ED24}" type="slidenum">
              <a:rPr lang="ko-KR" altLang="en-US" smtClean="0"/>
              <a:t>‹#›</a:t>
            </a:fld>
            <a:endParaRPr lang="ko-KR" altLang="en-US"/>
          </a:p>
        </p:txBody>
      </p:sp>
    </p:spTree>
    <p:extLst>
      <p:ext uri="{BB962C8B-B14F-4D97-AF65-F5344CB8AC3E}">
        <p14:creationId xmlns:p14="http://schemas.microsoft.com/office/powerpoint/2010/main" val="421804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1.png"/><Relationship Id="rId12"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2.xml"/><Relationship Id="rId9" Type="http://schemas.openxmlformats.org/officeDocument/2006/relationships/image" Target="../media/image2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과제 배경</a:t>
            </a:r>
          </a:p>
        </p:txBody>
      </p:sp>
      <p:sp>
        <p:nvSpPr>
          <p:cNvPr id="48" name="모서리가 둥근 직사각형 47"/>
          <p:cNvSpPr/>
          <p:nvPr/>
        </p:nvSpPr>
        <p:spPr>
          <a:xfrm>
            <a:off x="212656" y="1260416"/>
            <a:ext cx="5844033" cy="4906600"/>
          </a:xfrm>
          <a:prstGeom prst="roundRect">
            <a:avLst>
              <a:gd name="adj" fmla="val 4519"/>
            </a:avLst>
          </a:prstGeom>
          <a:noFill/>
          <a:ln w="28575">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ea"/>
              <a:ea typeface="+mj-ea"/>
            </a:endParaRPr>
          </a:p>
        </p:txBody>
      </p:sp>
      <p:sp>
        <p:nvSpPr>
          <p:cNvPr id="51" name="모서리가 둥근 직사각형 50"/>
          <p:cNvSpPr/>
          <p:nvPr/>
        </p:nvSpPr>
        <p:spPr>
          <a:xfrm>
            <a:off x="6204234" y="1260416"/>
            <a:ext cx="5844033" cy="4906600"/>
          </a:xfrm>
          <a:prstGeom prst="roundRect">
            <a:avLst>
              <a:gd name="adj" fmla="val 4519"/>
            </a:avLst>
          </a:prstGeom>
          <a:noFill/>
          <a:ln w="28575">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ea"/>
              <a:ea typeface="+mj-ea"/>
            </a:endParaRPr>
          </a:p>
        </p:txBody>
      </p:sp>
      <p:sp>
        <p:nvSpPr>
          <p:cNvPr id="74" name="직사각형 73"/>
          <p:cNvSpPr/>
          <p:nvPr/>
        </p:nvSpPr>
        <p:spPr>
          <a:xfrm>
            <a:off x="7056136" y="1143695"/>
            <a:ext cx="4302132" cy="305550"/>
          </a:xfrm>
          <a:prstGeom prst="rect">
            <a:avLst/>
          </a:prstGeom>
          <a:solidFill>
            <a:schemeClr val="bg2">
              <a:lumMod val="2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ko-KR" altLang="en-US" sz="1400" b="1" dirty="0">
                <a:latin typeface="+mj-ea"/>
                <a:ea typeface="+mj-ea"/>
              </a:rPr>
              <a:t>메모리 수요 급증과 고객 요구 변화</a:t>
            </a:r>
          </a:p>
        </p:txBody>
      </p:sp>
      <p:sp>
        <p:nvSpPr>
          <p:cNvPr id="75" name="직사각형 74"/>
          <p:cNvSpPr/>
          <p:nvPr/>
        </p:nvSpPr>
        <p:spPr>
          <a:xfrm>
            <a:off x="1089957" y="1143695"/>
            <a:ext cx="4302132" cy="305550"/>
          </a:xfrm>
          <a:prstGeom prst="rect">
            <a:avLst/>
          </a:prstGeom>
          <a:solidFill>
            <a:schemeClr val="bg2">
              <a:lumMod val="2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ko-KR" sz="1400" b="1" dirty="0">
                <a:latin typeface="+mj-ea"/>
                <a:ea typeface="+mj-ea"/>
              </a:rPr>
              <a:t>Agentic AI</a:t>
            </a:r>
            <a:r>
              <a:rPr lang="ko-KR" altLang="en-US" sz="1400" b="1" dirty="0">
                <a:latin typeface="+mj-ea"/>
                <a:ea typeface="+mj-ea"/>
              </a:rPr>
              <a:t> 확산과 워크로드 변화</a:t>
            </a:r>
          </a:p>
        </p:txBody>
      </p:sp>
      <p:sp>
        <p:nvSpPr>
          <p:cNvPr id="55" name="Text 46">
            <a:extLst>
              <a:ext uri="{FF2B5EF4-FFF2-40B4-BE49-F238E27FC236}">
                <a16:creationId xmlns:a16="http://schemas.microsoft.com/office/drawing/2014/main" id="{C8A28DF0-ABCC-48F5-9ED9-DE4811816B18}"/>
              </a:ext>
            </a:extLst>
          </p:cNvPr>
          <p:cNvSpPr/>
          <p:nvPr/>
        </p:nvSpPr>
        <p:spPr>
          <a:xfrm>
            <a:off x="6328664" y="1622157"/>
            <a:ext cx="5389372" cy="256480"/>
          </a:xfrm>
          <a:prstGeom prst="rect">
            <a:avLst/>
          </a:prstGeom>
          <a:noFill/>
          <a:ln/>
        </p:spPr>
        <p:txBody>
          <a:bodyPr wrap="square" lIns="0" tIns="0" rIns="0" bIns="0" rtlCol="0" anchor="t">
            <a:normAutofit/>
          </a:bodyPr>
          <a:lstStyle/>
          <a:p>
            <a:pPr>
              <a:lnSpc>
                <a:spcPts val="1820"/>
              </a:lnSpc>
            </a:pPr>
            <a:r>
              <a:rPr lang="ko-KR" altLang="en-US" sz="1200" dirty="0">
                <a:latin typeface="+mj-ea"/>
              </a:rPr>
              <a:t>■ </a:t>
            </a:r>
            <a:r>
              <a:rPr lang="ko-KR" altLang="en-US" sz="1200" b="1" dirty="0">
                <a:solidFill>
                  <a:srgbClr val="222222"/>
                </a:solidFill>
                <a:latin typeface="+mj-ea"/>
                <a:ea typeface="+mj-ea"/>
                <a:cs typeface="Noto Sans KR" pitchFamily="34" charset="-120"/>
              </a:rPr>
              <a:t>수요 급증 → 시장 규모 확대 </a:t>
            </a:r>
            <a:r>
              <a:rPr lang="en-US" altLang="ko-KR" sz="1200" b="1" dirty="0">
                <a:solidFill>
                  <a:srgbClr val="222222"/>
                </a:solidFill>
                <a:latin typeface="+mj-ea"/>
                <a:ea typeface="+mj-ea"/>
                <a:cs typeface="Noto Sans KR" pitchFamily="34" charset="-120"/>
              </a:rPr>
              <a:t>· </a:t>
            </a:r>
            <a:r>
              <a:rPr lang="ko-KR" altLang="en-US" sz="1200" b="1" dirty="0">
                <a:solidFill>
                  <a:srgbClr val="222222"/>
                </a:solidFill>
                <a:latin typeface="+mj-ea"/>
                <a:ea typeface="+mj-ea"/>
                <a:cs typeface="Noto Sans KR" pitchFamily="34" charset="-120"/>
              </a:rPr>
              <a:t>공급 부족 → 가격 급등</a:t>
            </a:r>
          </a:p>
        </p:txBody>
      </p:sp>
      <p:sp>
        <p:nvSpPr>
          <p:cNvPr id="85" name="Text 72">
            <a:extLst>
              <a:ext uri="{FF2B5EF4-FFF2-40B4-BE49-F238E27FC236}">
                <a16:creationId xmlns:a16="http://schemas.microsoft.com/office/drawing/2014/main" id="{D907F967-3823-4F1E-8786-56273222550E}"/>
              </a:ext>
            </a:extLst>
          </p:cNvPr>
          <p:cNvSpPr/>
          <p:nvPr/>
        </p:nvSpPr>
        <p:spPr>
          <a:xfrm>
            <a:off x="6426432" y="3315595"/>
            <a:ext cx="5389372" cy="223441"/>
          </a:xfrm>
          <a:prstGeom prst="rect">
            <a:avLst/>
          </a:prstGeom>
          <a:noFill/>
          <a:ln/>
        </p:spPr>
        <p:txBody>
          <a:bodyPr wrap="square" lIns="0" tIns="0" rIns="0" bIns="0" rtlCol="0" anchor="t">
            <a:normAutofit/>
          </a:bodyPr>
          <a:lstStyle/>
          <a:p>
            <a:pPr marL="0" indent="0" algn="l">
              <a:lnSpc>
                <a:spcPts val="1560"/>
              </a:lnSpc>
              <a:buNone/>
            </a:pPr>
            <a:r>
              <a:rPr lang="en-US" sz="1100" dirty="0">
                <a:solidFill>
                  <a:srgbClr val="555555"/>
                </a:solidFill>
                <a:latin typeface="+mj-ea"/>
                <a:ea typeface="+mj-ea"/>
                <a:cs typeface="Noto Sans KR" pitchFamily="34" charset="-120"/>
              </a:rPr>
              <a:t>공급 부족 지속, 대규모 증설은 ’27 말~’28 이후 전망</a:t>
            </a:r>
            <a:r>
              <a:rPr lang="en-US" sz="900" dirty="0">
                <a:solidFill>
                  <a:srgbClr val="555555"/>
                </a:solidFill>
                <a:latin typeface="+mj-ea"/>
                <a:ea typeface="+mj-ea"/>
                <a:cs typeface="Noto Sans KR" pitchFamily="34" charset="-120"/>
              </a:rPr>
              <a:t> [5]</a:t>
            </a:r>
            <a:endParaRPr lang="en-US" sz="900" dirty="0">
              <a:latin typeface="+mj-ea"/>
              <a:ea typeface="+mj-ea"/>
            </a:endParaRPr>
          </a:p>
        </p:txBody>
      </p:sp>
      <p:sp>
        <p:nvSpPr>
          <p:cNvPr id="87" name="Text 74">
            <a:extLst>
              <a:ext uri="{FF2B5EF4-FFF2-40B4-BE49-F238E27FC236}">
                <a16:creationId xmlns:a16="http://schemas.microsoft.com/office/drawing/2014/main" id="{FE1D525B-39E4-4A95-ACDC-C992844478F0}"/>
              </a:ext>
            </a:extLst>
          </p:cNvPr>
          <p:cNvSpPr/>
          <p:nvPr/>
        </p:nvSpPr>
        <p:spPr>
          <a:xfrm>
            <a:off x="6328664" y="3931894"/>
            <a:ext cx="5389372" cy="256480"/>
          </a:xfrm>
          <a:prstGeom prst="rect">
            <a:avLst/>
          </a:prstGeom>
          <a:noFill/>
          <a:ln/>
        </p:spPr>
        <p:txBody>
          <a:bodyPr wrap="square" lIns="0" tIns="0" rIns="0" bIns="0" rtlCol="0" anchor="t">
            <a:noAutofit/>
          </a:bodyPr>
          <a:lstStyle/>
          <a:p>
            <a:pPr>
              <a:lnSpc>
                <a:spcPts val="1820"/>
              </a:lnSpc>
            </a:pPr>
            <a:r>
              <a:rPr lang="ko-KR" altLang="en-US" sz="1200" dirty="0">
                <a:latin typeface="+mj-ea"/>
              </a:rPr>
              <a:t>■ </a:t>
            </a:r>
            <a:r>
              <a:rPr lang="ko-KR" altLang="en-US" sz="1200" b="1" dirty="0">
                <a:solidFill>
                  <a:srgbClr val="222222"/>
                </a:solidFill>
                <a:latin typeface="+mj-ea"/>
                <a:ea typeface="+mj-ea"/>
              </a:rPr>
              <a:t>비싸고 부족한 </a:t>
            </a:r>
            <a:r>
              <a:rPr lang="en-US" altLang="ko-KR" sz="1200" b="1" dirty="0">
                <a:solidFill>
                  <a:srgbClr val="222222"/>
                </a:solidFill>
                <a:latin typeface="+mj-ea"/>
                <a:ea typeface="+mj-ea"/>
              </a:rPr>
              <a:t>HBM → </a:t>
            </a:r>
            <a:r>
              <a:rPr lang="ko-KR" altLang="en-US" sz="1200" b="1" dirty="0">
                <a:solidFill>
                  <a:srgbClr val="222222"/>
                </a:solidFill>
                <a:latin typeface="+mj-ea"/>
                <a:ea typeface="+mj-ea"/>
              </a:rPr>
              <a:t>고객 수요가 용도별로 분화</a:t>
            </a:r>
            <a:r>
              <a:rPr lang="en-US" altLang="ko-KR" sz="1200" b="1" dirty="0">
                <a:solidFill>
                  <a:srgbClr val="222222"/>
                </a:solidFill>
                <a:latin typeface="+mj-ea"/>
                <a:ea typeface="+mj-ea"/>
              </a:rPr>
              <a:t>, </a:t>
            </a:r>
            <a:r>
              <a:rPr lang="ko-KR" altLang="en-US" sz="1200" b="1" dirty="0">
                <a:solidFill>
                  <a:srgbClr val="222222"/>
                </a:solidFill>
                <a:latin typeface="+mj-ea"/>
                <a:ea typeface="+mj-ea"/>
              </a:rPr>
              <a:t>신규 시장 성장</a:t>
            </a:r>
          </a:p>
          <a:p>
            <a:pPr>
              <a:lnSpc>
                <a:spcPts val="1820"/>
              </a:lnSpc>
            </a:pPr>
            <a:endParaRPr lang="en-US" sz="1200" b="1" dirty="0">
              <a:latin typeface="+mj-ea"/>
              <a:ea typeface="+mj-ea"/>
            </a:endParaRPr>
          </a:p>
        </p:txBody>
      </p:sp>
      <p:sp>
        <p:nvSpPr>
          <p:cNvPr id="101" name="TextBox 100">
            <a:extLst>
              <a:ext uri="{FF2B5EF4-FFF2-40B4-BE49-F238E27FC236}">
                <a16:creationId xmlns:a16="http://schemas.microsoft.com/office/drawing/2014/main" id="{7AF71897-E419-4A9C-A232-B7F53889C234}"/>
              </a:ext>
            </a:extLst>
          </p:cNvPr>
          <p:cNvSpPr txBox="1"/>
          <p:nvPr/>
        </p:nvSpPr>
        <p:spPr>
          <a:xfrm>
            <a:off x="212655" y="649600"/>
            <a:ext cx="11344989" cy="323165"/>
          </a:xfrm>
          <a:prstGeom prst="rect">
            <a:avLst/>
          </a:prstGeom>
          <a:noFill/>
        </p:spPr>
        <p:txBody>
          <a:bodyPr wrap="square" rtlCol="0">
            <a:spAutoFit/>
          </a:bodyPr>
          <a:lstStyle/>
          <a:p>
            <a:pPr marL="0" indent="0" algn="l">
              <a:lnSpc>
                <a:spcPts val="1820"/>
              </a:lnSpc>
              <a:buNone/>
            </a:pPr>
            <a:r>
              <a:rPr lang="en-US" altLang="ko-KR" sz="1400" b="1" dirty="0">
                <a:solidFill>
                  <a:srgbClr val="C55A11"/>
                </a:solidFill>
                <a:latin typeface="+mj-ea"/>
                <a:ea typeface="+mj-ea"/>
                <a:cs typeface="Noto Sans KR" pitchFamily="34" charset="-120"/>
              </a:rPr>
              <a:t>Agentic AI </a:t>
            </a:r>
            <a:r>
              <a:rPr lang="en-US" altLang="ko-KR" sz="1400" b="1" dirty="0" err="1">
                <a:solidFill>
                  <a:srgbClr val="C55A11"/>
                </a:solidFill>
                <a:latin typeface="+mj-ea"/>
                <a:ea typeface="+mj-ea"/>
                <a:cs typeface="Noto Sans KR" pitchFamily="34" charset="-120"/>
              </a:rPr>
              <a:t>확산으로</a:t>
            </a:r>
            <a:r>
              <a:rPr lang="en-US" altLang="ko-KR" sz="1400" b="1" dirty="0">
                <a:solidFill>
                  <a:srgbClr val="C55A11"/>
                </a:solidFill>
                <a:latin typeface="+mj-ea"/>
                <a:ea typeface="+mj-ea"/>
                <a:cs typeface="Noto Sans KR" pitchFamily="34" charset="-120"/>
              </a:rPr>
              <a:t> </a:t>
            </a:r>
            <a:r>
              <a:rPr lang="ko-KR" altLang="en-US" sz="1400" b="1" dirty="0">
                <a:solidFill>
                  <a:srgbClr val="C55A11"/>
                </a:solidFill>
                <a:latin typeface="+mj-ea"/>
                <a:ea typeface="+mj-ea"/>
                <a:cs typeface="Noto Sans KR" pitchFamily="34" charset="-120"/>
              </a:rPr>
              <a:t>메모리 병목이 심화되고</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메모리</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시장은</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공급</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부족</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수요</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분화</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국면에</a:t>
            </a:r>
            <a:r>
              <a:rPr lang="en-US" altLang="ko-KR" sz="1400" b="1" dirty="0">
                <a:solidFill>
                  <a:srgbClr val="C55A11"/>
                </a:solidFill>
                <a:latin typeface="+mj-ea"/>
                <a:ea typeface="+mj-ea"/>
                <a:cs typeface="Noto Sans KR" pitchFamily="34" charset="-120"/>
              </a:rPr>
              <a:t> </a:t>
            </a:r>
            <a:r>
              <a:rPr lang="en-US" altLang="ko-KR" sz="1400" b="1" dirty="0" err="1">
                <a:solidFill>
                  <a:srgbClr val="C55A11"/>
                </a:solidFill>
                <a:latin typeface="+mj-ea"/>
                <a:ea typeface="+mj-ea"/>
                <a:cs typeface="Noto Sans KR" pitchFamily="34" charset="-120"/>
              </a:rPr>
              <a:t>진입</a:t>
            </a:r>
            <a:endParaRPr lang="en-US" altLang="ko-KR" sz="1400" dirty="0">
              <a:latin typeface="+mj-ea"/>
              <a:ea typeface="+mj-ea"/>
            </a:endParaRPr>
          </a:p>
        </p:txBody>
      </p:sp>
      <p:sp>
        <p:nvSpPr>
          <p:cNvPr id="134" name="Shape 51">
            <a:extLst>
              <a:ext uri="{FF2B5EF4-FFF2-40B4-BE49-F238E27FC236}">
                <a16:creationId xmlns:a16="http://schemas.microsoft.com/office/drawing/2014/main" id="{A98CAA66-307E-4879-8F2D-0C946988D30F}"/>
              </a:ext>
            </a:extLst>
          </p:cNvPr>
          <p:cNvSpPr/>
          <p:nvPr/>
        </p:nvSpPr>
        <p:spPr>
          <a:xfrm>
            <a:off x="6407150" y="1994576"/>
            <a:ext cx="2261691" cy="1234380"/>
          </a:xfrm>
          <a:prstGeom prst="roundRect">
            <a:avLst>
              <a:gd name="adj" fmla="val 7202"/>
            </a:avLst>
          </a:prstGeom>
          <a:solidFill>
            <a:srgbClr val="F4F7FB"/>
          </a:solidFill>
          <a:ln/>
        </p:spPr>
      </p:sp>
      <mc:AlternateContent xmlns:mc="http://schemas.openxmlformats.org/markup-compatibility/2006" xmlns:a14="http://schemas.microsoft.com/office/drawing/2010/main">
        <mc:Choice Requires="a14">
          <p:sp>
            <p:nvSpPr>
              <p:cNvPr id="135" name="Text 52">
                <a:extLst>
                  <a:ext uri="{FF2B5EF4-FFF2-40B4-BE49-F238E27FC236}">
                    <a16:creationId xmlns:a16="http://schemas.microsoft.com/office/drawing/2014/main" id="{CB15FDD7-B0C2-429F-8AB3-4E8291F5A7F7}"/>
                  </a:ext>
                </a:extLst>
              </p:cNvPr>
              <p:cNvSpPr/>
              <p:nvPr/>
            </p:nvSpPr>
            <p:spPr>
              <a:xfrm>
                <a:off x="6483350" y="2045376"/>
                <a:ext cx="2172570" cy="208260"/>
              </a:xfrm>
              <a:prstGeom prst="rect">
                <a:avLst/>
              </a:prstGeom>
              <a:noFill/>
              <a:ln/>
            </p:spPr>
            <p:txBody>
              <a:bodyPr wrap="square" lIns="0" tIns="0" rIns="0" bIns="0" rtlCol="0" anchor="t">
                <a:normAutofit/>
              </a:bodyPr>
              <a:lstStyle/>
              <a:p>
                <a:pPr>
                  <a:lnSpc>
                    <a:spcPts val="1440"/>
                  </a:lnSpc>
                </a:pPr>
                <a:r>
                  <a:rPr lang="en-US" sz="1050" b="1" dirty="0">
                    <a:solidFill>
                      <a:srgbClr val="333333"/>
                    </a:solidFill>
                    <a:latin typeface="+mj-ea"/>
                    <a:ea typeface="+mj-ea"/>
                    <a:cs typeface="Noto Sans KR" pitchFamily="34" charset="-120"/>
                  </a:rPr>
                  <a:t> </a:t>
                </a:r>
                <a14:m>
                  <m:oMath xmlns:m="http://schemas.openxmlformats.org/officeDocument/2006/math">
                    <m:sSup>
                      <m:sSupPr>
                        <m:ctrlPr>
                          <a:rPr lang="en-US" altLang="ko-KR" sz="1050" i="1" smtClean="0">
                            <a:solidFill>
                              <a:srgbClr val="222222"/>
                            </a:solidFill>
                            <a:latin typeface="Cambria Math" panose="02040503050406030204" pitchFamily="18" charset="0"/>
                            <a:ea typeface="+mj-ea"/>
                          </a:rPr>
                        </m:ctrlPr>
                      </m:sSupPr>
                      <m:e>
                        <m:r>
                          <m:rPr>
                            <m:nor/>
                          </m:rPr>
                          <a:rPr lang="en-US" altLang="ko-KR" sz="1050" b="1" dirty="0">
                            <a:solidFill>
                              <a:srgbClr val="333333"/>
                            </a:solidFill>
                            <a:latin typeface="+mj-ea"/>
                            <a:cs typeface="Noto Sans KR" pitchFamily="34" charset="-120"/>
                          </a:rPr>
                          <m:t>HBM</m:t>
                        </m:r>
                        <m:r>
                          <m:rPr>
                            <m:nor/>
                          </m:rPr>
                          <a:rPr lang="en-US" altLang="ko-KR" sz="1050" b="1" dirty="0">
                            <a:solidFill>
                              <a:srgbClr val="333333"/>
                            </a:solidFill>
                            <a:latin typeface="+mj-ea"/>
                            <a:cs typeface="Noto Sans KR" pitchFamily="34" charset="-120"/>
                          </a:rPr>
                          <m:t> </m:t>
                        </m:r>
                        <m:r>
                          <m:rPr>
                            <m:nor/>
                          </m:rPr>
                          <a:rPr lang="en-US" altLang="ko-KR" sz="1050" b="1" dirty="0">
                            <a:solidFill>
                              <a:srgbClr val="333333"/>
                            </a:solidFill>
                            <a:latin typeface="+mj-ea"/>
                            <a:cs typeface="Noto Sans KR" pitchFamily="34" charset="-120"/>
                          </a:rPr>
                          <m:t>시장</m:t>
                        </m:r>
                        <m:r>
                          <m:rPr>
                            <m:nor/>
                          </m:rPr>
                          <a:rPr lang="en-US" altLang="ko-KR" sz="1050" b="1" dirty="0">
                            <a:solidFill>
                              <a:srgbClr val="333333"/>
                            </a:solidFill>
                            <a:latin typeface="+mj-ea"/>
                            <a:cs typeface="Noto Sans KR" pitchFamily="34" charset="-120"/>
                          </a:rPr>
                          <m:t> </m:t>
                        </m:r>
                        <m:r>
                          <m:rPr>
                            <m:nor/>
                          </m:rPr>
                          <a:rPr lang="en-US" altLang="ko-KR" sz="1050" b="1" dirty="0">
                            <a:solidFill>
                              <a:srgbClr val="333333"/>
                            </a:solidFill>
                            <a:latin typeface="+mj-ea"/>
                            <a:cs typeface="Noto Sans KR" pitchFamily="34" charset="-120"/>
                          </a:rPr>
                          <m:t>규모</m:t>
                        </m:r>
                        <m:r>
                          <m:rPr>
                            <m:nor/>
                          </m:rPr>
                          <a:rPr lang="en-US" altLang="ko-KR" sz="1050" b="1" dirty="0">
                            <a:solidFill>
                              <a:srgbClr val="333333"/>
                            </a:solidFill>
                            <a:latin typeface="+mj-ea"/>
                            <a:cs typeface="Noto Sans KR" pitchFamily="34" charset="-120"/>
                          </a:rPr>
                          <m:t> ($</m:t>
                        </m:r>
                        <m:r>
                          <m:rPr>
                            <m:nor/>
                          </m:rPr>
                          <a:rPr lang="en-US" altLang="ko-KR" sz="1050" b="1" dirty="0">
                            <a:solidFill>
                              <a:srgbClr val="333333"/>
                            </a:solidFill>
                            <a:latin typeface="+mj-ea"/>
                            <a:cs typeface="Noto Sans KR" pitchFamily="34" charset="-120"/>
                          </a:rPr>
                          <m:t>B</m:t>
                        </m:r>
                        <m:r>
                          <m:rPr>
                            <m:nor/>
                          </m:rPr>
                          <a:rPr lang="en-US" altLang="ko-KR" sz="1050" b="1" dirty="0">
                            <a:solidFill>
                              <a:srgbClr val="333333"/>
                            </a:solidFill>
                            <a:latin typeface="+mj-ea"/>
                            <a:cs typeface="Noto Sans KR" pitchFamily="34" charset="-120"/>
                          </a:rPr>
                          <m:t>)</m:t>
                        </m:r>
                      </m:e>
                      <m:sup>
                        <m:r>
                          <a:rPr lang="en-US" altLang="ko-KR" sz="1050" b="0" i="1" smtClean="0">
                            <a:solidFill>
                              <a:srgbClr val="222222"/>
                            </a:solidFill>
                            <a:latin typeface="Cambria Math" panose="02040503050406030204" pitchFamily="18" charset="0"/>
                            <a:ea typeface="+mj-ea"/>
                          </a:rPr>
                          <m:t>[4]</m:t>
                        </m:r>
                      </m:sup>
                    </m:sSup>
                  </m:oMath>
                </a14:m>
                <a:endParaRPr lang="en-US" sz="1050" dirty="0">
                  <a:latin typeface="+mj-ea"/>
                  <a:ea typeface="+mj-ea"/>
                </a:endParaRPr>
              </a:p>
            </p:txBody>
          </p:sp>
        </mc:Choice>
        <mc:Fallback xmlns="">
          <p:sp>
            <p:nvSpPr>
              <p:cNvPr id="135" name="Text 52">
                <a:extLst>
                  <a:ext uri="{FF2B5EF4-FFF2-40B4-BE49-F238E27FC236}">
                    <a16:creationId xmlns:a16="http://schemas.microsoft.com/office/drawing/2014/main" id="{CB15FDD7-B0C2-429F-8AB3-4E8291F5A7F7}"/>
                  </a:ext>
                </a:extLst>
              </p:cNvPr>
              <p:cNvSpPr>
                <a:spLocks noRot="1" noChangeAspect="1" noMove="1" noResize="1" noEditPoints="1" noAdjustHandles="1" noChangeArrowheads="1" noChangeShapeType="1" noTextEdit="1"/>
              </p:cNvSpPr>
              <p:nvPr/>
            </p:nvSpPr>
            <p:spPr>
              <a:xfrm>
                <a:off x="6483350" y="2045376"/>
                <a:ext cx="2172570" cy="208260"/>
              </a:xfrm>
              <a:prstGeom prst="rect">
                <a:avLst/>
              </a:prstGeom>
              <a:blipFill>
                <a:blip r:embed="rId8"/>
                <a:stretch>
                  <a:fillRect l="-843" t="-8824" b="-8824"/>
                </a:stretch>
              </a:blipFill>
              <a:ln/>
            </p:spPr>
            <p:txBody>
              <a:bodyPr/>
              <a:lstStyle/>
              <a:p>
                <a:r>
                  <a:rPr lang="ko-KR" altLang="en-US">
                    <a:noFill/>
                  </a:rPr>
                  <a:t> </a:t>
                </a:r>
              </a:p>
            </p:txBody>
          </p:sp>
        </mc:Fallback>
      </mc:AlternateContent>
      <p:sp>
        <p:nvSpPr>
          <p:cNvPr id="136" name="Text 53">
            <a:extLst>
              <a:ext uri="{FF2B5EF4-FFF2-40B4-BE49-F238E27FC236}">
                <a16:creationId xmlns:a16="http://schemas.microsoft.com/office/drawing/2014/main" id="{BD68926C-8EB1-4237-AE31-CE115A8D74E2}"/>
              </a:ext>
            </a:extLst>
          </p:cNvPr>
          <p:cNvSpPr/>
          <p:nvPr/>
        </p:nvSpPr>
        <p:spPr>
          <a:xfrm>
            <a:off x="6702623" y="2515276"/>
            <a:ext cx="230684"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16</a:t>
            </a:r>
            <a:endParaRPr lang="en-US" sz="1000" dirty="0">
              <a:latin typeface="+mj-ea"/>
              <a:ea typeface="+mj-ea"/>
            </a:endParaRPr>
          </a:p>
        </p:txBody>
      </p:sp>
      <p:sp>
        <p:nvSpPr>
          <p:cNvPr id="137" name="Shape 54">
            <a:extLst>
              <a:ext uri="{FF2B5EF4-FFF2-40B4-BE49-F238E27FC236}">
                <a16:creationId xmlns:a16="http://schemas.microsoft.com/office/drawing/2014/main" id="{C4937E53-8590-4A4E-8C0D-1ED3082F741E}"/>
              </a:ext>
            </a:extLst>
          </p:cNvPr>
          <p:cNvSpPr/>
          <p:nvPr/>
        </p:nvSpPr>
        <p:spPr>
          <a:xfrm>
            <a:off x="6678216" y="2710836"/>
            <a:ext cx="279400" cy="50800"/>
          </a:xfrm>
          <a:custGeom>
            <a:avLst/>
            <a:gdLst/>
            <a:ahLst/>
            <a:cxnLst/>
            <a:rect l="l" t="t" r="r" b="b"/>
            <a:pathLst>
              <a:path w="279400" h="50800">
                <a:moveTo>
                  <a:pt x="25400" y="0"/>
                </a:moveTo>
                <a:lnTo>
                  <a:pt x="254000" y="0"/>
                </a:lnTo>
                <a:arcTo wR="25400" hR="25400" stAng="16200000" swAng="5400000"/>
                <a:lnTo>
                  <a:pt x="279400" y="50800"/>
                </a:lnTo>
                <a:lnTo>
                  <a:pt x="0" y="50800"/>
                </a:lnTo>
                <a:lnTo>
                  <a:pt x="0" y="25400"/>
                </a:lnTo>
                <a:arcTo wR="25400" hR="25400" stAng="10800000" swAng="5400000"/>
                <a:close/>
              </a:path>
            </a:pathLst>
          </a:custGeom>
          <a:solidFill>
            <a:srgbClr val="2F6DB5"/>
          </a:solidFill>
          <a:ln/>
        </p:spPr>
      </p:sp>
      <p:sp>
        <p:nvSpPr>
          <p:cNvPr id="138" name="Text 55">
            <a:extLst>
              <a:ext uri="{FF2B5EF4-FFF2-40B4-BE49-F238E27FC236}">
                <a16:creationId xmlns:a16="http://schemas.microsoft.com/office/drawing/2014/main" id="{6E1DD925-AA0C-49AA-9658-731279EF2BC2}"/>
              </a:ext>
            </a:extLst>
          </p:cNvPr>
          <p:cNvSpPr/>
          <p:nvPr/>
        </p:nvSpPr>
        <p:spPr>
          <a:xfrm>
            <a:off x="7422654" y="2458126"/>
            <a:ext cx="230684"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35</a:t>
            </a:r>
            <a:endParaRPr lang="en-US" sz="1000" dirty="0">
              <a:latin typeface="+mj-ea"/>
              <a:ea typeface="+mj-ea"/>
            </a:endParaRPr>
          </a:p>
        </p:txBody>
      </p:sp>
      <p:sp>
        <p:nvSpPr>
          <p:cNvPr id="139" name="Shape 56">
            <a:extLst>
              <a:ext uri="{FF2B5EF4-FFF2-40B4-BE49-F238E27FC236}">
                <a16:creationId xmlns:a16="http://schemas.microsoft.com/office/drawing/2014/main" id="{6AD58F9A-A675-464C-A433-5846F7A2DD90}"/>
              </a:ext>
            </a:extLst>
          </p:cNvPr>
          <p:cNvSpPr/>
          <p:nvPr/>
        </p:nvSpPr>
        <p:spPr>
          <a:xfrm>
            <a:off x="7398246" y="2653686"/>
            <a:ext cx="279400" cy="107950"/>
          </a:xfrm>
          <a:custGeom>
            <a:avLst/>
            <a:gdLst/>
            <a:ahLst/>
            <a:cxnLst/>
            <a:rect l="l" t="t" r="r" b="b"/>
            <a:pathLst>
              <a:path w="279400" h="107950">
                <a:moveTo>
                  <a:pt x="25400" y="0"/>
                </a:moveTo>
                <a:lnTo>
                  <a:pt x="254000" y="0"/>
                </a:lnTo>
                <a:arcTo wR="25400" hR="25400" stAng="16200000" swAng="5400000"/>
                <a:lnTo>
                  <a:pt x="279400" y="107950"/>
                </a:lnTo>
                <a:lnTo>
                  <a:pt x="0" y="107950"/>
                </a:lnTo>
                <a:lnTo>
                  <a:pt x="0" y="25400"/>
                </a:lnTo>
                <a:arcTo wR="25400" hR="25400" stAng="10800000" swAng="5400000"/>
                <a:close/>
              </a:path>
            </a:pathLst>
          </a:custGeom>
          <a:solidFill>
            <a:srgbClr val="2F6DB5"/>
          </a:solidFill>
          <a:ln/>
        </p:spPr>
      </p:sp>
      <p:sp>
        <p:nvSpPr>
          <p:cNvPr id="140" name="Text 57">
            <a:extLst>
              <a:ext uri="{FF2B5EF4-FFF2-40B4-BE49-F238E27FC236}">
                <a16:creationId xmlns:a16="http://schemas.microsoft.com/office/drawing/2014/main" id="{048793C0-D842-4B5A-A75F-CD564F495A05}"/>
              </a:ext>
            </a:extLst>
          </p:cNvPr>
          <p:cNvSpPr/>
          <p:nvPr/>
        </p:nvSpPr>
        <p:spPr>
          <a:xfrm>
            <a:off x="8004721" y="2254926"/>
            <a:ext cx="50661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≈100</a:t>
            </a:r>
            <a:endParaRPr lang="en-US" sz="1000" dirty="0">
              <a:latin typeface="+mj-ea"/>
              <a:ea typeface="+mj-ea"/>
            </a:endParaRPr>
          </a:p>
        </p:txBody>
      </p:sp>
      <p:sp>
        <p:nvSpPr>
          <p:cNvPr id="141" name="Shape 58">
            <a:extLst>
              <a:ext uri="{FF2B5EF4-FFF2-40B4-BE49-F238E27FC236}">
                <a16:creationId xmlns:a16="http://schemas.microsoft.com/office/drawing/2014/main" id="{915A1441-B875-485D-AA6B-D98E0BECA3B9}"/>
              </a:ext>
            </a:extLst>
          </p:cNvPr>
          <p:cNvSpPr/>
          <p:nvPr/>
        </p:nvSpPr>
        <p:spPr>
          <a:xfrm>
            <a:off x="8118277" y="2450486"/>
            <a:ext cx="279400" cy="311150"/>
          </a:xfrm>
          <a:custGeom>
            <a:avLst/>
            <a:gdLst/>
            <a:ahLst/>
            <a:cxnLst/>
            <a:rect l="l" t="t" r="r" b="b"/>
            <a:pathLst>
              <a:path w="279400" h="311150">
                <a:moveTo>
                  <a:pt x="25400" y="0"/>
                </a:moveTo>
                <a:lnTo>
                  <a:pt x="254000" y="0"/>
                </a:lnTo>
                <a:arcTo wR="25400" hR="25400" stAng="16200000" swAng="5400000"/>
                <a:lnTo>
                  <a:pt x="279400" y="311150"/>
                </a:lnTo>
                <a:lnTo>
                  <a:pt x="0" y="311150"/>
                </a:lnTo>
                <a:lnTo>
                  <a:pt x="0" y="25400"/>
                </a:lnTo>
                <a:arcTo wR="25400" hR="25400" stAng="10800000" swAng="5400000"/>
                <a:close/>
              </a:path>
            </a:pathLst>
          </a:custGeom>
          <a:solidFill>
            <a:srgbClr val="2F6DB5"/>
          </a:solidFill>
          <a:ln/>
        </p:spPr>
      </p:sp>
      <p:sp>
        <p:nvSpPr>
          <p:cNvPr id="142" name="Text 59">
            <a:extLst>
              <a:ext uri="{FF2B5EF4-FFF2-40B4-BE49-F238E27FC236}">
                <a16:creationId xmlns:a16="http://schemas.microsoft.com/office/drawing/2014/main" id="{973D9DB1-2272-476D-8483-F78D021B35AB}"/>
              </a:ext>
            </a:extLst>
          </p:cNvPr>
          <p:cNvSpPr/>
          <p:nvPr/>
        </p:nvSpPr>
        <p:spPr>
          <a:xfrm>
            <a:off x="6457950" y="2787036"/>
            <a:ext cx="720030" cy="208260"/>
          </a:xfrm>
          <a:prstGeom prst="rect">
            <a:avLst/>
          </a:prstGeom>
          <a:noFill/>
          <a:ln/>
        </p:spPr>
        <p:txBody>
          <a:bodyPr wrap="squar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2024</a:t>
            </a:r>
            <a:endParaRPr lang="en-US" sz="1000" dirty="0">
              <a:latin typeface="+mj-ea"/>
              <a:ea typeface="+mj-ea"/>
            </a:endParaRPr>
          </a:p>
        </p:txBody>
      </p:sp>
      <p:sp>
        <p:nvSpPr>
          <p:cNvPr id="143" name="Text 60">
            <a:extLst>
              <a:ext uri="{FF2B5EF4-FFF2-40B4-BE49-F238E27FC236}">
                <a16:creationId xmlns:a16="http://schemas.microsoft.com/office/drawing/2014/main" id="{1EE14ACB-0111-4C24-B06D-1121691B2281}"/>
              </a:ext>
            </a:extLst>
          </p:cNvPr>
          <p:cNvSpPr/>
          <p:nvPr/>
        </p:nvSpPr>
        <p:spPr>
          <a:xfrm>
            <a:off x="7177980" y="2787036"/>
            <a:ext cx="720030" cy="208260"/>
          </a:xfrm>
          <a:prstGeom prst="rect">
            <a:avLst/>
          </a:prstGeom>
          <a:noFill/>
          <a:ln/>
        </p:spPr>
        <p:txBody>
          <a:bodyPr wrap="squar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2025</a:t>
            </a:r>
            <a:endParaRPr lang="en-US" sz="1000" dirty="0">
              <a:latin typeface="+mj-ea"/>
              <a:ea typeface="+mj-ea"/>
            </a:endParaRPr>
          </a:p>
        </p:txBody>
      </p:sp>
      <p:sp>
        <p:nvSpPr>
          <p:cNvPr id="144" name="Text 61">
            <a:extLst>
              <a:ext uri="{FF2B5EF4-FFF2-40B4-BE49-F238E27FC236}">
                <a16:creationId xmlns:a16="http://schemas.microsoft.com/office/drawing/2014/main" id="{E3A52E45-137A-4EE9-80BB-5EFA8EB84824}"/>
              </a:ext>
            </a:extLst>
          </p:cNvPr>
          <p:cNvSpPr/>
          <p:nvPr/>
        </p:nvSpPr>
        <p:spPr>
          <a:xfrm>
            <a:off x="7898011" y="2787036"/>
            <a:ext cx="720030" cy="208260"/>
          </a:xfrm>
          <a:prstGeom prst="rect">
            <a:avLst/>
          </a:prstGeom>
          <a:noFill/>
          <a:ln/>
        </p:spPr>
        <p:txBody>
          <a:bodyPr wrap="squar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2028E</a:t>
            </a:r>
            <a:endParaRPr lang="en-US" sz="1000" dirty="0">
              <a:latin typeface="+mj-ea"/>
              <a:ea typeface="+mj-ea"/>
            </a:endParaRPr>
          </a:p>
        </p:txBody>
      </p:sp>
      <p:sp>
        <p:nvSpPr>
          <p:cNvPr id="145" name="Text 62">
            <a:extLst>
              <a:ext uri="{FF2B5EF4-FFF2-40B4-BE49-F238E27FC236}">
                <a16:creationId xmlns:a16="http://schemas.microsoft.com/office/drawing/2014/main" id="{E2C9BD81-6C25-4670-9FB8-65426FFA49B6}"/>
              </a:ext>
            </a:extLst>
          </p:cNvPr>
          <p:cNvSpPr/>
          <p:nvPr/>
        </p:nvSpPr>
        <p:spPr>
          <a:xfrm>
            <a:off x="6483350" y="2995297"/>
            <a:ext cx="2172570" cy="208260"/>
          </a:xfrm>
          <a:prstGeom prst="rect">
            <a:avLst/>
          </a:prstGeom>
          <a:noFill/>
          <a:ln/>
        </p:spPr>
        <p:txBody>
          <a:bodyPr wrap="square" lIns="0" tIns="0" rIns="0" bIns="0" rtlCol="0" anchor="t">
            <a:normAutofit/>
          </a:bodyPr>
          <a:lstStyle/>
          <a:p>
            <a:pPr marL="0" indent="0" algn="l">
              <a:lnSpc>
                <a:spcPts val="1440"/>
              </a:lnSpc>
              <a:buNone/>
            </a:pPr>
            <a:r>
              <a:rPr lang="en-US" sz="1000" b="1" dirty="0">
                <a:solidFill>
                  <a:srgbClr val="1C3F6E"/>
                </a:solidFill>
                <a:latin typeface="+mj-ea"/>
                <a:ea typeface="+mj-ea"/>
                <a:cs typeface="Noto Sans KR" pitchFamily="34" charset="-120"/>
              </a:rPr>
              <a:t>CAGR ≈42% (’25→’28E)</a:t>
            </a:r>
            <a:endParaRPr lang="en-US" sz="1000" dirty="0">
              <a:latin typeface="+mj-ea"/>
              <a:ea typeface="+mj-ea"/>
            </a:endParaRPr>
          </a:p>
        </p:txBody>
      </p:sp>
      <p:sp>
        <p:nvSpPr>
          <p:cNvPr id="146" name="Shape 63">
            <a:extLst>
              <a:ext uri="{FF2B5EF4-FFF2-40B4-BE49-F238E27FC236}">
                <a16:creationId xmlns:a16="http://schemas.microsoft.com/office/drawing/2014/main" id="{4DAF079A-98C9-412B-BD68-F9709637DADE}"/>
              </a:ext>
            </a:extLst>
          </p:cNvPr>
          <p:cNvSpPr/>
          <p:nvPr/>
        </p:nvSpPr>
        <p:spPr>
          <a:xfrm>
            <a:off x="8745041" y="1994576"/>
            <a:ext cx="2894509" cy="1234380"/>
          </a:xfrm>
          <a:prstGeom prst="roundRect">
            <a:avLst>
              <a:gd name="adj" fmla="val 7202"/>
            </a:avLst>
          </a:prstGeom>
          <a:solidFill>
            <a:srgbClr val="F4F7FB"/>
          </a:solidFill>
          <a:ln/>
        </p:spPr>
      </p:sp>
      <mc:AlternateContent xmlns:mc="http://schemas.openxmlformats.org/markup-compatibility/2006" xmlns:a14="http://schemas.microsoft.com/office/drawing/2010/main">
        <mc:Choice Requires="a14">
          <p:sp>
            <p:nvSpPr>
              <p:cNvPr id="147" name="Text 64">
                <a:extLst>
                  <a:ext uri="{FF2B5EF4-FFF2-40B4-BE49-F238E27FC236}">
                    <a16:creationId xmlns:a16="http://schemas.microsoft.com/office/drawing/2014/main" id="{F1FEBF5E-8FBE-4FB7-84E5-6B08A3B406D4}"/>
                  </a:ext>
                </a:extLst>
              </p:cNvPr>
              <p:cNvSpPr/>
              <p:nvPr/>
            </p:nvSpPr>
            <p:spPr>
              <a:xfrm>
                <a:off x="8821241" y="2045376"/>
                <a:ext cx="2824372" cy="208260"/>
              </a:xfrm>
              <a:prstGeom prst="rect">
                <a:avLst/>
              </a:prstGeom>
              <a:noFill/>
              <a:ln/>
            </p:spPr>
            <p:txBody>
              <a:bodyPr wrap="square" lIns="0" tIns="0" rIns="0" bIns="0" rtlCol="0" anchor="t">
                <a:normAutofit/>
              </a:bodyPr>
              <a:lstStyle/>
              <a:p>
                <a:pPr>
                  <a:lnSpc>
                    <a:spcPts val="1440"/>
                  </a:lnSpc>
                </a:pPr>
                <a14:m>
                  <m:oMathPara xmlns:m="http://schemas.openxmlformats.org/officeDocument/2006/math">
                    <m:oMathParaPr>
                      <m:jc m:val="centerGroup"/>
                    </m:oMathParaPr>
                    <m:oMath xmlns:m="http://schemas.openxmlformats.org/officeDocument/2006/math">
                      <m:sSup>
                        <m:sSupPr>
                          <m:ctrlPr>
                            <a:rPr lang="en-US" altLang="ko-KR" sz="1050" i="1" smtClean="0">
                              <a:solidFill>
                                <a:srgbClr val="222222"/>
                              </a:solidFill>
                              <a:latin typeface="Cambria Math" panose="02040503050406030204" pitchFamily="18" charset="0"/>
                              <a:ea typeface="+mj-ea"/>
                            </a:rPr>
                          </m:ctrlPr>
                        </m:sSupPr>
                        <m:e>
                          <m:r>
                            <m:rPr>
                              <m:nor/>
                            </m:rPr>
                            <a:rPr lang="en-US" altLang="ko-KR" sz="1050" b="1" dirty="0">
                              <a:solidFill>
                                <a:srgbClr val="333333"/>
                              </a:solidFill>
                              <a:latin typeface="+mj-ea"/>
                              <a:cs typeface="Noto Sans KR" pitchFamily="34" charset="-120"/>
                            </a:rPr>
                            <m:t>DRAM</m:t>
                          </m:r>
                          <m:r>
                            <m:rPr>
                              <m:nor/>
                            </m:rPr>
                            <a:rPr lang="en-US" altLang="ko-KR" sz="1050" b="1" dirty="0">
                              <a:solidFill>
                                <a:srgbClr val="333333"/>
                              </a:solidFill>
                              <a:latin typeface="+mj-ea"/>
                              <a:cs typeface="Noto Sans KR" pitchFamily="34" charset="-120"/>
                            </a:rPr>
                            <m:t> </m:t>
                          </m:r>
                          <m:r>
                            <m:rPr>
                              <m:nor/>
                            </m:rPr>
                            <a:rPr lang="en-US" altLang="ko-KR" sz="1050" b="1" dirty="0">
                              <a:solidFill>
                                <a:srgbClr val="333333"/>
                              </a:solidFill>
                              <a:latin typeface="+mj-ea"/>
                              <a:cs typeface="Noto Sans KR" pitchFamily="34" charset="-120"/>
                            </a:rPr>
                            <m:t>계약가</m:t>
                          </m:r>
                          <m:r>
                            <m:rPr>
                              <m:nor/>
                            </m:rPr>
                            <a:rPr lang="en-US" altLang="ko-KR" sz="1050" b="1" dirty="0">
                              <a:solidFill>
                                <a:srgbClr val="333333"/>
                              </a:solidFill>
                              <a:latin typeface="+mj-ea"/>
                              <a:cs typeface="Noto Sans KR" pitchFamily="34" charset="-120"/>
                            </a:rPr>
                            <m:t> </m:t>
                          </m:r>
                          <m:r>
                            <m:rPr>
                              <m:nor/>
                            </m:rPr>
                            <a:rPr lang="en-US" altLang="ko-KR" sz="1050" b="1" dirty="0">
                              <a:solidFill>
                                <a:srgbClr val="333333"/>
                              </a:solidFill>
                              <a:latin typeface="+mj-ea"/>
                              <a:cs typeface="Noto Sans KR" pitchFamily="34" charset="-120"/>
                            </a:rPr>
                            <m:t>지수</m:t>
                          </m:r>
                          <m:r>
                            <m:rPr>
                              <m:nor/>
                            </m:rPr>
                            <a:rPr lang="en-US" altLang="ko-KR" sz="1050" b="1" dirty="0">
                              <a:solidFill>
                                <a:srgbClr val="333333"/>
                              </a:solidFill>
                              <a:latin typeface="+mj-ea"/>
                              <a:cs typeface="Noto Sans KR" pitchFamily="34" charset="-120"/>
                            </a:rPr>
                            <m:t> (4</m:t>
                          </m:r>
                          <m:r>
                            <m:rPr>
                              <m:nor/>
                            </m:rPr>
                            <a:rPr lang="en-US" altLang="ko-KR" sz="1050" b="1" dirty="0">
                              <a:solidFill>
                                <a:srgbClr val="333333"/>
                              </a:solidFill>
                              <a:latin typeface="+mj-ea"/>
                              <a:cs typeface="Noto Sans KR" pitchFamily="34" charset="-120"/>
                            </a:rPr>
                            <m:t>Q</m:t>
                          </m:r>
                          <m:r>
                            <m:rPr>
                              <m:nor/>
                            </m:rPr>
                            <a:rPr lang="en-US" altLang="ko-KR" sz="1050" b="1" dirty="0">
                              <a:solidFill>
                                <a:srgbClr val="333333"/>
                              </a:solidFill>
                              <a:latin typeface="+mj-ea"/>
                              <a:cs typeface="Noto Sans KR" pitchFamily="34" charset="-120"/>
                            </a:rPr>
                            <m:t>25=100)</m:t>
                          </m:r>
                        </m:e>
                        <m:sup>
                          <m:r>
                            <a:rPr lang="en-US" altLang="ko-KR" sz="1050" b="0" i="1" smtClean="0">
                              <a:solidFill>
                                <a:srgbClr val="222222"/>
                              </a:solidFill>
                              <a:latin typeface="Cambria Math" panose="02040503050406030204" pitchFamily="18" charset="0"/>
                              <a:ea typeface="+mj-ea"/>
                            </a:rPr>
                            <m:t>[5]</m:t>
                          </m:r>
                        </m:sup>
                      </m:sSup>
                    </m:oMath>
                  </m:oMathPara>
                </a14:m>
                <a:endParaRPr lang="en-US" sz="1050" dirty="0">
                  <a:latin typeface="+mj-ea"/>
                  <a:ea typeface="+mj-ea"/>
                </a:endParaRPr>
              </a:p>
            </p:txBody>
          </p:sp>
        </mc:Choice>
        <mc:Fallback xmlns="">
          <p:sp>
            <p:nvSpPr>
              <p:cNvPr id="147" name="Text 64">
                <a:extLst>
                  <a:ext uri="{FF2B5EF4-FFF2-40B4-BE49-F238E27FC236}">
                    <a16:creationId xmlns:a16="http://schemas.microsoft.com/office/drawing/2014/main" id="{F1FEBF5E-8FBE-4FB7-84E5-6B08A3B406D4}"/>
                  </a:ext>
                </a:extLst>
              </p:cNvPr>
              <p:cNvSpPr>
                <a:spLocks noRot="1" noChangeAspect="1" noMove="1" noResize="1" noEditPoints="1" noAdjustHandles="1" noChangeArrowheads="1" noChangeShapeType="1" noTextEdit="1"/>
              </p:cNvSpPr>
              <p:nvPr/>
            </p:nvSpPr>
            <p:spPr>
              <a:xfrm>
                <a:off x="8821241" y="2045376"/>
                <a:ext cx="2824372" cy="208260"/>
              </a:xfrm>
              <a:prstGeom prst="rect">
                <a:avLst/>
              </a:prstGeom>
              <a:blipFill>
                <a:blip r:embed="rId9"/>
                <a:stretch>
                  <a:fillRect t="-8824" b="-5882"/>
                </a:stretch>
              </a:blipFill>
              <a:ln/>
            </p:spPr>
            <p:txBody>
              <a:bodyPr/>
              <a:lstStyle/>
              <a:p>
                <a:r>
                  <a:rPr lang="ko-KR" altLang="en-US">
                    <a:noFill/>
                  </a:rPr>
                  <a:t> </a:t>
                </a:r>
              </a:p>
            </p:txBody>
          </p:sp>
        </mc:Fallback>
      </mc:AlternateContent>
      <p:sp>
        <p:nvSpPr>
          <p:cNvPr id="148" name="Text 65">
            <a:extLst>
              <a:ext uri="{FF2B5EF4-FFF2-40B4-BE49-F238E27FC236}">
                <a16:creationId xmlns:a16="http://schemas.microsoft.com/office/drawing/2014/main" id="{0326579E-7A18-4577-A15C-D100EAA26D28}"/>
              </a:ext>
            </a:extLst>
          </p:cNvPr>
          <p:cNvSpPr/>
          <p:nvPr/>
        </p:nvSpPr>
        <p:spPr>
          <a:xfrm>
            <a:off x="8918287" y="2489876"/>
            <a:ext cx="32373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100</a:t>
            </a:r>
            <a:endParaRPr lang="en-US" sz="1000" dirty="0">
              <a:latin typeface="+mj-ea"/>
              <a:ea typeface="+mj-ea"/>
            </a:endParaRPr>
          </a:p>
        </p:txBody>
      </p:sp>
      <p:sp>
        <p:nvSpPr>
          <p:cNvPr id="149" name="Shape 66">
            <a:extLst>
              <a:ext uri="{FF2B5EF4-FFF2-40B4-BE49-F238E27FC236}">
                <a16:creationId xmlns:a16="http://schemas.microsoft.com/office/drawing/2014/main" id="{F4F97587-7535-4DB0-9983-C94403A1DDB7}"/>
              </a:ext>
            </a:extLst>
          </p:cNvPr>
          <p:cNvSpPr/>
          <p:nvPr/>
        </p:nvSpPr>
        <p:spPr>
          <a:xfrm>
            <a:off x="8953202" y="2685436"/>
            <a:ext cx="254000" cy="76200"/>
          </a:xfrm>
          <a:custGeom>
            <a:avLst/>
            <a:gdLst/>
            <a:ahLst/>
            <a:cxnLst/>
            <a:rect l="l" t="t" r="r" b="b"/>
            <a:pathLst>
              <a:path w="254000" h="76200">
                <a:moveTo>
                  <a:pt x="25400" y="0"/>
                </a:moveTo>
                <a:lnTo>
                  <a:pt x="228600" y="0"/>
                </a:lnTo>
                <a:arcTo wR="25400" hR="25400" stAng="16200000" swAng="5400000"/>
                <a:lnTo>
                  <a:pt x="254000" y="76200"/>
                </a:lnTo>
                <a:lnTo>
                  <a:pt x="0" y="76200"/>
                </a:lnTo>
                <a:lnTo>
                  <a:pt x="0" y="25400"/>
                </a:lnTo>
                <a:arcTo wR="25400" hR="25400" stAng="10800000" swAng="5400000"/>
                <a:close/>
              </a:path>
            </a:pathLst>
          </a:custGeom>
          <a:solidFill>
            <a:srgbClr val="C55A11"/>
          </a:solidFill>
          <a:ln/>
        </p:spPr>
      </p:sp>
      <p:sp>
        <p:nvSpPr>
          <p:cNvPr id="150" name="Text 67">
            <a:extLst>
              <a:ext uri="{FF2B5EF4-FFF2-40B4-BE49-F238E27FC236}">
                <a16:creationId xmlns:a16="http://schemas.microsoft.com/office/drawing/2014/main" id="{2604EFA3-7D0F-4F0C-BB26-5B835A28A515}"/>
              </a:ext>
            </a:extLst>
          </p:cNvPr>
          <p:cNvSpPr/>
          <p:nvPr/>
        </p:nvSpPr>
        <p:spPr>
          <a:xfrm>
            <a:off x="9474408" y="2413676"/>
            <a:ext cx="32373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193</a:t>
            </a:r>
            <a:endParaRPr lang="en-US" sz="1000" dirty="0">
              <a:latin typeface="+mj-ea"/>
              <a:ea typeface="+mj-ea"/>
            </a:endParaRPr>
          </a:p>
        </p:txBody>
      </p:sp>
      <p:sp>
        <p:nvSpPr>
          <p:cNvPr id="151" name="Shape 68">
            <a:extLst>
              <a:ext uri="{FF2B5EF4-FFF2-40B4-BE49-F238E27FC236}">
                <a16:creationId xmlns:a16="http://schemas.microsoft.com/office/drawing/2014/main" id="{30E93683-164C-4FFE-88DF-209458E6825A}"/>
              </a:ext>
            </a:extLst>
          </p:cNvPr>
          <p:cNvSpPr/>
          <p:nvPr/>
        </p:nvSpPr>
        <p:spPr>
          <a:xfrm>
            <a:off x="9509224" y="2609236"/>
            <a:ext cx="254000" cy="152400"/>
          </a:xfrm>
          <a:custGeom>
            <a:avLst/>
            <a:gdLst/>
            <a:ahLst/>
            <a:cxnLst/>
            <a:rect l="l" t="t" r="r" b="b"/>
            <a:pathLst>
              <a:path w="254000" h="152400">
                <a:moveTo>
                  <a:pt x="25400" y="0"/>
                </a:moveTo>
                <a:lnTo>
                  <a:pt x="228600" y="0"/>
                </a:lnTo>
                <a:arcTo wR="25400" hR="25400" stAng="16200000" swAng="5400000"/>
                <a:lnTo>
                  <a:pt x="254000" y="152400"/>
                </a:lnTo>
                <a:lnTo>
                  <a:pt x="0" y="152400"/>
                </a:lnTo>
                <a:lnTo>
                  <a:pt x="0" y="25400"/>
                </a:lnTo>
                <a:arcTo wR="25400" hR="25400" stAng="10800000" swAng="5400000"/>
                <a:close/>
              </a:path>
            </a:pathLst>
          </a:custGeom>
          <a:solidFill>
            <a:srgbClr val="C55A11"/>
          </a:solidFill>
          <a:ln/>
        </p:spPr>
      </p:sp>
      <p:sp>
        <p:nvSpPr>
          <p:cNvPr id="152" name="Text 69">
            <a:extLst>
              <a:ext uri="{FF2B5EF4-FFF2-40B4-BE49-F238E27FC236}">
                <a16:creationId xmlns:a16="http://schemas.microsoft.com/office/drawing/2014/main" id="{E9F42672-AB19-4A7E-97F5-4ABCA82FE567}"/>
              </a:ext>
            </a:extLst>
          </p:cNvPr>
          <p:cNvSpPr/>
          <p:nvPr/>
        </p:nvSpPr>
        <p:spPr>
          <a:xfrm>
            <a:off x="10030430" y="2324776"/>
            <a:ext cx="32373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309</a:t>
            </a:r>
            <a:endParaRPr lang="en-US" sz="1000" dirty="0">
              <a:latin typeface="+mj-ea"/>
              <a:ea typeface="+mj-ea"/>
            </a:endParaRPr>
          </a:p>
        </p:txBody>
      </p:sp>
      <p:sp>
        <p:nvSpPr>
          <p:cNvPr id="153" name="Shape 70">
            <a:extLst>
              <a:ext uri="{FF2B5EF4-FFF2-40B4-BE49-F238E27FC236}">
                <a16:creationId xmlns:a16="http://schemas.microsoft.com/office/drawing/2014/main" id="{7088F98B-17AD-4929-AA17-838ACA60EFB8}"/>
              </a:ext>
            </a:extLst>
          </p:cNvPr>
          <p:cNvSpPr/>
          <p:nvPr/>
        </p:nvSpPr>
        <p:spPr>
          <a:xfrm>
            <a:off x="10065345" y="2520336"/>
            <a:ext cx="254000" cy="241300"/>
          </a:xfrm>
          <a:custGeom>
            <a:avLst/>
            <a:gdLst/>
            <a:ahLst/>
            <a:cxnLst/>
            <a:rect l="l" t="t" r="r" b="b"/>
            <a:pathLst>
              <a:path w="254000" h="241300">
                <a:moveTo>
                  <a:pt x="25400" y="0"/>
                </a:moveTo>
                <a:lnTo>
                  <a:pt x="228600" y="0"/>
                </a:lnTo>
                <a:arcTo wR="25400" hR="25400" stAng="16200000" swAng="5400000"/>
                <a:lnTo>
                  <a:pt x="254000" y="241300"/>
                </a:lnTo>
                <a:lnTo>
                  <a:pt x="0" y="241300"/>
                </a:lnTo>
                <a:lnTo>
                  <a:pt x="0" y="25400"/>
                </a:lnTo>
                <a:arcTo wR="25400" hR="25400" stAng="10800000" swAng="5400000"/>
                <a:close/>
              </a:path>
            </a:pathLst>
          </a:custGeom>
          <a:solidFill>
            <a:srgbClr val="C55A11"/>
          </a:solidFill>
          <a:ln/>
        </p:spPr>
      </p:sp>
      <p:sp>
        <p:nvSpPr>
          <p:cNvPr id="154" name="Text 71">
            <a:extLst>
              <a:ext uri="{FF2B5EF4-FFF2-40B4-BE49-F238E27FC236}">
                <a16:creationId xmlns:a16="http://schemas.microsoft.com/office/drawing/2014/main" id="{653A6A13-B292-402C-8A02-BAD6242728BC}"/>
              </a:ext>
            </a:extLst>
          </p:cNvPr>
          <p:cNvSpPr/>
          <p:nvPr/>
        </p:nvSpPr>
        <p:spPr>
          <a:xfrm>
            <a:off x="10586452" y="2286676"/>
            <a:ext cx="32373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357</a:t>
            </a:r>
            <a:endParaRPr lang="en-US" sz="1000" dirty="0">
              <a:latin typeface="+mj-ea"/>
              <a:ea typeface="+mj-ea"/>
            </a:endParaRPr>
          </a:p>
        </p:txBody>
      </p:sp>
      <p:sp>
        <p:nvSpPr>
          <p:cNvPr id="155" name="Shape 72">
            <a:extLst>
              <a:ext uri="{FF2B5EF4-FFF2-40B4-BE49-F238E27FC236}">
                <a16:creationId xmlns:a16="http://schemas.microsoft.com/office/drawing/2014/main" id="{A424341E-1CDB-4B66-9EF2-5C175841F8B7}"/>
              </a:ext>
            </a:extLst>
          </p:cNvPr>
          <p:cNvSpPr/>
          <p:nvPr/>
        </p:nvSpPr>
        <p:spPr>
          <a:xfrm>
            <a:off x="10621367" y="2482236"/>
            <a:ext cx="254000" cy="279400"/>
          </a:xfrm>
          <a:custGeom>
            <a:avLst/>
            <a:gdLst/>
            <a:ahLst/>
            <a:cxnLst/>
            <a:rect l="l" t="t" r="r" b="b"/>
            <a:pathLst>
              <a:path w="254000" h="279400">
                <a:moveTo>
                  <a:pt x="25400" y="0"/>
                </a:moveTo>
                <a:lnTo>
                  <a:pt x="228600" y="0"/>
                </a:lnTo>
                <a:arcTo wR="25400" hR="25400" stAng="16200000" swAng="5400000"/>
                <a:lnTo>
                  <a:pt x="254000" y="279400"/>
                </a:lnTo>
                <a:lnTo>
                  <a:pt x="0" y="279400"/>
                </a:lnTo>
                <a:lnTo>
                  <a:pt x="0" y="25400"/>
                </a:lnTo>
                <a:arcTo wR="25400" hR="25400" stAng="10800000" swAng="5400000"/>
                <a:close/>
              </a:path>
            </a:pathLst>
          </a:custGeom>
          <a:solidFill>
            <a:srgbClr val="C55A11"/>
          </a:solidFill>
          <a:ln/>
        </p:spPr>
      </p:sp>
      <p:sp>
        <p:nvSpPr>
          <p:cNvPr id="156" name="Text 73">
            <a:extLst>
              <a:ext uri="{FF2B5EF4-FFF2-40B4-BE49-F238E27FC236}">
                <a16:creationId xmlns:a16="http://schemas.microsoft.com/office/drawing/2014/main" id="{6A001DF3-8F74-4862-9848-114FBF85C722}"/>
              </a:ext>
            </a:extLst>
          </p:cNvPr>
          <p:cNvSpPr/>
          <p:nvPr/>
        </p:nvSpPr>
        <p:spPr>
          <a:xfrm>
            <a:off x="11051034" y="2254926"/>
            <a:ext cx="506611" cy="208260"/>
          </a:xfrm>
          <a:prstGeom prst="rect">
            <a:avLst/>
          </a:prstGeom>
          <a:noFill/>
          <a:ln/>
        </p:spPr>
        <p:txBody>
          <a:bodyPr wrap="square" lIns="0" tIns="0" rIns="0" bIns="0" rtlCol="0" anchor="t">
            <a:normAutofit/>
          </a:bodyPr>
          <a:lstStyle/>
          <a:p>
            <a:pPr marL="0" indent="0" algn="ctr">
              <a:lnSpc>
                <a:spcPts val="1440"/>
              </a:lnSpc>
              <a:buNone/>
            </a:pPr>
            <a:r>
              <a:rPr lang="en-US" sz="1000" b="1" dirty="0">
                <a:solidFill>
                  <a:srgbClr val="222222"/>
                </a:solidFill>
                <a:latin typeface="+mj-ea"/>
                <a:ea typeface="+mj-ea"/>
                <a:cs typeface="Noto Sans KR" pitchFamily="34" charset="-120"/>
              </a:rPr>
              <a:t>≈401</a:t>
            </a:r>
            <a:endParaRPr lang="en-US" sz="1000" dirty="0">
              <a:latin typeface="+mj-ea"/>
              <a:ea typeface="+mj-ea"/>
            </a:endParaRPr>
          </a:p>
        </p:txBody>
      </p:sp>
      <p:sp>
        <p:nvSpPr>
          <p:cNvPr id="157" name="Shape 74">
            <a:extLst>
              <a:ext uri="{FF2B5EF4-FFF2-40B4-BE49-F238E27FC236}">
                <a16:creationId xmlns:a16="http://schemas.microsoft.com/office/drawing/2014/main" id="{9D2ADF36-83A2-489A-9030-4218D4447009}"/>
              </a:ext>
            </a:extLst>
          </p:cNvPr>
          <p:cNvSpPr/>
          <p:nvPr/>
        </p:nvSpPr>
        <p:spPr>
          <a:xfrm>
            <a:off x="11177389" y="2450486"/>
            <a:ext cx="254000" cy="311150"/>
          </a:xfrm>
          <a:custGeom>
            <a:avLst/>
            <a:gdLst/>
            <a:ahLst/>
            <a:cxnLst/>
            <a:rect l="l" t="t" r="r" b="b"/>
            <a:pathLst>
              <a:path w="254000" h="311150">
                <a:moveTo>
                  <a:pt x="25400" y="0"/>
                </a:moveTo>
                <a:lnTo>
                  <a:pt x="228600" y="0"/>
                </a:lnTo>
                <a:arcTo wR="25400" hR="25400" stAng="16200000" swAng="5400000"/>
                <a:lnTo>
                  <a:pt x="254000" y="311150"/>
                </a:lnTo>
                <a:lnTo>
                  <a:pt x="0" y="311150"/>
                </a:lnTo>
                <a:lnTo>
                  <a:pt x="0" y="25400"/>
                </a:lnTo>
                <a:arcTo wR="25400" hR="25400" stAng="10800000" swAng="5400000"/>
                <a:close/>
              </a:path>
            </a:pathLst>
          </a:custGeom>
          <a:solidFill>
            <a:srgbClr val="C55A11"/>
          </a:solidFill>
          <a:ln/>
        </p:spPr>
      </p:sp>
      <p:sp>
        <p:nvSpPr>
          <p:cNvPr id="158" name="Text 75">
            <a:extLst>
              <a:ext uri="{FF2B5EF4-FFF2-40B4-BE49-F238E27FC236}">
                <a16:creationId xmlns:a16="http://schemas.microsoft.com/office/drawing/2014/main" id="{80CC5DE1-778F-4028-8CE6-C81BD297FF1B}"/>
              </a:ext>
            </a:extLst>
          </p:cNvPr>
          <p:cNvSpPr/>
          <p:nvPr/>
        </p:nvSpPr>
        <p:spPr>
          <a:xfrm>
            <a:off x="8795841" y="2787036"/>
            <a:ext cx="568722" cy="208260"/>
          </a:xfrm>
          <a:prstGeom prst="rect">
            <a:avLst/>
          </a:prstGeom>
          <a:noFill/>
          <a:ln/>
        </p:spPr>
        <p:txBody>
          <a:bodyPr wrap="non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4Q25</a:t>
            </a:r>
            <a:endParaRPr lang="en-US" sz="1000" dirty="0">
              <a:latin typeface="+mj-ea"/>
              <a:ea typeface="+mj-ea"/>
            </a:endParaRPr>
          </a:p>
        </p:txBody>
      </p:sp>
      <p:sp>
        <p:nvSpPr>
          <p:cNvPr id="159" name="Text 76">
            <a:extLst>
              <a:ext uri="{FF2B5EF4-FFF2-40B4-BE49-F238E27FC236}">
                <a16:creationId xmlns:a16="http://schemas.microsoft.com/office/drawing/2014/main" id="{7AEA82E6-31B9-4FA0-8A94-D5065B5E1793}"/>
              </a:ext>
            </a:extLst>
          </p:cNvPr>
          <p:cNvSpPr/>
          <p:nvPr/>
        </p:nvSpPr>
        <p:spPr>
          <a:xfrm>
            <a:off x="9351863" y="2787036"/>
            <a:ext cx="568821" cy="208260"/>
          </a:xfrm>
          <a:prstGeom prst="rect">
            <a:avLst/>
          </a:prstGeom>
          <a:noFill/>
          <a:ln/>
        </p:spPr>
        <p:txBody>
          <a:bodyPr wrap="non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1Q26</a:t>
            </a:r>
            <a:endParaRPr lang="en-US" sz="1000" dirty="0">
              <a:latin typeface="+mj-ea"/>
              <a:ea typeface="+mj-ea"/>
            </a:endParaRPr>
          </a:p>
        </p:txBody>
      </p:sp>
      <p:sp>
        <p:nvSpPr>
          <p:cNvPr id="160" name="Text 77">
            <a:extLst>
              <a:ext uri="{FF2B5EF4-FFF2-40B4-BE49-F238E27FC236}">
                <a16:creationId xmlns:a16="http://schemas.microsoft.com/office/drawing/2014/main" id="{F24D7A4C-7399-45EA-B4C0-430B0F991C56}"/>
              </a:ext>
            </a:extLst>
          </p:cNvPr>
          <p:cNvSpPr/>
          <p:nvPr/>
        </p:nvSpPr>
        <p:spPr>
          <a:xfrm>
            <a:off x="9907984" y="2787036"/>
            <a:ext cx="568722" cy="208260"/>
          </a:xfrm>
          <a:prstGeom prst="rect">
            <a:avLst/>
          </a:prstGeom>
          <a:noFill/>
          <a:ln/>
        </p:spPr>
        <p:txBody>
          <a:bodyPr wrap="non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2Q26</a:t>
            </a:r>
            <a:endParaRPr lang="en-US" sz="1000" dirty="0">
              <a:latin typeface="+mj-ea"/>
              <a:ea typeface="+mj-ea"/>
            </a:endParaRPr>
          </a:p>
        </p:txBody>
      </p:sp>
      <p:sp>
        <p:nvSpPr>
          <p:cNvPr id="161" name="Text 78">
            <a:extLst>
              <a:ext uri="{FF2B5EF4-FFF2-40B4-BE49-F238E27FC236}">
                <a16:creationId xmlns:a16="http://schemas.microsoft.com/office/drawing/2014/main" id="{BB3309DC-2FBE-420C-BA5A-0B9F08DB2B59}"/>
              </a:ext>
            </a:extLst>
          </p:cNvPr>
          <p:cNvSpPr/>
          <p:nvPr/>
        </p:nvSpPr>
        <p:spPr>
          <a:xfrm>
            <a:off x="10464006" y="2787036"/>
            <a:ext cx="568722" cy="208260"/>
          </a:xfrm>
          <a:prstGeom prst="rect">
            <a:avLst/>
          </a:prstGeom>
          <a:noFill/>
          <a:ln/>
        </p:spPr>
        <p:txBody>
          <a:bodyPr wrap="non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3Q26</a:t>
            </a:r>
            <a:endParaRPr lang="en-US" sz="1000" dirty="0">
              <a:latin typeface="+mj-ea"/>
              <a:ea typeface="+mj-ea"/>
            </a:endParaRPr>
          </a:p>
        </p:txBody>
      </p:sp>
      <p:sp>
        <p:nvSpPr>
          <p:cNvPr id="162" name="Text 79">
            <a:extLst>
              <a:ext uri="{FF2B5EF4-FFF2-40B4-BE49-F238E27FC236}">
                <a16:creationId xmlns:a16="http://schemas.microsoft.com/office/drawing/2014/main" id="{DA40B2AB-11EF-4D2A-8CC1-9D7B5F2968E5}"/>
              </a:ext>
            </a:extLst>
          </p:cNvPr>
          <p:cNvSpPr/>
          <p:nvPr/>
        </p:nvSpPr>
        <p:spPr>
          <a:xfrm>
            <a:off x="11020028" y="2787036"/>
            <a:ext cx="568722" cy="208260"/>
          </a:xfrm>
          <a:prstGeom prst="rect">
            <a:avLst/>
          </a:prstGeom>
          <a:noFill/>
          <a:ln/>
        </p:spPr>
        <p:txBody>
          <a:bodyPr wrap="none" lIns="0" tIns="0" rIns="0" bIns="0" rtlCol="0" anchor="t">
            <a:normAutofit/>
          </a:bodyPr>
          <a:lstStyle/>
          <a:p>
            <a:pPr marL="0" indent="0" algn="ctr">
              <a:lnSpc>
                <a:spcPts val="1440"/>
              </a:lnSpc>
              <a:buNone/>
            </a:pPr>
            <a:r>
              <a:rPr lang="en-US" sz="1000" dirty="0">
                <a:solidFill>
                  <a:srgbClr val="555555"/>
                </a:solidFill>
                <a:latin typeface="+mj-ea"/>
                <a:ea typeface="+mj-ea"/>
                <a:cs typeface="Noto Sans KR" pitchFamily="34" charset="-120"/>
              </a:rPr>
              <a:t>4Q26E</a:t>
            </a:r>
            <a:endParaRPr lang="en-US" sz="1000" dirty="0">
              <a:latin typeface="+mj-ea"/>
              <a:ea typeface="+mj-ea"/>
            </a:endParaRPr>
          </a:p>
        </p:txBody>
      </p:sp>
      <p:sp>
        <p:nvSpPr>
          <p:cNvPr id="163" name="Text 80">
            <a:extLst>
              <a:ext uri="{FF2B5EF4-FFF2-40B4-BE49-F238E27FC236}">
                <a16:creationId xmlns:a16="http://schemas.microsoft.com/office/drawing/2014/main" id="{973ADD88-C423-4B51-94B8-98C66E611C8E}"/>
              </a:ext>
            </a:extLst>
          </p:cNvPr>
          <p:cNvSpPr/>
          <p:nvPr/>
        </p:nvSpPr>
        <p:spPr>
          <a:xfrm>
            <a:off x="8821241" y="2995297"/>
            <a:ext cx="2824372" cy="208260"/>
          </a:xfrm>
          <a:prstGeom prst="rect">
            <a:avLst/>
          </a:prstGeom>
          <a:noFill/>
          <a:ln/>
        </p:spPr>
        <p:txBody>
          <a:bodyPr wrap="square" lIns="0" tIns="0" rIns="0" bIns="0" rtlCol="0" anchor="t">
            <a:normAutofit/>
          </a:bodyPr>
          <a:lstStyle/>
          <a:p>
            <a:pPr>
              <a:lnSpc>
                <a:spcPts val="1440"/>
              </a:lnSpc>
            </a:pPr>
            <a:r>
              <a:rPr lang="en-US" sz="1000" b="1" dirty="0" err="1">
                <a:solidFill>
                  <a:srgbClr val="7A3608"/>
                </a:solidFill>
                <a:latin typeface="+mj-ea"/>
                <a:ea typeface="+mj-ea"/>
                <a:cs typeface="Noto Sans KR" pitchFamily="34" charset="-120"/>
              </a:rPr>
              <a:t>가격</a:t>
            </a:r>
            <a:r>
              <a:rPr lang="en-US" sz="1000" b="1" dirty="0">
                <a:solidFill>
                  <a:srgbClr val="7A3608"/>
                </a:solidFill>
                <a:latin typeface="+mj-ea"/>
                <a:ea typeface="+mj-ea"/>
                <a:cs typeface="Noto Sans KR" pitchFamily="34" charset="-120"/>
              </a:rPr>
              <a:t> </a:t>
            </a:r>
            <a:r>
              <a:rPr lang="en-US" sz="1000" b="1" dirty="0" err="1">
                <a:solidFill>
                  <a:srgbClr val="7A3608"/>
                </a:solidFill>
                <a:latin typeface="+mj-ea"/>
                <a:ea typeface="+mj-ea"/>
                <a:cs typeface="Noto Sans KR" pitchFamily="34" charset="-120"/>
              </a:rPr>
              <a:t>계속</a:t>
            </a:r>
            <a:r>
              <a:rPr lang="en-US" sz="1000" b="1" dirty="0">
                <a:solidFill>
                  <a:srgbClr val="7A3608"/>
                </a:solidFill>
                <a:latin typeface="+mj-ea"/>
                <a:ea typeface="+mj-ea"/>
                <a:cs typeface="Noto Sans KR" pitchFamily="34" charset="-120"/>
              </a:rPr>
              <a:t> </a:t>
            </a:r>
            <a:r>
              <a:rPr lang="en-US" sz="1000" b="1" dirty="0" err="1">
                <a:solidFill>
                  <a:srgbClr val="7A3608"/>
                </a:solidFill>
                <a:latin typeface="+mj-ea"/>
                <a:ea typeface="+mj-ea"/>
                <a:cs typeface="Noto Sans KR" pitchFamily="34" charset="-120"/>
              </a:rPr>
              <a:t>상승</a:t>
            </a:r>
            <a:r>
              <a:rPr lang="en-US" sz="1000" b="1" dirty="0">
                <a:solidFill>
                  <a:srgbClr val="7A3608"/>
                </a:solidFill>
                <a:latin typeface="+mj-ea"/>
                <a:ea typeface="+mj-ea"/>
                <a:cs typeface="Noto Sans KR" pitchFamily="34" charset="-120"/>
              </a:rPr>
              <a:t> (</a:t>
            </a:r>
            <a:r>
              <a:rPr lang="en-US" altLang="ko-KR" sz="1000" b="1" dirty="0" err="1">
                <a:solidFill>
                  <a:srgbClr val="7A3608"/>
                </a:solidFill>
                <a:latin typeface="+mj-ea"/>
                <a:cs typeface="Noto Sans KR" pitchFamily="34" charset="-120"/>
              </a:rPr>
              <a:t>증가율</a:t>
            </a:r>
            <a:r>
              <a:rPr lang="en-US" altLang="ko-KR" sz="1000" b="1" dirty="0">
                <a:solidFill>
                  <a:srgbClr val="7A3608"/>
                </a:solidFill>
                <a:latin typeface="+mj-ea"/>
                <a:cs typeface="Noto Sans KR" pitchFamily="34" charset="-120"/>
              </a:rPr>
              <a:t> </a:t>
            </a:r>
            <a:r>
              <a:rPr lang="en-US" altLang="ko-KR" sz="1000" b="1" dirty="0" err="1">
                <a:solidFill>
                  <a:srgbClr val="7A3608"/>
                </a:solidFill>
                <a:latin typeface="+mj-ea"/>
                <a:cs typeface="Noto Sans KR" pitchFamily="34" charset="-120"/>
              </a:rPr>
              <a:t>둔화</a:t>
            </a:r>
            <a:r>
              <a:rPr lang="en-US" altLang="ko-KR" sz="1000" b="1" dirty="0">
                <a:solidFill>
                  <a:srgbClr val="7A3608"/>
                </a:solidFill>
                <a:latin typeface="+mj-ea"/>
                <a:cs typeface="Noto Sans KR" pitchFamily="34" charset="-120"/>
              </a:rPr>
              <a:t>)</a:t>
            </a:r>
            <a:endParaRPr lang="en-US" sz="1000" dirty="0">
              <a:latin typeface="+mj-ea"/>
              <a:ea typeface="+mj-ea"/>
            </a:endParaRPr>
          </a:p>
        </p:txBody>
      </p:sp>
      <p:sp>
        <p:nvSpPr>
          <p:cNvPr id="167" name="TextBox 166">
            <a:extLst>
              <a:ext uri="{FF2B5EF4-FFF2-40B4-BE49-F238E27FC236}">
                <a16:creationId xmlns:a16="http://schemas.microsoft.com/office/drawing/2014/main" id="{6D44623D-F088-4C5E-92CF-0FEF7D09EFD3}"/>
              </a:ext>
            </a:extLst>
          </p:cNvPr>
          <p:cNvSpPr txBox="1"/>
          <p:nvPr/>
        </p:nvSpPr>
        <p:spPr>
          <a:xfrm>
            <a:off x="294321" y="1471784"/>
            <a:ext cx="5780312" cy="369332"/>
          </a:xfrm>
          <a:prstGeom prst="rect">
            <a:avLst/>
          </a:prstGeom>
          <a:noFill/>
        </p:spPr>
        <p:txBody>
          <a:bodyPr wrap="square" rtlCol="0">
            <a:spAutoFit/>
          </a:bodyPr>
          <a:lstStyle/>
          <a:p>
            <a:pPr>
              <a:lnSpc>
                <a:spcPct val="150000"/>
              </a:lnSpc>
            </a:pPr>
            <a:r>
              <a:rPr lang="ko-KR" altLang="en-US" sz="1200" dirty="0">
                <a:latin typeface="+mj-ea"/>
              </a:rPr>
              <a:t>■ </a:t>
            </a:r>
            <a:r>
              <a:rPr lang="en-US" altLang="ko-KR" sz="1200" b="1" dirty="0"/>
              <a:t>Context</a:t>
            </a:r>
            <a:r>
              <a:rPr lang="ko-KR" altLang="en-US" sz="1200" b="1" dirty="0"/>
              <a:t>와 </a:t>
            </a:r>
            <a:r>
              <a:rPr lang="en-US" altLang="ko-KR" sz="1200" b="1" dirty="0"/>
              <a:t>Agent </a:t>
            </a:r>
            <a:r>
              <a:rPr lang="ko-KR" altLang="en-US" sz="1200" b="1" dirty="0"/>
              <a:t>세션이 길어지면서 병목이 연산</a:t>
            </a:r>
            <a:r>
              <a:rPr lang="en-US" altLang="ko-KR" sz="1200" b="1" dirty="0"/>
              <a:t>(B/W)</a:t>
            </a:r>
            <a:r>
              <a:rPr lang="ko-KR" altLang="en-US" sz="1200" b="1" dirty="0"/>
              <a:t>에서 용량으로 이동</a:t>
            </a:r>
            <a:endParaRPr lang="en-US" altLang="ko-KR" sz="1200" b="1" dirty="0"/>
          </a:p>
        </p:txBody>
      </p:sp>
      <p:sp>
        <p:nvSpPr>
          <p:cNvPr id="200" name="TextBox 199">
            <a:extLst>
              <a:ext uri="{FF2B5EF4-FFF2-40B4-BE49-F238E27FC236}">
                <a16:creationId xmlns:a16="http://schemas.microsoft.com/office/drawing/2014/main" id="{CE105C95-5508-4E86-8637-1A88AEFA109B}"/>
              </a:ext>
            </a:extLst>
          </p:cNvPr>
          <p:cNvSpPr txBox="1"/>
          <p:nvPr/>
        </p:nvSpPr>
        <p:spPr>
          <a:xfrm>
            <a:off x="294321" y="4174066"/>
            <a:ext cx="5497737" cy="369332"/>
          </a:xfrm>
          <a:prstGeom prst="rect">
            <a:avLst/>
          </a:prstGeom>
          <a:noFill/>
        </p:spPr>
        <p:txBody>
          <a:bodyPr wrap="square" rtlCol="0">
            <a:spAutoFit/>
          </a:bodyPr>
          <a:lstStyle/>
          <a:p>
            <a:pPr>
              <a:lnSpc>
                <a:spcPct val="150000"/>
              </a:lnSpc>
            </a:pPr>
            <a:r>
              <a:rPr lang="ko-KR" altLang="en-US" sz="1200" dirty="0">
                <a:latin typeface="+mj-ea"/>
              </a:rPr>
              <a:t>■ </a:t>
            </a:r>
            <a:r>
              <a:rPr lang="ko-KR" altLang="en-US" sz="1200" b="1" dirty="0"/>
              <a:t>추론</a:t>
            </a:r>
            <a:r>
              <a:rPr lang="en-US" altLang="ko-KR" sz="1200" b="1" dirty="0"/>
              <a:t>, </a:t>
            </a:r>
            <a:r>
              <a:rPr lang="ko-KR" altLang="en-US" sz="1200" b="1" dirty="0"/>
              <a:t>검색</a:t>
            </a:r>
            <a:r>
              <a:rPr lang="en-US" altLang="ko-KR" sz="1200" b="1" dirty="0"/>
              <a:t>, </a:t>
            </a:r>
            <a:r>
              <a:rPr lang="ko-KR" altLang="en-US" sz="1200" b="1" dirty="0"/>
              <a:t>도구 실행의 반복과 연산 자원 경합에 따른 대기 지연 증가</a:t>
            </a:r>
          </a:p>
        </p:txBody>
      </p:sp>
      <p:sp>
        <p:nvSpPr>
          <p:cNvPr id="202" name="Text 99">
            <a:extLst>
              <a:ext uri="{FF2B5EF4-FFF2-40B4-BE49-F238E27FC236}">
                <a16:creationId xmlns:a16="http://schemas.microsoft.com/office/drawing/2014/main" id="{D3AB1718-7726-425A-9E69-7509BE0FD34A}"/>
              </a:ext>
            </a:extLst>
          </p:cNvPr>
          <p:cNvSpPr/>
          <p:nvPr/>
        </p:nvSpPr>
        <p:spPr>
          <a:xfrm>
            <a:off x="332200" y="6235476"/>
            <a:ext cx="5724489" cy="454947"/>
          </a:xfrm>
          <a:prstGeom prst="rect">
            <a:avLst/>
          </a:prstGeom>
          <a:noFill/>
          <a:ln/>
        </p:spPr>
        <p:txBody>
          <a:bodyPr wrap="square" lIns="0" tIns="0" rIns="0" bIns="0" rtlCol="0" anchor="t">
            <a:noAutofit/>
          </a:bodyPr>
          <a:lstStyle/>
          <a:p>
            <a:pPr>
              <a:lnSpc>
                <a:spcPct val="125000"/>
              </a:lnSpc>
            </a:pPr>
            <a:r>
              <a:rPr lang="en-US" sz="600" dirty="0" err="1">
                <a:solidFill>
                  <a:srgbClr val="555555"/>
                </a:solidFill>
                <a:latin typeface="Noto Sans KR" pitchFamily="34" charset="0"/>
                <a:ea typeface="Noto Sans KR" pitchFamily="34" charset="-122"/>
                <a:cs typeface="Noto Sans KR" pitchFamily="34" charset="-120"/>
              </a:rPr>
              <a:t>출처</a:t>
            </a:r>
            <a:r>
              <a:rPr lang="en-US" sz="600" dirty="0">
                <a:solidFill>
                  <a:srgbClr val="555555"/>
                </a:solidFill>
                <a:latin typeface="Noto Sans KR" pitchFamily="34" charset="0"/>
                <a:ea typeface="Noto Sans KR" pitchFamily="34" charset="-122"/>
                <a:cs typeface="Noto Sans KR" pitchFamily="34" charset="-120"/>
              </a:rPr>
              <a:t>: [1] arXiv:2605.26297 [2] arXiv:2608.15127 [3] Anthropic Eng. Blog [10] </a:t>
            </a:r>
            <a:r>
              <a:rPr lang="en-US" altLang="ko-KR" sz="600" dirty="0">
                <a:solidFill>
                  <a:srgbClr val="777777"/>
                </a:solidFill>
                <a:latin typeface="Arial"/>
              </a:rPr>
              <a:t>Conceptual illustration based on Continuum (Li et al., 2025), arXiv:2511.02230</a:t>
            </a:r>
            <a:endParaRPr lang="en-US" sz="600" dirty="0">
              <a:solidFill>
                <a:srgbClr val="555555"/>
              </a:solidFill>
              <a:latin typeface="Noto Sans KR" pitchFamily="34" charset="0"/>
              <a:ea typeface="Noto Sans KR" pitchFamily="34" charset="-122"/>
              <a:cs typeface="Noto Sans KR" pitchFamily="34" charset="-120"/>
            </a:endParaRPr>
          </a:p>
          <a:p>
            <a:pPr marL="0" indent="0" algn="l">
              <a:lnSpc>
                <a:spcPct val="125000"/>
              </a:lnSpc>
              <a:buNone/>
            </a:pPr>
            <a:r>
              <a:rPr lang="en-US" altLang="ko-KR" sz="600" dirty="0"/>
              <a:t>KV cache 0.33MB/token(Llama-3.1-70B, BF16). </a:t>
            </a:r>
            <a:r>
              <a:rPr lang="ko-KR" altLang="en-US" sz="600" dirty="0"/>
              <a:t>문맥 길이</a:t>
            </a:r>
            <a:r>
              <a:rPr lang="en-US" altLang="ko-KR" sz="600" dirty="0"/>
              <a:t>: </a:t>
            </a:r>
            <a:r>
              <a:rPr lang="ko-KR" altLang="en-US" sz="600" dirty="0"/>
              <a:t>에이전트 ≈</a:t>
            </a:r>
            <a:r>
              <a:rPr lang="en-US" altLang="ko-KR" sz="600" dirty="0"/>
              <a:t>75K [1], </a:t>
            </a:r>
            <a:r>
              <a:rPr lang="ko-KR" altLang="en-US" sz="600" dirty="0"/>
              <a:t>채팅</a:t>
            </a:r>
            <a:r>
              <a:rPr lang="en-US" altLang="ko-KR" sz="600" dirty="0"/>
              <a:t>·</a:t>
            </a:r>
            <a:r>
              <a:rPr lang="ko-KR" altLang="en-US" sz="600" dirty="0"/>
              <a:t>멀티는 </a:t>
            </a:r>
            <a:r>
              <a:rPr lang="en-US" altLang="ko-KR" sz="600" dirty="0"/>
              <a:t>[3]</a:t>
            </a:r>
            <a:r>
              <a:rPr lang="ko-KR" altLang="en-US" sz="600" dirty="0"/>
              <a:t>의 토큰 배수</a:t>
            </a:r>
            <a:r>
              <a:rPr lang="en-US" altLang="ko-KR" sz="600" dirty="0"/>
              <a:t>(≈4×/≈15×)</a:t>
            </a:r>
            <a:r>
              <a:rPr lang="ko-KR" altLang="en-US" sz="600" dirty="0"/>
              <a:t>를 적용한 가정</a:t>
            </a:r>
            <a:r>
              <a:rPr lang="en-US" altLang="ko-KR" sz="600" dirty="0"/>
              <a:t>. </a:t>
            </a:r>
            <a:r>
              <a:rPr lang="ko-KR" altLang="en-US" sz="600" dirty="0"/>
              <a:t>동시 수용 </a:t>
            </a:r>
            <a:r>
              <a:rPr lang="ko-KR" altLang="en-US" sz="500" dirty="0"/>
              <a:t>세션</a:t>
            </a:r>
            <a:r>
              <a:rPr lang="ko-KR" altLang="en-US" sz="600" dirty="0"/>
              <a:t> </a:t>
            </a:r>
            <a:r>
              <a:rPr lang="en-US" altLang="ko-KR" sz="600" dirty="0"/>
              <a:t>= (640GB−</a:t>
            </a:r>
            <a:r>
              <a:rPr lang="ko-KR" altLang="en-US" sz="600" dirty="0"/>
              <a:t>가중치 </a:t>
            </a:r>
            <a:r>
              <a:rPr lang="en-US" altLang="ko-KR" sz="600" dirty="0"/>
              <a:t>140GB)÷K</a:t>
            </a:r>
          </a:p>
        </p:txBody>
      </p:sp>
      <p:grpSp>
        <p:nvGrpSpPr>
          <p:cNvPr id="13" name="그룹 12"/>
          <p:cNvGrpSpPr/>
          <p:nvPr/>
        </p:nvGrpSpPr>
        <p:grpSpPr>
          <a:xfrm>
            <a:off x="384627" y="4555909"/>
            <a:ext cx="5618254" cy="1505890"/>
            <a:chOff x="447647" y="4446663"/>
            <a:chExt cx="5618254" cy="1505890"/>
          </a:xfrm>
        </p:grpSpPr>
        <p:sp>
          <p:nvSpPr>
            <p:cNvPr id="210" name="TextBox 209"/>
            <p:cNvSpPr txBox="1"/>
            <p:nvPr/>
          </p:nvSpPr>
          <p:spPr>
            <a:xfrm>
              <a:off x="447647" y="4691035"/>
              <a:ext cx="627095" cy="230832"/>
            </a:xfrm>
            <a:prstGeom prst="rect">
              <a:avLst/>
            </a:prstGeom>
            <a:noFill/>
          </p:spPr>
          <p:txBody>
            <a:bodyPr wrap="none" anchor="ctr">
              <a:spAutoFit/>
            </a:bodyPr>
            <a:lstStyle/>
            <a:p>
              <a:pPr defTabSz="457200" latinLnBrk="0"/>
              <a:r>
                <a:rPr sz="900" b="1" dirty="0">
                  <a:solidFill>
                    <a:srgbClr val="111111"/>
                  </a:solidFill>
                  <a:latin typeface="Arial"/>
                </a:rPr>
                <a:t>Agent A</a:t>
              </a:r>
            </a:p>
          </p:txBody>
        </p:sp>
        <p:sp>
          <p:nvSpPr>
            <p:cNvPr id="211" name="TextBox 210"/>
            <p:cNvSpPr txBox="1"/>
            <p:nvPr/>
          </p:nvSpPr>
          <p:spPr>
            <a:xfrm>
              <a:off x="447647" y="5368239"/>
              <a:ext cx="1217000" cy="230832"/>
            </a:xfrm>
            <a:prstGeom prst="rect">
              <a:avLst/>
            </a:prstGeom>
            <a:noFill/>
          </p:spPr>
          <p:txBody>
            <a:bodyPr wrap="none" anchor="ctr">
              <a:spAutoFit/>
            </a:bodyPr>
            <a:lstStyle/>
            <a:p>
              <a:pPr defTabSz="457200" latinLnBrk="0"/>
              <a:r>
                <a:rPr sz="900" b="1" dirty="0">
                  <a:solidFill>
                    <a:srgbClr val="111111"/>
                  </a:solidFill>
                  <a:latin typeface="Arial"/>
                </a:rPr>
                <a:t>GPU: other </a:t>
              </a:r>
              <a:r>
                <a:rPr lang="en-US" sz="900" b="1" dirty="0">
                  <a:solidFill>
                    <a:srgbClr val="111111"/>
                  </a:solidFill>
                  <a:latin typeface="Arial"/>
                </a:rPr>
                <a:t>Agents</a:t>
              </a:r>
              <a:endParaRPr sz="900" b="1" dirty="0">
                <a:solidFill>
                  <a:srgbClr val="111111"/>
                </a:solidFill>
                <a:latin typeface="Arial"/>
              </a:endParaRPr>
            </a:p>
          </p:txBody>
        </p:sp>
        <p:sp>
          <p:nvSpPr>
            <p:cNvPr id="212" name="Rectangle 4"/>
            <p:cNvSpPr/>
            <p:nvPr/>
          </p:nvSpPr>
          <p:spPr>
            <a:xfrm>
              <a:off x="1136704" y="4705625"/>
              <a:ext cx="598999" cy="201653"/>
            </a:xfrm>
            <a:prstGeom prst="rect">
              <a:avLst/>
            </a:prstGeom>
            <a:solidFill>
              <a:srgbClr val="367DBA"/>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FFFFFF"/>
                  </a:solidFill>
                  <a:effectLst/>
                  <a:uLnTx/>
                  <a:uFillTx/>
                  <a:latin typeface="Arial"/>
                  <a:ea typeface="+mn-ea"/>
                  <a:cs typeface="+mn-cs"/>
                </a:rPr>
                <a:t>Inference</a:t>
              </a:r>
            </a:p>
          </p:txBody>
        </p:sp>
        <p:sp>
          <p:nvSpPr>
            <p:cNvPr id="213" name="Rectangle 5"/>
            <p:cNvSpPr/>
            <p:nvPr/>
          </p:nvSpPr>
          <p:spPr>
            <a:xfrm>
              <a:off x="1741472" y="4705625"/>
              <a:ext cx="598999" cy="201653"/>
            </a:xfrm>
            <a:prstGeom prst="rect">
              <a:avLst/>
            </a:prstGeom>
            <a:solidFill>
              <a:srgbClr val="5BA6A2"/>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FFFFFF"/>
                  </a:solidFill>
                  <a:effectLst/>
                  <a:uLnTx/>
                  <a:uFillTx/>
                  <a:latin typeface="Arial"/>
                  <a:ea typeface="+mn-ea"/>
                  <a:cs typeface="+mn-cs"/>
                </a:rPr>
                <a:t>Tool / Search</a:t>
              </a:r>
            </a:p>
          </p:txBody>
        </p:sp>
        <p:sp>
          <p:nvSpPr>
            <p:cNvPr id="214" name="Rectangle 6"/>
            <p:cNvSpPr/>
            <p:nvPr/>
          </p:nvSpPr>
          <p:spPr>
            <a:xfrm>
              <a:off x="2346239" y="4705625"/>
              <a:ext cx="705722" cy="201653"/>
            </a:xfrm>
            <a:prstGeom prst="rect">
              <a:avLst/>
            </a:prstGeom>
            <a:solidFill>
              <a:srgbClr val="E8A448"/>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40270B"/>
                  </a:solidFill>
                  <a:effectLst/>
                  <a:uLnTx/>
                  <a:uFillTx/>
                  <a:latin typeface="Arial"/>
                  <a:ea typeface="+mn-ea"/>
                  <a:cs typeface="+mn-cs"/>
                </a:rPr>
                <a:t>WAIT</a:t>
              </a:r>
            </a:p>
          </p:txBody>
        </p:sp>
        <p:sp>
          <p:nvSpPr>
            <p:cNvPr id="215" name="Rectangle 7"/>
            <p:cNvSpPr/>
            <p:nvPr/>
          </p:nvSpPr>
          <p:spPr>
            <a:xfrm>
              <a:off x="3057731" y="4705625"/>
              <a:ext cx="492275" cy="201653"/>
            </a:xfrm>
            <a:prstGeom prst="rect">
              <a:avLst/>
            </a:prstGeom>
            <a:solidFill>
              <a:srgbClr val="367DBA"/>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FFFFFF"/>
                  </a:solidFill>
                  <a:effectLst/>
                  <a:uLnTx/>
                  <a:uFillTx/>
                  <a:latin typeface="Arial"/>
                  <a:ea typeface="+mn-ea"/>
                  <a:cs typeface="+mn-cs"/>
                </a:rPr>
                <a:t>Inference</a:t>
              </a:r>
            </a:p>
          </p:txBody>
        </p:sp>
        <p:sp>
          <p:nvSpPr>
            <p:cNvPr id="216" name="Rectangle 8"/>
            <p:cNvSpPr/>
            <p:nvPr/>
          </p:nvSpPr>
          <p:spPr>
            <a:xfrm>
              <a:off x="3555775" y="4705625"/>
              <a:ext cx="456701" cy="201653"/>
            </a:xfrm>
            <a:prstGeom prst="rect">
              <a:avLst/>
            </a:prstGeom>
            <a:solidFill>
              <a:srgbClr val="5BA6A2"/>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dirty="0">
                  <a:ln>
                    <a:noFill/>
                  </a:ln>
                  <a:solidFill>
                    <a:srgbClr val="FFFFFF"/>
                  </a:solidFill>
                  <a:effectLst/>
                  <a:uLnTx/>
                  <a:uFillTx/>
                  <a:latin typeface="Arial"/>
                  <a:ea typeface="+mn-ea"/>
                  <a:cs typeface="+mn-cs"/>
                </a:rPr>
                <a:t>Tool / </a:t>
              </a:r>
              <a:endParaRPr kumimoji="0" lang="en-US" sz="700" b="1" i="0" u="none" strike="noStrike" kern="0" cap="none" spc="0" normalizeH="0" baseline="0" noProof="0" dirty="0">
                <a:ln>
                  <a:noFill/>
                </a:ln>
                <a:solidFill>
                  <a:srgbClr val="FFFFFF"/>
                </a:solidFill>
                <a:effectLst/>
                <a:uLnTx/>
                <a:uFillTx/>
                <a:latin typeface="Arial"/>
                <a:ea typeface="+mn-ea"/>
                <a:cs typeface="+mn-cs"/>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dirty="0">
                  <a:ln>
                    <a:noFill/>
                  </a:ln>
                  <a:solidFill>
                    <a:srgbClr val="FFFFFF"/>
                  </a:solidFill>
                  <a:effectLst/>
                  <a:uLnTx/>
                  <a:uFillTx/>
                  <a:latin typeface="Arial"/>
                  <a:ea typeface="+mn-ea"/>
                  <a:cs typeface="+mn-cs"/>
                </a:rPr>
                <a:t>Search</a:t>
              </a:r>
            </a:p>
          </p:txBody>
        </p:sp>
        <p:sp>
          <p:nvSpPr>
            <p:cNvPr id="217" name="Rectangle 9"/>
            <p:cNvSpPr/>
            <p:nvPr/>
          </p:nvSpPr>
          <p:spPr>
            <a:xfrm>
              <a:off x="4018245" y="4705625"/>
              <a:ext cx="527849" cy="201653"/>
            </a:xfrm>
            <a:prstGeom prst="rect">
              <a:avLst/>
            </a:prstGeom>
            <a:solidFill>
              <a:srgbClr val="E8A448"/>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40270B"/>
                  </a:solidFill>
                  <a:effectLst/>
                  <a:uLnTx/>
                  <a:uFillTx/>
                  <a:latin typeface="Arial"/>
                  <a:ea typeface="+mn-ea"/>
                  <a:cs typeface="+mn-cs"/>
                </a:rPr>
                <a:t>WAIT</a:t>
              </a:r>
            </a:p>
          </p:txBody>
        </p:sp>
        <p:sp>
          <p:nvSpPr>
            <p:cNvPr id="218" name="Rectangle 10"/>
            <p:cNvSpPr/>
            <p:nvPr/>
          </p:nvSpPr>
          <p:spPr>
            <a:xfrm>
              <a:off x="4551863" y="4705625"/>
              <a:ext cx="634574" cy="201653"/>
            </a:xfrm>
            <a:prstGeom prst="rect">
              <a:avLst/>
            </a:prstGeom>
            <a:solidFill>
              <a:srgbClr val="367DBA"/>
            </a:solid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700" b="1" i="0" u="none" strike="noStrike" kern="0" cap="none" spc="0" normalizeH="0" baseline="0" noProof="0">
                  <a:ln>
                    <a:noFill/>
                  </a:ln>
                  <a:solidFill>
                    <a:srgbClr val="FFFFFF"/>
                  </a:solidFill>
                  <a:effectLst/>
                  <a:uLnTx/>
                  <a:uFillTx/>
                  <a:latin typeface="Arial"/>
                  <a:ea typeface="+mn-ea"/>
                  <a:cs typeface="+mn-cs"/>
                </a:rPr>
                <a:t>Inference</a:t>
              </a:r>
            </a:p>
          </p:txBody>
        </p:sp>
        <p:sp>
          <p:nvSpPr>
            <p:cNvPr id="219" name="Rectangle 11"/>
            <p:cNvSpPr/>
            <p:nvPr/>
          </p:nvSpPr>
          <p:spPr>
            <a:xfrm>
              <a:off x="1741472" y="5375072"/>
              <a:ext cx="1309849" cy="201653"/>
            </a:xfrm>
            <a:prstGeom prst="rect">
              <a:avLst/>
            </a:prstGeom>
            <a:pattFill prst="wdUpDiag">
              <a:fgClr>
                <a:sysClr val="window" lastClr="FFFFFF">
                  <a:lumMod val="85000"/>
                </a:sysClr>
              </a:fgClr>
              <a:bgClr>
                <a:sysClr val="window" lastClr="FFFFFF"/>
              </a:bgClr>
            </a:patt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dirty="0">
                  <a:ln>
                    <a:noFill/>
                  </a:ln>
                  <a:solidFill>
                    <a:srgbClr val="FF0000"/>
                  </a:solidFill>
                  <a:effectLst/>
                  <a:uLnTx/>
                  <a:uFillTx/>
                  <a:latin typeface="Arial"/>
                  <a:ea typeface="+mn-ea"/>
                  <a:cs typeface="+mn-cs"/>
                </a:rPr>
                <a:t>Other requests</a:t>
              </a:r>
            </a:p>
          </p:txBody>
        </p:sp>
        <p:sp>
          <p:nvSpPr>
            <p:cNvPr id="220" name="Rectangle 12"/>
            <p:cNvSpPr/>
            <p:nvPr/>
          </p:nvSpPr>
          <p:spPr>
            <a:xfrm>
              <a:off x="3555775" y="5375072"/>
              <a:ext cx="989678" cy="201653"/>
            </a:xfrm>
            <a:prstGeom prst="rect">
              <a:avLst/>
            </a:prstGeom>
            <a:pattFill prst="wdUpDiag">
              <a:fgClr>
                <a:sysClr val="window" lastClr="FFFFFF">
                  <a:lumMod val="85000"/>
                </a:sysClr>
              </a:fgClr>
              <a:bgClr>
                <a:sysClr val="window" lastClr="FFFFFF"/>
              </a:bgClr>
            </a:pattFill>
            <a:ln w="9525" cap="flat" cmpd="sng" algn="ctr">
              <a:noFill/>
              <a:prstDash val="solid"/>
            </a:ln>
            <a:effectLst>
              <a:outerShdw blurRad="40000" dist="23000" dir="5400000" rotWithShape="0">
                <a:srgbClr val="000000">
                  <a:alpha val="35000"/>
                </a:srgbClr>
              </a:outerShdw>
            </a:effectLst>
          </p:spPr>
          <p:txBody>
            <a:bodyPr wrap="none"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dirty="0">
                  <a:ln>
                    <a:noFill/>
                  </a:ln>
                  <a:solidFill>
                    <a:srgbClr val="FF0000"/>
                  </a:solidFill>
                  <a:effectLst/>
                  <a:uLnTx/>
                  <a:uFillTx/>
                  <a:latin typeface="Arial"/>
                  <a:ea typeface="+mn-ea"/>
                  <a:cs typeface="+mn-cs"/>
                </a:rPr>
                <a:t>Other requests</a:t>
              </a:r>
            </a:p>
          </p:txBody>
        </p:sp>
        <p:cxnSp>
          <p:nvCxnSpPr>
            <p:cNvPr id="221" name="Connector 13"/>
            <p:cNvCxnSpPr/>
            <p:nvPr/>
          </p:nvCxnSpPr>
          <p:spPr>
            <a:xfrm>
              <a:off x="1098245" y="5674140"/>
              <a:ext cx="4179211" cy="0"/>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cxnSp>
          <p:nvCxnSpPr>
            <p:cNvPr id="222" name="Connector 14"/>
            <p:cNvCxnSpPr/>
            <p:nvPr/>
          </p:nvCxnSpPr>
          <p:spPr>
            <a:xfrm>
              <a:off x="1136704"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23" name="TextBox 222"/>
            <p:cNvSpPr txBox="1"/>
            <p:nvPr/>
          </p:nvSpPr>
          <p:spPr>
            <a:xfrm>
              <a:off x="990671" y="5665183"/>
              <a:ext cx="292068" cy="184666"/>
            </a:xfrm>
            <a:prstGeom prst="rect">
              <a:avLst/>
            </a:prstGeom>
            <a:noFill/>
          </p:spPr>
          <p:txBody>
            <a:bodyPr wrap="none" anchor="ctr">
              <a:spAutoFit/>
            </a:bodyPr>
            <a:lstStyle/>
            <a:p>
              <a:pPr algn="ctr" defTabSz="457200" latinLnBrk="0"/>
              <a:r>
                <a:rPr sz="600">
                  <a:solidFill>
                    <a:srgbClr val="222222"/>
                  </a:solidFill>
                  <a:latin typeface="Arial"/>
                </a:rPr>
                <a:t>0.0</a:t>
              </a:r>
            </a:p>
          </p:txBody>
        </p:sp>
        <p:cxnSp>
          <p:nvCxnSpPr>
            <p:cNvPr id="224" name="Connector 16"/>
            <p:cNvCxnSpPr/>
            <p:nvPr/>
          </p:nvCxnSpPr>
          <p:spPr>
            <a:xfrm>
              <a:off x="1848196"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25" name="TextBox 224"/>
            <p:cNvSpPr txBox="1"/>
            <p:nvPr/>
          </p:nvSpPr>
          <p:spPr>
            <a:xfrm>
              <a:off x="1702162" y="5665183"/>
              <a:ext cx="292068" cy="184666"/>
            </a:xfrm>
            <a:prstGeom prst="rect">
              <a:avLst/>
            </a:prstGeom>
            <a:noFill/>
          </p:spPr>
          <p:txBody>
            <a:bodyPr wrap="none" anchor="ctr">
              <a:spAutoFit/>
            </a:bodyPr>
            <a:lstStyle/>
            <a:p>
              <a:pPr algn="ctr" defTabSz="457200" latinLnBrk="0"/>
              <a:r>
                <a:rPr sz="600">
                  <a:solidFill>
                    <a:srgbClr val="222222"/>
                  </a:solidFill>
                  <a:latin typeface="Arial"/>
                </a:rPr>
                <a:t>2.0</a:t>
              </a:r>
            </a:p>
          </p:txBody>
        </p:sp>
        <p:cxnSp>
          <p:nvCxnSpPr>
            <p:cNvPr id="226" name="Connector 18"/>
            <p:cNvCxnSpPr/>
            <p:nvPr/>
          </p:nvCxnSpPr>
          <p:spPr>
            <a:xfrm>
              <a:off x="2559687"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27" name="TextBox 226"/>
            <p:cNvSpPr txBox="1"/>
            <p:nvPr/>
          </p:nvSpPr>
          <p:spPr>
            <a:xfrm>
              <a:off x="2413654" y="5665183"/>
              <a:ext cx="292068" cy="184666"/>
            </a:xfrm>
            <a:prstGeom prst="rect">
              <a:avLst/>
            </a:prstGeom>
            <a:noFill/>
          </p:spPr>
          <p:txBody>
            <a:bodyPr wrap="none" anchor="ctr">
              <a:spAutoFit/>
            </a:bodyPr>
            <a:lstStyle/>
            <a:p>
              <a:pPr algn="ctr" defTabSz="457200" latinLnBrk="0"/>
              <a:r>
                <a:rPr sz="600">
                  <a:solidFill>
                    <a:srgbClr val="222222"/>
                  </a:solidFill>
                  <a:latin typeface="Arial"/>
                </a:rPr>
                <a:t>4.0</a:t>
              </a:r>
            </a:p>
          </p:txBody>
        </p:sp>
        <p:cxnSp>
          <p:nvCxnSpPr>
            <p:cNvPr id="228" name="Connector 20"/>
            <p:cNvCxnSpPr/>
            <p:nvPr/>
          </p:nvCxnSpPr>
          <p:spPr>
            <a:xfrm>
              <a:off x="3271178"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29" name="TextBox 228"/>
            <p:cNvSpPr txBox="1"/>
            <p:nvPr/>
          </p:nvSpPr>
          <p:spPr>
            <a:xfrm>
              <a:off x="3125144" y="5665183"/>
              <a:ext cx="292068" cy="184666"/>
            </a:xfrm>
            <a:prstGeom prst="rect">
              <a:avLst/>
            </a:prstGeom>
            <a:noFill/>
          </p:spPr>
          <p:txBody>
            <a:bodyPr wrap="none" anchor="ctr">
              <a:spAutoFit/>
            </a:bodyPr>
            <a:lstStyle/>
            <a:p>
              <a:pPr algn="ctr" defTabSz="457200" latinLnBrk="0"/>
              <a:r>
                <a:rPr sz="600">
                  <a:solidFill>
                    <a:srgbClr val="222222"/>
                  </a:solidFill>
                  <a:latin typeface="Arial"/>
                </a:rPr>
                <a:t>6.0</a:t>
              </a:r>
            </a:p>
          </p:txBody>
        </p:sp>
        <p:cxnSp>
          <p:nvCxnSpPr>
            <p:cNvPr id="230" name="Connector 22"/>
            <p:cNvCxnSpPr/>
            <p:nvPr/>
          </p:nvCxnSpPr>
          <p:spPr>
            <a:xfrm>
              <a:off x="3982670"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31" name="TextBox 230"/>
            <p:cNvSpPr txBox="1"/>
            <p:nvPr/>
          </p:nvSpPr>
          <p:spPr>
            <a:xfrm>
              <a:off x="3836637" y="5665183"/>
              <a:ext cx="292068" cy="184666"/>
            </a:xfrm>
            <a:prstGeom prst="rect">
              <a:avLst/>
            </a:prstGeom>
            <a:noFill/>
          </p:spPr>
          <p:txBody>
            <a:bodyPr wrap="none" anchor="ctr">
              <a:spAutoFit/>
            </a:bodyPr>
            <a:lstStyle/>
            <a:p>
              <a:pPr algn="ctr" defTabSz="457200" latinLnBrk="0"/>
              <a:r>
                <a:rPr sz="600">
                  <a:solidFill>
                    <a:srgbClr val="222222"/>
                  </a:solidFill>
                  <a:latin typeface="Arial"/>
                </a:rPr>
                <a:t>8.0</a:t>
              </a:r>
            </a:p>
          </p:txBody>
        </p:sp>
        <p:cxnSp>
          <p:nvCxnSpPr>
            <p:cNvPr id="232" name="Connector 24"/>
            <p:cNvCxnSpPr/>
            <p:nvPr/>
          </p:nvCxnSpPr>
          <p:spPr>
            <a:xfrm>
              <a:off x="4694162"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33" name="TextBox 232"/>
            <p:cNvSpPr txBox="1"/>
            <p:nvPr/>
          </p:nvSpPr>
          <p:spPr>
            <a:xfrm>
              <a:off x="4526486" y="5665183"/>
              <a:ext cx="335348" cy="184666"/>
            </a:xfrm>
            <a:prstGeom prst="rect">
              <a:avLst/>
            </a:prstGeom>
            <a:noFill/>
          </p:spPr>
          <p:txBody>
            <a:bodyPr wrap="none" anchor="ctr">
              <a:spAutoFit/>
            </a:bodyPr>
            <a:lstStyle/>
            <a:p>
              <a:pPr algn="ctr" defTabSz="457200" latinLnBrk="0"/>
              <a:r>
                <a:rPr sz="600">
                  <a:solidFill>
                    <a:srgbClr val="222222"/>
                  </a:solidFill>
                  <a:latin typeface="Arial"/>
                </a:rPr>
                <a:t>10.0</a:t>
              </a:r>
            </a:p>
          </p:txBody>
        </p:sp>
        <p:cxnSp>
          <p:nvCxnSpPr>
            <p:cNvPr id="234" name="Connector 26"/>
            <p:cNvCxnSpPr/>
            <p:nvPr/>
          </p:nvCxnSpPr>
          <p:spPr>
            <a:xfrm>
              <a:off x="5192205" y="5674140"/>
              <a:ext cx="0" cy="23268"/>
            </a:xfrm>
            <a:prstGeom prst="line">
              <a:avLst/>
            </a:prstGeom>
            <a:noFill/>
            <a:ln w="12700" cap="flat" cmpd="sng" algn="ctr">
              <a:solidFill>
                <a:srgbClr val="222222"/>
              </a:solidFill>
              <a:prstDash val="solid"/>
            </a:ln>
            <a:effectLst>
              <a:outerShdw blurRad="40000" dist="20000" dir="5400000" rotWithShape="0">
                <a:srgbClr val="000000">
                  <a:alpha val="38000"/>
                </a:srgbClr>
              </a:outerShdw>
            </a:effectLst>
          </p:spPr>
        </p:cxnSp>
        <p:sp>
          <p:nvSpPr>
            <p:cNvPr id="235" name="TextBox 234"/>
            <p:cNvSpPr txBox="1"/>
            <p:nvPr/>
          </p:nvSpPr>
          <p:spPr>
            <a:xfrm>
              <a:off x="5024530" y="5665183"/>
              <a:ext cx="335348" cy="184666"/>
            </a:xfrm>
            <a:prstGeom prst="rect">
              <a:avLst/>
            </a:prstGeom>
            <a:noFill/>
          </p:spPr>
          <p:txBody>
            <a:bodyPr wrap="none" anchor="ctr">
              <a:spAutoFit/>
            </a:bodyPr>
            <a:lstStyle/>
            <a:p>
              <a:pPr algn="ctr" defTabSz="457200" latinLnBrk="0"/>
              <a:r>
                <a:rPr sz="600">
                  <a:solidFill>
                    <a:srgbClr val="222222"/>
                  </a:solidFill>
                  <a:latin typeface="Arial"/>
                </a:rPr>
                <a:t>11.4</a:t>
              </a:r>
            </a:p>
          </p:txBody>
        </p:sp>
        <p:sp>
          <p:nvSpPr>
            <p:cNvPr id="236" name="TextBox 235"/>
            <p:cNvSpPr txBox="1"/>
            <p:nvPr/>
          </p:nvSpPr>
          <p:spPr>
            <a:xfrm>
              <a:off x="2873470" y="5752498"/>
              <a:ext cx="702436" cy="200055"/>
            </a:xfrm>
            <a:prstGeom prst="rect">
              <a:avLst/>
            </a:prstGeom>
            <a:noFill/>
          </p:spPr>
          <p:txBody>
            <a:bodyPr wrap="none" anchor="ctr">
              <a:spAutoFit/>
            </a:bodyPr>
            <a:lstStyle/>
            <a:p>
              <a:pPr algn="ctr" defTabSz="457200" latinLnBrk="0"/>
              <a:r>
                <a:rPr sz="700" dirty="0">
                  <a:solidFill>
                    <a:srgbClr val="222222"/>
                  </a:solidFill>
                  <a:latin typeface="Arial"/>
                </a:rPr>
                <a:t>Elapsed time</a:t>
              </a:r>
            </a:p>
          </p:txBody>
        </p:sp>
        <p:sp>
          <p:nvSpPr>
            <p:cNvPr id="237" name="TextBox 236"/>
            <p:cNvSpPr txBox="1"/>
            <p:nvPr/>
          </p:nvSpPr>
          <p:spPr>
            <a:xfrm>
              <a:off x="2352009" y="4446663"/>
              <a:ext cx="1329210" cy="215444"/>
            </a:xfrm>
            <a:prstGeom prst="rect">
              <a:avLst/>
            </a:prstGeom>
            <a:noFill/>
          </p:spPr>
          <p:txBody>
            <a:bodyPr wrap="none" anchor="ctr">
              <a:spAutoFit/>
            </a:bodyPr>
            <a:lstStyle/>
            <a:p>
              <a:pPr defTabSz="457200" latinLnBrk="0"/>
              <a:r>
                <a:rPr lang="en-US" sz="800" dirty="0">
                  <a:solidFill>
                    <a:srgbClr val="B35B06"/>
                  </a:solidFill>
                  <a:latin typeface="Arial"/>
                </a:rPr>
                <a:t>Waits until GPU is ready</a:t>
              </a:r>
              <a:endParaRPr sz="800" dirty="0">
                <a:solidFill>
                  <a:srgbClr val="B35B06"/>
                </a:solidFill>
                <a:latin typeface="Arial"/>
              </a:endParaRPr>
            </a:p>
          </p:txBody>
        </p:sp>
        <p:cxnSp>
          <p:nvCxnSpPr>
            <p:cNvPr id="238" name="Connector 30"/>
            <p:cNvCxnSpPr/>
            <p:nvPr/>
          </p:nvCxnSpPr>
          <p:spPr>
            <a:xfrm>
              <a:off x="2346239" y="4488460"/>
              <a:ext cx="0" cy="434330"/>
            </a:xfrm>
            <a:prstGeom prst="line">
              <a:avLst/>
            </a:prstGeom>
            <a:noFill/>
            <a:ln w="16510" cap="flat" cmpd="sng" algn="ctr">
              <a:solidFill>
                <a:srgbClr val="FF0000"/>
              </a:solidFill>
              <a:prstDash val="solid"/>
            </a:ln>
            <a:effectLst>
              <a:outerShdw blurRad="40000" dist="20000" dir="5400000" rotWithShape="0">
                <a:srgbClr val="000000">
                  <a:alpha val="38000"/>
                </a:srgbClr>
              </a:outerShdw>
            </a:effectLst>
          </p:spPr>
        </p:cxnSp>
        <p:sp>
          <p:nvSpPr>
            <p:cNvPr id="239" name="TextBox 238"/>
            <p:cNvSpPr txBox="1"/>
            <p:nvPr/>
          </p:nvSpPr>
          <p:spPr>
            <a:xfrm>
              <a:off x="4021129" y="4458235"/>
              <a:ext cx="434734" cy="200055"/>
            </a:xfrm>
            <a:prstGeom prst="rect">
              <a:avLst/>
            </a:prstGeom>
            <a:noFill/>
          </p:spPr>
          <p:txBody>
            <a:bodyPr wrap="none" anchor="ctr">
              <a:spAutoFit/>
            </a:bodyPr>
            <a:lstStyle/>
            <a:p>
              <a:pPr defTabSz="457200" latinLnBrk="0"/>
              <a:r>
                <a:rPr lang="en-US" sz="700" dirty="0">
                  <a:solidFill>
                    <a:srgbClr val="B35B06"/>
                  </a:solidFill>
                  <a:latin typeface="Arial"/>
                </a:rPr>
                <a:t>Waits </a:t>
              </a:r>
              <a:endParaRPr sz="700" dirty="0">
                <a:solidFill>
                  <a:srgbClr val="B35B06"/>
                </a:solidFill>
                <a:latin typeface="Arial"/>
              </a:endParaRPr>
            </a:p>
          </p:txBody>
        </p:sp>
        <p:cxnSp>
          <p:nvCxnSpPr>
            <p:cNvPr id="240" name="Connector 32"/>
            <p:cNvCxnSpPr/>
            <p:nvPr/>
          </p:nvCxnSpPr>
          <p:spPr>
            <a:xfrm>
              <a:off x="4006707" y="4490693"/>
              <a:ext cx="0" cy="419524"/>
            </a:xfrm>
            <a:prstGeom prst="line">
              <a:avLst/>
            </a:prstGeom>
            <a:noFill/>
            <a:ln w="16510" cap="flat" cmpd="sng" algn="ctr">
              <a:solidFill>
                <a:srgbClr val="FF0000"/>
              </a:solidFill>
              <a:prstDash val="solid"/>
            </a:ln>
            <a:effectLst>
              <a:outerShdw blurRad="40000" dist="20000" dir="5400000" rotWithShape="0">
                <a:srgbClr val="000000">
                  <a:alpha val="38000"/>
                </a:srgbClr>
              </a:outerShdw>
            </a:effectLst>
          </p:spPr>
        </p:cxnSp>
        <p:cxnSp>
          <p:nvCxnSpPr>
            <p:cNvPr id="244" name="Connector 30"/>
            <p:cNvCxnSpPr/>
            <p:nvPr/>
          </p:nvCxnSpPr>
          <p:spPr>
            <a:xfrm>
              <a:off x="3057730" y="4615254"/>
              <a:ext cx="0" cy="994376"/>
            </a:xfrm>
            <a:prstGeom prst="line">
              <a:avLst/>
            </a:prstGeom>
            <a:noFill/>
            <a:ln w="16510" cap="flat" cmpd="sng" algn="ctr">
              <a:solidFill>
                <a:srgbClr val="FF0000"/>
              </a:solidFill>
              <a:prstDash val="solid"/>
            </a:ln>
            <a:effectLst>
              <a:outerShdw blurRad="40000" dist="20000" dir="5400000" rotWithShape="0">
                <a:srgbClr val="000000">
                  <a:alpha val="38000"/>
                </a:srgbClr>
              </a:outerShdw>
            </a:effectLst>
          </p:spPr>
        </p:cxnSp>
        <p:cxnSp>
          <p:nvCxnSpPr>
            <p:cNvPr id="245" name="Connector 30"/>
            <p:cNvCxnSpPr/>
            <p:nvPr/>
          </p:nvCxnSpPr>
          <p:spPr>
            <a:xfrm>
              <a:off x="4551863" y="4615254"/>
              <a:ext cx="0" cy="994376"/>
            </a:xfrm>
            <a:prstGeom prst="line">
              <a:avLst/>
            </a:prstGeom>
            <a:noFill/>
            <a:ln w="16510" cap="flat" cmpd="sng" algn="ctr">
              <a:solidFill>
                <a:srgbClr val="FF0000"/>
              </a:solidFill>
              <a:prstDash val="solid"/>
            </a:ln>
            <a:effectLst>
              <a:outerShdw blurRad="40000" dist="20000" dir="5400000" rotWithShape="0">
                <a:srgbClr val="000000">
                  <a:alpha val="38000"/>
                </a:srgbClr>
              </a:outerShdw>
            </a:effectLst>
          </p:spPr>
        </p:cxnSp>
        <p:cxnSp>
          <p:nvCxnSpPr>
            <p:cNvPr id="246" name="직선 화살표 연결선 245"/>
            <p:cNvCxnSpPr/>
            <p:nvPr/>
          </p:nvCxnSpPr>
          <p:spPr>
            <a:xfrm>
              <a:off x="2352009" y="4670724"/>
              <a:ext cx="705721" cy="0"/>
            </a:xfrm>
            <a:prstGeom prst="straightConnector1">
              <a:avLst/>
            </a:prstGeom>
            <a:noFill/>
            <a:ln w="25400" cap="flat" cmpd="sng" algn="ctr">
              <a:solidFill>
                <a:srgbClr val="FF0000"/>
              </a:solidFill>
              <a:prstDash val="solid"/>
              <a:tailEnd type="triangle"/>
            </a:ln>
            <a:effectLst>
              <a:outerShdw blurRad="40000" dist="20000" dir="5400000" rotWithShape="0">
                <a:srgbClr val="000000">
                  <a:alpha val="38000"/>
                </a:srgbClr>
              </a:outerShdw>
            </a:effectLst>
          </p:spPr>
        </p:cxnSp>
        <p:cxnSp>
          <p:nvCxnSpPr>
            <p:cNvPr id="247" name="직선 화살표 연결선 246"/>
            <p:cNvCxnSpPr/>
            <p:nvPr/>
          </p:nvCxnSpPr>
          <p:spPr>
            <a:xfrm>
              <a:off x="4006707" y="4670724"/>
              <a:ext cx="545157" cy="0"/>
            </a:xfrm>
            <a:prstGeom prst="straightConnector1">
              <a:avLst/>
            </a:prstGeom>
            <a:noFill/>
            <a:ln w="25400" cap="flat" cmpd="sng" algn="ctr">
              <a:solidFill>
                <a:srgbClr val="FF0000"/>
              </a:solidFill>
              <a:prstDash val="solid"/>
              <a:tailEnd type="triangle"/>
            </a:ln>
            <a:effectLst>
              <a:outerShdw blurRad="40000" dist="20000" dir="5400000" rotWithShape="0">
                <a:srgbClr val="000000">
                  <a:alpha val="38000"/>
                </a:srgbClr>
              </a:outerShdw>
            </a:effectLst>
          </p:spPr>
        </p:cxnSp>
        <p:sp>
          <p:nvSpPr>
            <p:cNvPr id="248" name="TextBox 247"/>
            <p:cNvSpPr txBox="1"/>
            <p:nvPr/>
          </p:nvSpPr>
          <p:spPr>
            <a:xfrm>
              <a:off x="4573185" y="5081478"/>
              <a:ext cx="1492716" cy="215444"/>
            </a:xfrm>
            <a:prstGeom prst="rect">
              <a:avLst/>
            </a:prstGeom>
            <a:noFill/>
          </p:spPr>
          <p:txBody>
            <a:bodyPr wrap="none" anchor="ctr">
              <a:spAutoFit/>
            </a:bodyPr>
            <a:lstStyle/>
            <a:p>
              <a:pPr defTabSz="457200" latinLnBrk="0"/>
              <a:r>
                <a:rPr lang="ko-KR" altLang="en-US" sz="800" b="1" dirty="0">
                  <a:solidFill>
                    <a:srgbClr val="FF0000"/>
                  </a:solidFill>
                  <a:latin typeface="Arial"/>
                </a:rPr>
                <a:t>최대 </a:t>
              </a:r>
              <a:r>
                <a:rPr lang="en-US" altLang="ko-KR" sz="800" b="1" dirty="0">
                  <a:solidFill>
                    <a:srgbClr val="FF0000"/>
                  </a:solidFill>
                  <a:latin typeface="Arial"/>
                </a:rPr>
                <a:t>3.66x </a:t>
              </a:r>
              <a:r>
                <a:rPr lang="ko-KR" altLang="en-US" sz="800" b="1" dirty="0">
                  <a:solidFill>
                    <a:srgbClr val="FF0000"/>
                  </a:solidFill>
                  <a:latin typeface="Arial"/>
                </a:rPr>
                <a:t>지연 시간 증가</a:t>
              </a:r>
              <a:r>
                <a:rPr lang="en-US" altLang="ko-KR" sz="500" b="1" dirty="0">
                  <a:solidFill>
                    <a:srgbClr val="FF0000"/>
                  </a:solidFill>
                  <a:latin typeface="Arial"/>
                </a:rPr>
                <a:t>[10]</a:t>
              </a:r>
              <a:endParaRPr sz="900" b="1" dirty="0">
                <a:solidFill>
                  <a:srgbClr val="FF0000"/>
                </a:solidFill>
                <a:latin typeface="Arial"/>
              </a:endParaRPr>
            </a:p>
          </p:txBody>
        </p:sp>
        <p:cxnSp>
          <p:nvCxnSpPr>
            <p:cNvPr id="9" name="직선 화살표 연결선 8"/>
            <p:cNvCxnSpPr/>
            <p:nvPr/>
          </p:nvCxnSpPr>
          <p:spPr>
            <a:xfrm flipV="1">
              <a:off x="1735703" y="4922790"/>
              <a:ext cx="0" cy="157902"/>
            </a:xfrm>
            <a:prstGeom prst="straightConnector1">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0" name="TextBox 249"/>
            <p:cNvSpPr txBox="1"/>
            <p:nvPr/>
          </p:nvSpPr>
          <p:spPr>
            <a:xfrm>
              <a:off x="1523415" y="5088224"/>
              <a:ext cx="1003801" cy="196272"/>
            </a:xfrm>
            <a:prstGeom prst="rect">
              <a:avLst/>
            </a:prstGeom>
            <a:noFill/>
          </p:spPr>
          <p:txBody>
            <a:bodyPr wrap="none" anchor="ctr">
              <a:spAutoFit/>
            </a:bodyPr>
            <a:lstStyle/>
            <a:p>
              <a:pPr defTabSz="457200" latinLnBrk="0">
                <a:lnSpc>
                  <a:spcPct val="125000"/>
                </a:lnSpc>
              </a:pPr>
              <a:r>
                <a:rPr lang="en-US" sz="600" b="1" dirty="0">
                  <a:solidFill>
                    <a:srgbClr val="B35B06"/>
                  </a:solidFill>
                  <a:latin typeface="Arial"/>
                </a:rPr>
                <a:t>GPU </a:t>
              </a:r>
              <a:r>
                <a:rPr lang="ko-KR" altLang="en-US" sz="600" b="1" dirty="0">
                  <a:solidFill>
                    <a:srgbClr val="B35B06"/>
                  </a:solidFill>
                  <a:latin typeface="Arial"/>
                </a:rPr>
                <a:t>연산 끝</a:t>
              </a:r>
              <a:r>
                <a:rPr lang="en-US" altLang="ko-KR" sz="600" b="1" dirty="0">
                  <a:solidFill>
                    <a:srgbClr val="B35B06"/>
                  </a:solidFill>
                  <a:latin typeface="Arial"/>
                </a:rPr>
                <a:t>, </a:t>
              </a:r>
              <a:r>
                <a:rPr lang="en-US" sz="600" b="1" dirty="0">
                  <a:solidFill>
                    <a:srgbClr val="B35B06"/>
                  </a:solidFill>
                  <a:latin typeface="Arial"/>
                </a:rPr>
                <a:t>CPU </a:t>
              </a:r>
              <a:r>
                <a:rPr lang="ko-KR" altLang="en-US" sz="600" b="1" dirty="0">
                  <a:solidFill>
                    <a:srgbClr val="B35B06"/>
                  </a:solidFill>
                  <a:latin typeface="Arial"/>
                </a:rPr>
                <a:t>진입</a:t>
              </a:r>
              <a:endParaRPr lang="en-US" altLang="ko-KR" sz="600" b="1" dirty="0">
                <a:solidFill>
                  <a:srgbClr val="B35B06"/>
                </a:solidFill>
                <a:latin typeface="Arial"/>
              </a:endParaRPr>
            </a:p>
          </p:txBody>
        </p:sp>
        <p:cxnSp>
          <p:nvCxnSpPr>
            <p:cNvPr id="253" name="직선 화살표 연결선 252"/>
            <p:cNvCxnSpPr/>
            <p:nvPr/>
          </p:nvCxnSpPr>
          <p:spPr>
            <a:xfrm flipV="1">
              <a:off x="3558989" y="4922790"/>
              <a:ext cx="0" cy="157902"/>
            </a:xfrm>
            <a:prstGeom prst="straightConnector1">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4" name="TextBox 253"/>
            <p:cNvSpPr txBox="1"/>
            <p:nvPr/>
          </p:nvSpPr>
          <p:spPr>
            <a:xfrm>
              <a:off x="3346701" y="5088224"/>
              <a:ext cx="1003801" cy="196272"/>
            </a:xfrm>
            <a:prstGeom prst="rect">
              <a:avLst/>
            </a:prstGeom>
            <a:noFill/>
          </p:spPr>
          <p:txBody>
            <a:bodyPr wrap="none" anchor="ctr">
              <a:spAutoFit/>
            </a:bodyPr>
            <a:lstStyle/>
            <a:p>
              <a:pPr defTabSz="457200" latinLnBrk="0">
                <a:lnSpc>
                  <a:spcPct val="125000"/>
                </a:lnSpc>
              </a:pPr>
              <a:r>
                <a:rPr lang="en-US" altLang="ko-KR" sz="600" b="1" dirty="0">
                  <a:solidFill>
                    <a:srgbClr val="B35B06"/>
                  </a:solidFill>
                  <a:latin typeface="Arial"/>
                </a:rPr>
                <a:t>GPU </a:t>
              </a:r>
              <a:r>
                <a:rPr lang="ko-KR" altLang="en-US" sz="600" b="1" dirty="0">
                  <a:solidFill>
                    <a:srgbClr val="B35B06"/>
                  </a:solidFill>
                  <a:latin typeface="Arial"/>
                </a:rPr>
                <a:t>연산 끝</a:t>
              </a:r>
              <a:r>
                <a:rPr lang="en-US" altLang="ko-KR" sz="600" b="1" dirty="0">
                  <a:solidFill>
                    <a:srgbClr val="B35B06"/>
                  </a:solidFill>
                  <a:latin typeface="Arial"/>
                </a:rPr>
                <a:t>, CPU </a:t>
              </a:r>
              <a:r>
                <a:rPr lang="ko-KR" altLang="en-US" sz="600" b="1" dirty="0">
                  <a:solidFill>
                    <a:srgbClr val="B35B06"/>
                  </a:solidFill>
                  <a:latin typeface="Arial"/>
                </a:rPr>
                <a:t>진입</a:t>
              </a:r>
              <a:endParaRPr lang="en-US" altLang="ko-KR" sz="600" b="1" dirty="0">
                <a:solidFill>
                  <a:srgbClr val="B35B06"/>
                </a:solidFill>
                <a:latin typeface="Arial"/>
              </a:endParaRPr>
            </a:p>
          </p:txBody>
        </p:sp>
      </p:grpSp>
      <mc:AlternateContent xmlns:mc="http://schemas.openxmlformats.org/markup-compatibility/2006" xmlns:a14="http://schemas.microsoft.com/office/drawing/2010/main">
        <mc:Choice Requires="a14">
          <p:sp>
            <p:nvSpPr>
              <p:cNvPr id="265" name="Text 85">
                <a:extLst>
                  <a:ext uri="{FF2B5EF4-FFF2-40B4-BE49-F238E27FC236}">
                    <a16:creationId xmlns:a16="http://schemas.microsoft.com/office/drawing/2014/main" id="{9BFB2DD1-19C2-4FEC-B909-725DFC6CF086}"/>
                  </a:ext>
                </a:extLst>
              </p:cNvPr>
              <p:cNvSpPr/>
              <p:nvPr/>
            </p:nvSpPr>
            <p:spPr>
              <a:xfrm>
                <a:off x="8147050" y="5686323"/>
                <a:ext cx="3505708" cy="223441"/>
              </a:xfrm>
              <a:prstGeom prst="rect">
                <a:avLst/>
              </a:prstGeom>
              <a:noFill/>
              <a:ln/>
            </p:spPr>
            <p:txBody>
              <a:bodyPr wrap="square" lIns="0" tIns="0" rIns="0" bIns="0" rtlCol="0" anchor="t">
                <a:normAutofit/>
              </a:bodyPr>
              <a:lstStyle/>
              <a:p>
                <a:pPr>
                  <a:lnSpc>
                    <a:spcPts val="1560"/>
                  </a:lnSpc>
                </a:pPr>
                <a14:m>
                  <m:oMathPara xmlns:m="http://schemas.openxmlformats.org/officeDocument/2006/math">
                    <m:oMathParaPr>
                      <m:jc m:val="left"/>
                    </m:oMathParaPr>
                    <m:oMath xmlns:m="http://schemas.openxmlformats.org/officeDocument/2006/math">
                      <m:r>
                        <m:rPr>
                          <m:nor/>
                        </m:rPr>
                        <a:rPr lang="en-US" altLang="ko-KR" sz="1050" dirty="0">
                          <a:solidFill>
                            <a:srgbClr val="222222"/>
                          </a:solidFill>
                          <a:latin typeface="+mj-ea"/>
                          <a:cs typeface="Noto Sans KR" pitchFamily="34" charset="-120"/>
                        </a:rPr>
                        <m:t>SSD</m:t>
                      </m:r>
                      <m:r>
                        <m:rPr>
                          <m:nor/>
                        </m:rPr>
                        <a:rPr lang="en-US" altLang="ko-KR" sz="1050" b="0" i="0" dirty="0" smtClean="0">
                          <a:solidFill>
                            <a:srgbClr val="222222"/>
                          </a:solidFill>
                          <a:latin typeface="+mj-ea"/>
                          <a:cs typeface="Noto Sans KR" pitchFamily="34" charset="-120"/>
                        </a:rPr>
                        <m:t>, </m:t>
                      </m:r>
                      <m:r>
                        <m:rPr>
                          <m:nor/>
                        </m:rPr>
                        <a:rPr lang="en-US" altLang="ko-KR" sz="1050" dirty="0">
                          <a:solidFill>
                            <a:srgbClr val="222222"/>
                          </a:solidFill>
                          <a:latin typeface="+mj-ea"/>
                          <a:cs typeface="Noto Sans KR" pitchFamily="34" charset="-120"/>
                        </a:rPr>
                        <m:t>공유</m:t>
                      </m:r>
                      <m:r>
                        <m:rPr>
                          <m:nor/>
                        </m:rPr>
                        <a:rPr lang="en-US" altLang="ko-KR" sz="1050" dirty="0">
                          <a:solidFill>
                            <a:srgbClr val="222222"/>
                          </a:solidFill>
                          <a:latin typeface="+mj-ea"/>
                          <a:cs typeface="Noto Sans KR" pitchFamily="34" charset="-120"/>
                        </a:rPr>
                        <m:t> </m:t>
                      </m:r>
                      <m:r>
                        <m:rPr>
                          <m:nor/>
                        </m:rPr>
                        <a:rPr lang="en-US" altLang="ko-KR" sz="1050" dirty="0">
                          <a:solidFill>
                            <a:srgbClr val="222222"/>
                          </a:solidFill>
                          <a:latin typeface="+mj-ea"/>
                          <a:cs typeface="Noto Sans KR" pitchFamily="34" charset="-120"/>
                        </a:rPr>
                        <m:t>스토리지</m:t>
                      </m:r>
                      <m:r>
                        <m:rPr>
                          <m:nor/>
                        </m:rPr>
                        <a:rPr lang="en-US" altLang="ko-KR" sz="1050" dirty="0">
                          <a:solidFill>
                            <a:srgbClr val="222222"/>
                          </a:solidFill>
                          <a:latin typeface="+mj-ea"/>
                          <a:cs typeface="Noto Sans KR" pitchFamily="34" charset="-120"/>
                        </a:rPr>
                        <m:t> </m:t>
                      </m:r>
                      <m:r>
                        <m:rPr>
                          <m:nor/>
                        </m:rPr>
                        <a:rPr lang="en-US" altLang="ko-KR" sz="1050" dirty="0">
                          <a:solidFill>
                            <a:srgbClr val="222222"/>
                          </a:solidFill>
                          <a:latin typeface="+mj-ea"/>
                          <a:cs typeface="Noto Sans KR" pitchFamily="34" charset="-120"/>
                        </a:rPr>
                        <m:t>사이</m:t>
                      </m:r>
                      <m:r>
                        <m:rPr>
                          <m:nor/>
                        </m:rPr>
                        <a:rPr lang="en-US" altLang="ko-KR" sz="1050" dirty="0">
                          <a:solidFill>
                            <a:srgbClr val="222222"/>
                          </a:solidFill>
                          <a:latin typeface="+mj-ea"/>
                          <a:cs typeface="Noto Sans KR" pitchFamily="34" charset="-120"/>
                        </a:rPr>
                        <m:t>(</m:t>
                      </m:r>
                      <m:r>
                        <m:rPr>
                          <m:nor/>
                        </m:rPr>
                        <a:rPr lang="en-US" altLang="ko-KR" sz="1050" dirty="0">
                          <a:solidFill>
                            <a:srgbClr val="222222"/>
                          </a:solidFill>
                          <a:latin typeface="+mj-ea"/>
                          <a:cs typeface="Noto Sans KR" pitchFamily="34" charset="-120"/>
                        </a:rPr>
                        <m:t>NVIDIA</m:t>
                      </m:r>
                      <m:r>
                        <m:rPr>
                          <m:nor/>
                        </m:rPr>
                        <a:rPr lang="en-US" altLang="ko-KR" sz="1050" dirty="0">
                          <a:solidFill>
                            <a:srgbClr val="222222"/>
                          </a:solidFill>
                          <a:latin typeface="+mj-ea"/>
                          <a:cs typeface="Noto Sans KR" pitchFamily="34" charset="-120"/>
                        </a:rPr>
                        <m:t> </m:t>
                      </m:r>
                      <m:r>
                        <m:rPr>
                          <m:nor/>
                        </m:rPr>
                        <a:rPr lang="en-US" altLang="ko-KR" sz="1050" dirty="0">
                          <a:solidFill>
                            <a:srgbClr val="222222"/>
                          </a:solidFill>
                          <a:latin typeface="+mj-ea"/>
                          <a:cs typeface="Noto Sans KR" pitchFamily="34" charset="-120"/>
                        </a:rPr>
                        <m:t>CMX</m:t>
                      </m:r>
                      <m:r>
                        <m:rPr>
                          <m:nor/>
                        </m:rPr>
                        <a:rPr lang="en-US" altLang="ko-KR" sz="1050" dirty="0">
                          <a:solidFill>
                            <a:srgbClr val="222222"/>
                          </a:solidFill>
                          <a:latin typeface="+mj-ea"/>
                          <a:cs typeface="Noto Sans KR" pitchFamily="34" charset="-120"/>
                        </a:rPr>
                        <m:t>)</m:t>
                      </m:r>
                    </m:oMath>
                  </m:oMathPara>
                </a14:m>
                <a:endParaRPr lang="en-US" sz="1050" dirty="0">
                  <a:latin typeface="+mj-ea"/>
                  <a:ea typeface="+mj-ea"/>
                </a:endParaRPr>
              </a:p>
            </p:txBody>
          </p:sp>
        </mc:Choice>
        <mc:Fallback xmlns="">
          <p:sp>
            <p:nvSpPr>
              <p:cNvPr id="265" name="Text 85">
                <a:extLst>
                  <a:ext uri="{FF2B5EF4-FFF2-40B4-BE49-F238E27FC236}">
                    <a16:creationId xmlns:a16="http://schemas.microsoft.com/office/drawing/2014/main" id="{9BFB2DD1-19C2-4FEC-B909-725DFC6CF086}"/>
                  </a:ext>
                </a:extLst>
              </p:cNvPr>
              <p:cNvSpPr>
                <a:spLocks noRot="1" noChangeAspect="1" noMove="1" noResize="1" noEditPoints="1" noAdjustHandles="1" noChangeArrowheads="1" noChangeShapeType="1" noTextEdit="1"/>
              </p:cNvSpPr>
              <p:nvPr/>
            </p:nvSpPr>
            <p:spPr>
              <a:xfrm>
                <a:off x="8147050" y="5686323"/>
                <a:ext cx="3505708" cy="223441"/>
              </a:xfrm>
              <a:prstGeom prst="rect">
                <a:avLst/>
              </a:prstGeom>
              <a:blipFill>
                <a:blip r:embed="rId12"/>
                <a:stretch>
                  <a:fillRect l="-1389" b="-5556"/>
                </a:stretch>
              </a:blipFill>
              <a:ln/>
            </p:spPr>
            <p:txBody>
              <a:bodyPr/>
              <a:lstStyle/>
              <a:p>
                <a:r>
                  <a:rPr lang="ko-KR" altLang="en-US">
                    <a:noFill/>
                  </a:rPr>
                  <a:t> </a:t>
                </a:r>
              </a:p>
            </p:txBody>
          </p:sp>
        </mc:Fallback>
      </mc:AlternateContent>
      <p:sp>
        <p:nvSpPr>
          <p:cNvPr id="266" name="Segment panel">
            <a:extLst>
              <a:ext uri="{FF2B5EF4-FFF2-40B4-BE49-F238E27FC236}">
                <a16:creationId xmlns:a16="http://schemas.microsoft.com/office/drawing/2014/main" id="{038DC8BC-20A2-4373-847C-169B00DCDD65}"/>
              </a:ext>
            </a:extLst>
          </p:cNvPr>
          <p:cNvSpPr/>
          <p:nvPr/>
        </p:nvSpPr>
        <p:spPr>
          <a:xfrm>
            <a:off x="6409944" y="4279392"/>
            <a:ext cx="5230368" cy="1847088"/>
          </a:xfrm>
          <a:prstGeom prst="roundRect">
            <a:avLst>
              <a:gd name="adj" fmla="val 4000"/>
            </a:avLst>
          </a:prstGeom>
          <a:solidFill>
            <a:srgbClr val="F4F7FB"/>
          </a:solidFill>
          <a:ln>
            <a:noFill/>
          </a:ln>
        </p:spPr>
        <p:txBody>
          <a:bodyPr rtlCol="0" anchor="ctr"/>
          <a:lstStyle/>
          <a:p>
            <a:pPr algn="ctr"/>
            <a:endParaRPr/>
          </a:p>
        </p:txBody>
      </p:sp>
      <p:sp>
        <p:nvSpPr>
          <p:cNvPr id="267" name="TextBox 266">
            <a:extLst>
              <a:ext uri="{FF2B5EF4-FFF2-40B4-BE49-F238E27FC236}">
                <a16:creationId xmlns:a16="http://schemas.microsoft.com/office/drawing/2014/main" id="{A939EC7F-1698-4935-950B-2AFF0F3A995F}"/>
              </a:ext>
            </a:extLst>
          </p:cNvPr>
          <p:cNvSpPr txBox="1"/>
          <p:nvPr/>
        </p:nvSpPr>
        <p:spPr>
          <a:xfrm>
            <a:off x="6510528" y="4287012"/>
            <a:ext cx="1188720" cy="146304"/>
          </a:xfrm>
          <a:prstGeom prst="rect">
            <a:avLst/>
          </a:prstGeom>
          <a:noFill/>
        </p:spPr>
        <p:txBody>
          <a:bodyPr wrap="square" lIns="0" tIns="0" rIns="0" bIns="0" anchor="t">
            <a:noAutofit/>
          </a:bodyPr>
          <a:lstStyle/>
          <a:p>
            <a:pPr algn="ctr"/>
            <a:r>
              <a:rPr sz="850" b="1" dirty="0" err="1">
                <a:solidFill>
                  <a:srgbClr val="555555"/>
                </a:solidFill>
                <a:latin typeface="+mj-ea"/>
                <a:ea typeface="+mj-ea"/>
              </a:rPr>
              <a:t>세그먼트</a:t>
            </a:r>
            <a:endParaRPr sz="850" b="1" dirty="0">
              <a:solidFill>
                <a:srgbClr val="555555"/>
              </a:solidFill>
              <a:latin typeface="+mj-ea"/>
              <a:ea typeface="+mj-ea"/>
            </a:endParaRPr>
          </a:p>
        </p:txBody>
      </p:sp>
      <p:sp>
        <p:nvSpPr>
          <p:cNvPr id="268" name="TextBox 267">
            <a:extLst>
              <a:ext uri="{FF2B5EF4-FFF2-40B4-BE49-F238E27FC236}">
                <a16:creationId xmlns:a16="http://schemas.microsoft.com/office/drawing/2014/main" id="{E66FB391-0AD5-40B4-BA2A-F18186B11F53}"/>
              </a:ext>
            </a:extLst>
          </p:cNvPr>
          <p:cNvSpPr txBox="1"/>
          <p:nvPr/>
        </p:nvSpPr>
        <p:spPr>
          <a:xfrm>
            <a:off x="7818120" y="4287012"/>
            <a:ext cx="1371600" cy="146304"/>
          </a:xfrm>
          <a:prstGeom prst="rect">
            <a:avLst/>
          </a:prstGeom>
          <a:noFill/>
        </p:spPr>
        <p:txBody>
          <a:bodyPr wrap="square" lIns="0" tIns="0" rIns="0" bIns="0" anchor="t">
            <a:noAutofit/>
          </a:bodyPr>
          <a:lstStyle/>
          <a:p>
            <a:pPr algn="ctr"/>
            <a:r>
              <a:rPr sz="850" b="1">
                <a:solidFill>
                  <a:srgbClr val="555555"/>
                </a:solidFill>
                <a:latin typeface="+mj-ea"/>
                <a:ea typeface="+mj-ea"/>
              </a:rPr>
              <a:t>특징</a:t>
            </a:r>
          </a:p>
        </p:txBody>
      </p:sp>
      <p:sp>
        <p:nvSpPr>
          <p:cNvPr id="269" name="TextBox 268">
            <a:extLst>
              <a:ext uri="{FF2B5EF4-FFF2-40B4-BE49-F238E27FC236}">
                <a16:creationId xmlns:a16="http://schemas.microsoft.com/office/drawing/2014/main" id="{4235C67F-0F3F-405B-A837-0D63984024E1}"/>
              </a:ext>
            </a:extLst>
          </p:cNvPr>
          <p:cNvSpPr txBox="1"/>
          <p:nvPr/>
        </p:nvSpPr>
        <p:spPr>
          <a:xfrm>
            <a:off x="9281160" y="4287012"/>
            <a:ext cx="1225296" cy="146304"/>
          </a:xfrm>
          <a:prstGeom prst="rect">
            <a:avLst/>
          </a:prstGeom>
          <a:noFill/>
        </p:spPr>
        <p:txBody>
          <a:bodyPr wrap="square" lIns="0" tIns="0" rIns="0" bIns="0" anchor="t">
            <a:noAutofit/>
          </a:bodyPr>
          <a:lstStyle/>
          <a:p>
            <a:pPr algn="ctr"/>
            <a:r>
              <a:rPr sz="850" b="1">
                <a:solidFill>
                  <a:srgbClr val="555555"/>
                </a:solidFill>
                <a:latin typeface="+mj-ea"/>
                <a:ea typeface="+mj-ea"/>
              </a:rPr>
              <a:t>시장 규모</a:t>
            </a:r>
          </a:p>
        </p:txBody>
      </p:sp>
      <p:sp>
        <p:nvSpPr>
          <p:cNvPr id="270" name="TextBox 269">
            <a:extLst>
              <a:ext uri="{FF2B5EF4-FFF2-40B4-BE49-F238E27FC236}">
                <a16:creationId xmlns:a16="http://schemas.microsoft.com/office/drawing/2014/main" id="{B141CC1D-646E-41EE-B53D-68DB97FA9794}"/>
              </a:ext>
            </a:extLst>
          </p:cNvPr>
          <p:cNvSpPr txBox="1"/>
          <p:nvPr/>
        </p:nvSpPr>
        <p:spPr>
          <a:xfrm>
            <a:off x="10515600" y="4287012"/>
            <a:ext cx="1097280" cy="146304"/>
          </a:xfrm>
          <a:prstGeom prst="rect">
            <a:avLst/>
          </a:prstGeom>
          <a:noFill/>
        </p:spPr>
        <p:txBody>
          <a:bodyPr wrap="square" lIns="0" tIns="0" rIns="0" bIns="0" anchor="t">
            <a:noAutofit/>
          </a:bodyPr>
          <a:lstStyle/>
          <a:p>
            <a:pPr algn="ctr"/>
            <a:r>
              <a:rPr sz="850" b="1">
                <a:solidFill>
                  <a:srgbClr val="555555"/>
                </a:solidFill>
                <a:latin typeface="+mj-ea"/>
                <a:ea typeface="+mj-ea"/>
              </a:rPr>
              <a:t>규모 ($B) · 성장</a:t>
            </a:r>
          </a:p>
        </p:txBody>
      </p:sp>
      <p:sp>
        <p:nvSpPr>
          <p:cNvPr id="271" name="Segment chip">
            <a:extLst>
              <a:ext uri="{FF2B5EF4-FFF2-40B4-BE49-F238E27FC236}">
                <a16:creationId xmlns:a16="http://schemas.microsoft.com/office/drawing/2014/main" id="{C0A3FA2E-28E5-47B9-B33C-7F54E18CAAA2}"/>
              </a:ext>
            </a:extLst>
          </p:cNvPr>
          <p:cNvSpPr/>
          <p:nvPr/>
        </p:nvSpPr>
        <p:spPr>
          <a:xfrm>
            <a:off x="6492240" y="4517136"/>
            <a:ext cx="1261872" cy="246888"/>
          </a:xfrm>
          <a:prstGeom prst="roundRect">
            <a:avLst>
              <a:gd name="adj" fmla="val 19000"/>
            </a:avLst>
          </a:prstGeom>
          <a:solidFill>
            <a:srgbClr val="F0F1F3"/>
          </a:solidFill>
          <a:ln w="12700">
            <a:solidFill>
              <a:srgbClr val="7F7F7F"/>
            </a:solidFill>
          </a:ln>
        </p:spPr>
        <p:txBody>
          <a:bodyPr wrap="square" lIns="54864" tIns="18288" rIns="45720" bIns="18288" rtlCol="0" anchor="ctr"/>
          <a:lstStyle/>
          <a:p>
            <a:pPr algn="l"/>
            <a:r>
              <a:rPr sz="950" b="1">
                <a:solidFill>
                  <a:srgbClr val="222222"/>
                </a:solidFill>
                <a:latin typeface="+mj-ea"/>
                <a:ea typeface="+mj-ea"/>
              </a:rPr>
              <a:t>HBM (기준)</a:t>
            </a:r>
          </a:p>
        </p:txBody>
      </p:sp>
      <p:sp>
        <p:nvSpPr>
          <p:cNvPr id="272" name="TextBox 271">
            <a:extLst>
              <a:ext uri="{FF2B5EF4-FFF2-40B4-BE49-F238E27FC236}">
                <a16:creationId xmlns:a16="http://schemas.microsoft.com/office/drawing/2014/main" id="{F1E76BD8-C30C-4BC8-B4E5-7B412F623F17}"/>
              </a:ext>
            </a:extLst>
          </p:cNvPr>
          <p:cNvSpPr txBox="1"/>
          <p:nvPr/>
        </p:nvSpPr>
        <p:spPr>
          <a:xfrm>
            <a:off x="7818120" y="4517136"/>
            <a:ext cx="1417320" cy="246888"/>
          </a:xfrm>
          <a:prstGeom prst="rect">
            <a:avLst/>
          </a:prstGeom>
          <a:noFill/>
        </p:spPr>
        <p:txBody>
          <a:bodyPr wrap="square" lIns="0" tIns="0" rIns="0" bIns="0" anchor="ctr">
            <a:noAutofit/>
          </a:bodyPr>
          <a:lstStyle/>
          <a:p>
            <a:pPr algn="l">
              <a:lnSpc>
                <a:spcPct val="95000"/>
              </a:lnSpc>
            </a:pPr>
            <a:r>
              <a:rPr sz="850" b="0">
                <a:solidFill>
                  <a:srgbClr val="222222"/>
                </a:solidFill>
                <a:latin typeface="+mj-ea"/>
                <a:ea typeface="+mj-ea"/>
              </a:rPr>
              <a:t>GPU 온패키지 고대역폭, 공급 부족 지속</a:t>
            </a:r>
          </a:p>
        </p:txBody>
      </p:sp>
      <p:sp>
        <p:nvSpPr>
          <p:cNvPr id="273" name="seg bar now">
            <a:extLst>
              <a:ext uri="{FF2B5EF4-FFF2-40B4-BE49-F238E27FC236}">
                <a16:creationId xmlns:a16="http://schemas.microsoft.com/office/drawing/2014/main" id="{B1DA3349-DF92-4EB4-A946-8238767E8D3D}"/>
              </a:ext>
            </a:extLst>
          </p:cNvPr>
          <p:cNvSpPr/>
          <p:nvPr/>
        </p:nvSpPr>
        <p:spPr>
          <a:xfrm>
            <a:off x="9281160" y="4544568"/>
            <a:ext cx="400050" cy="91440"/>
          </a:xfrm>
          <a:prstGeom prst="rect">
            <a:avLst/>
          </a:prstGeom>
          <a:solidFill>
            <a:srgbClr val="9DB9DE"/>
          </a:solidFill>
          <a:ln>
            <a:noFill/>
          </a:ln>
        </p:spPr>
        <p:txBody>
          <a:bodyPr rtlCol="0" anchor="ctr"/>
          <a:lstStyle/>
          <a:p>
            <a:pPr algn="ctr"/>
            <a:endParaRPr/>
          </a:p>
        </p:txBody>
      </p:sp>
      <p:sp>
        <p:nvSpPr>
          <p:cNvPr id="274" name="seg bar future">
            <a:extLst>
              <a:ext uri="{FF2B5EF4-FFF2-40B4-BE49-F238E27FC236}">
                <a16:creationId xmlns:a16="http://schemas.microsoft.com/office/drawing/2014/main" id="{A659B3C4-273C-4500-B4E8-0B336B0EAF53}"/>
              </a:ext>
            </a:extLst>
          </p:cNvPr>
          <p:cNvSpPr/>
          <p:nvPr/>
        </p:nvSpPr>
        <p:spPr>
          <a:xfrm>
            <a:off x="9281160" y="4645151"/>
            <a:ext cx="1143000" cy="91440"/>
          </a:xfrm>
          <a:prstGeom prst="rect">
            <a:avLst/>
          </a:prstGeom>
          <a:solidFill>
            <a:srgbClr val="1C3F6E"/>
          </a:solidFill>
          <a:ln>
            <a:noFill/>
          </a:ln>
        </p:spPr>
        <p:txBody>
          <a:bodyPr rtlCol="0" anchor="ctr"/>
          <a:lstStyle/>
          <a:p>
            <a:pPr algn="ctr"/>
            <a:endParaRPr/>
          </a:p>
        </p:txBody>
      </p:sp>
      <p:sp>
        <p:nvSpPr>
          <p:cNvPr id="275" name="TextBox 274">
            <a:extLst>
              <a:ext uri="{FF2B5EF4-FFF2-40B4-BE49-F238E27FC236}">
                <a16:creationId xmlns:a16="http://schemas.microsoft.com/office/drawing/2014/main" id="{7514A97E-8378-4D87-A18A-3E4B28425394}"/>
              </a:ext>
            </a:extLst>
          </p:cNvPr>
          <p:cNvSpPr txBox="1"/>
          <p:nvPr/>
        </p:nvSpPr>
        <p:spPr>
          <a:xfrm>
            <a:off x="10515600" y="4507992"/>
            <a:ext cx="1115568" cy="265176"/>
          </a:xfrm>
          <a:prstGeom prst="rect">
            <a:avLst/>
          </a:prstGeom>
          <a:noFill/>
        </p:spPr>
        <p:txBody>
          <a:bodyPr wrap="square" lIns="0" tIns="0" rIns="0" bIns="0" anchor="ctr">
            <a:noAutofit/>
          </a:bodyPr>
          <a:lstStyle/>
          <a:p>
            <a:pPr algn="l">
              <a:lnSpc>
                <a:spcPct val="95000"/>
              </a:lnSpc>
            </a:pPr>
            <a:r>
              <a:rPr sz="900" b="1">
                <a:solidFill>
                  <a:srgbClr val="1C3F6E"/>
                </a:solidFill>
                <a:latin typeface="+mj-ea"/>
                <a:ea typeface="+mj-ea"/>
              </a:rPr>
              <a:t>$35B → ≈$100B</a:t>
            </a:r>
          </a:p>
          <a:p>
            <a:pPr algn="l">
              <a:lnSpc>
                <a:spcPct val="95000"/>
              </a:lnSpc>
            </a:pPr>
            <a:r>
              <a:rPr sz="750" b="0">
                <a:solidFill>
                  <a:srgbClr val="555555"/>
                </a:solidFill>
                <a:latin typeface="+mj-ea"/>
                <a:ea typeface="+mj-ea"/>
              </a:rPr>
              <a:t>’25→’28E · CAGR ≈42%</a:t>
            </a:r>
          </a:p>
        </p:txBody>
      </p:sp>
      <p:sp>
        <p:nvSpPr>
          <p:cNvPr id="276" name="Segment chip">
            <a:extLst>
              <a:ext uri="{FF2B5EF4-FFF2-40B4-BE49-F238E27FC236}">
                <a16:creationId xmlns:a16="http://schemas.microsoft.com/office/drawing/2014/main" id="{0567273D-9BEC-4EFB-A786-9FBE92143C7F}"/>
              </a:ext>
            </a:extLst>
          </p:cNvPr>
          <p:cNvSpPr/>
          <p:nvPr/>
        </p:nvSpPr>
        <p:spPr>
          <a:xfrm>
            <a:off x="6492240" y="4828031"/>
            <a:ext cx="1261872" cy="246888"/>
          </a:xfrm>
          <a:prstGeom prst="roundRect">
            <a:avLst>
              <a:gd name="adj" fmla="val 19000"/>
            </a:avLst>
          </a:prstGeom>
          <a:solidFill>
            <a:srgbClr val="EAF1FA"/>
          </a:solidFill>
          <a:ln w="12700">
            <a:solidFill>
              <a:srgbClr val="2F6DB5"/>
            </a:solidFill>
          </a:ln>
        </p:spPr>
        <p:txBody>
          <a:bodyPr wrap="square" lIns="54864" tIns="18288" rIns="45720" bIns="18288" rtlCol="0" anchor="ctr"/>
          <a:lstStyle/>
          <a:p>
            <a:pPr algn="l"/>
            <a:r>
              <a:rPr sz="950" b="1">
                <a:solidFill>
                  <a:srgbClr val="222222"/>
                </a:solidFill>
                <a:latin typeface="+mj-ea"/>
                <a:ea typeface="+mj-ea"/>
              </a:rPr>
              <a:t>cHBM</a:t>
            </a:r>
          </a:p>
        </p:txBody>
      </p:sp>
      <p:sp>
        <p:nvSpPr>
          <p:cNvPr id="277" name="TextBox 276">
            <a:extLst>
              <a:ext uri="{FF2B5EF4-FFF2-40B4-BE49-F238E27FC236}">
                <a16:creationId xmlns:a16="http://schemas.microsoft.com/office/drawing/2014/main" id="{0B98DD65-41FF-4DCD-94CD-076143051650}"/>
              </a:ext>
            </a:extLst>
          </p:cNvPr>
          <p:cNvSpPr txBox="1"/>
          <p:nvPr/>
        </p:nvSpPr>
        <p:spPr>
          <a:xfrm>
            <a:off x="7818120" y="4828031"/>
            <a:ext cx="1417320" cy="246888"/>
          </a:xfrm>
          <a:prstGeom prst="rect">
            <a:avLst/>
          </a:prstGeom>
          <a:noFill/>
        </p:spPr>
        <p:txBody>
          <a:bodyPr wrap="square" lIns="0" tIns="0" rIns="0" bIns="0" anchor="ctr">
            <a:noAutofit/>
          </a:bodyPr>
          <a:lstStyle/>
          <a:p>
            <a:pPr algn="l">
              <a:lnSpc>
                <a:spcPct val="95000"/>
              </a:lnSpc>
            </a:pPr>
            <a:r>
              <a:rPr sz="850" b="0" dirty="0">
                <a:solidFill>
                  <a:srgbClr val="222222"/>
                </a:solidFill>
                <a:latin typeface="+mj-ea"/>
                <a:ea typeface="+mj-ea"/>
              </a:rPr>
              <a:t>Base </a:t>
            </a:r>
            <a:r>
              <a:rPr sz="850" b="0" dirty="0" err="1">
                <a:solidFill>
                  <a:srgbClr val="222222"/>
                </a:solidFill>
                <a:latin typeface="+mj-ea"/>
                <a:ea typeface="+mj-ea"/>
              </a:rPr>
              <a:t>die에</a:t>
            </a:r>
            <a:r>
              <a:rPr sz="850" b="0" dirty="0">
                <a:solidFill>
                  <a:srgbClr val="222222"/>
                </a:solidFill>
                <a:latin typeface="+mj-ea"/>
                <a:ea typeface="+mj-ea"/>
              </a:rPr>
              <a:t> </a:t>
            </a:r>
            <a:r>
              <a:rPr sz="850" b="0" dirty="0" err="1">
                <a:solidFill>
                  <a:srgbClr val="222222"/>
                </a:solidFill>
                <a:latin typeface="+mj-ea"/>
                <a:ea typeface="+mj-ea"/>
              </a:rPr>
              <a:t>고객</a:t>
            </a:r>
            <a:r>
              <a:rPr sz="850" b="0" dirty="0">
                <a:solidFill>
                  <a:srgbClr val="222222"/>
                </a:solidFill>
                <a:latin typeface="+mj-ea"/>
                <a:ea typeface="+mj-ea"/>
              </a:rPr>
              <a:t> </a:t>
            </a:r>
            <a:r>
              <a:rPr sz="850" b="0" dirty="0" err="1">
                <a:solidFill>
                  <a:srgbClr val="222222"/>
                </a:solidFill>
                <a:latin typeface="+mj-ea"/>
                <a:ea typeface="+mj-ea"/>
              </a:rPr>
              <a:t>특화</a:t>
            </a:r>
            <a:r>
              <a:rPr sz="850" b="0" dirty="0">
                <a:solidFill>
                  <a:srgbClr val="222222"/>
                </a:solidFill>
                <a:latin typeface="+mj-ea"/>
                <a:ea typeface="+mj-ea"/>
              </a:rPr>
              <a:t> </a:t>
            </a:r>
            <a:r>
              <a:rPr sz="850" b="0" dirty="0" err="1">
                <a:solidFill>
                  <a:srgbClr val="222222"/>
                </a:solidFill>
                <a:latin typeface="+mj-ea"/>
                <a:ea typeface="+mj-ea"/>
              </a:rPr>
              <a:t>로직</a:t>
            </a:r>
            <a:endParaRPr sz="850" b="0" dirty="0">
              <a:solidFill>
                <a:srgbClr val="222222"/>
              </a:solidFill>
              <a:latin typeface="+mj-ea"/>
              <a:ea typeface="+mj-ea"/>
            </a:endParaRPr>
          </a:p>
        </p:txBody>
      </p:sp>
      <p:sp>
        <p:nvSpPr>
          <p:cNvPr id="278" name="seg bar now">
            <a:extLst>
              <a:ext uri="{FF2B5EF4-FFF2-40B4-BE49-F238E27FC236}">
                <a16:creationId xmlns:a16="http://schemas.microsoft.com/office/drawing/2014/main" id="{DCDB4FEA-DA94-4502-B811-0FB024E6FE36}"/>
              </a:ext>
            </a:extLst>
          </p:cNvPr>
          <p:cNvSpPr/>
          <p:nvPr/>
        </p:nvSpPr>
        <p:spPr>
          <a:xfrm>
            <a:off x="9281160" y="4855464"/>
            <a:ext cx="70866" cy="91440"/>
          </a:xfrm>
          <a:prstGeom prst="rect">
            <a:avLst/>
          </a:prstGeom>
          <a:solidFill>
            <a:srgbClr val="9DB9DE"/>
          </a:solidFill>
          <a:ln>
            <a:noFill/>
          </a:ln>
        </p:spPr>
        <p:txBody>
          <a:bodyPr rtlCol="0" anchor="ctr"/>
          <a:lstStyle/>
          <a:p>
            <a:pPr algn="ctr"/>
            <a:endParaRPr/>
          </a:p>
        </p:txBody>
      </p:sp>
      <p:sp>
        <p:nvSpPr>
          <p:cNvPr id="279" name="seg bar future">
            <a:extLst>
              <a:ext uri="{FF2B5EF4-FFF2-40B4-BE49-F238E27FC236}">
                <a16:creationId xmlns:a16="http://schemas.microsoft.com/office/drawing/2014/main" id="{D0171506-A0EA-4CAA-B51E-C1D45883A563}"/>
              </a:ext>
            </a:extLst>
          </p:cNvPr>
          <p:cNvSpPr/>
          <p:nvPr/>
        </p:nvSpPr>
        <p:spPr>
          <a:xfrm>
            <a:off x="9281160" y="4956047"/>
            <a:ext cx="290322" cy="91440"/>
          </a:xfrm>
          <a:prstGeom prst="rect">
            <a:avLst/>
          </a:prstGeom>
          <a:solidFill>
            <a:srgbClr val="2F6DB5"/>
          </a:solidFill>
          <a:ln>
            <a:noFill/>
          </a:ln>
        </p:spPr>
        <p:txBody>
          <a:bodyPr rtlCol="0" anchor="ctr"/>
          <a:lstStyle/>
          <a:p>
            <a:pPr algn="ctr"/>
            <a:endParaRPr/>
          </a:p>
        </p:txBody>
      </p:sp>
      <p:sp>
        <p:nvSpPr>
          <p:cNvPr id="280" name="TextBox 279">
            <a:extLst>
              <a:ext uri="{FF2B5EF4-FFF2-40B4-BE49-F238E27FC236}">
                <a16:creationId xmlns:a16="http://schemas.microsoft.com/office/drawing/2014/main" id="{FBE87DDD-FA04-44AA-B39C-078B141C3C3A}"/>
              </a:ext>
            </a:extLst>
          </p:cNvPr>
          <p:cNvSpPr txBox="1"/>
          <p:nvPr/>
        </p:nvSpPr>
        <p:spPr>
          <a:xfrm>
            <a:off x="10515600" y="4818888"/>
            <a:ext cx="1115568" cy="265176"/>
          </a:xfrm>
          <a:prstGeom prst="rect">
            <a:avLst/>
          </a:prstGeom>
          <a:noFill/>
        </p:spPr>
        <p:txBody>
          <a:bodyPr wrap="square" lIns="0" tIns="0" rIns="0" bIns="0" anchor="ctr">
            <a:noAutofit/>
          </a:bodyPr>
          <a:lstStyle/>
          <a:p>
            <a:pPr algn="l">
              <a:lnSpc>
                <a:spcPct val="95000"/>
              </a:lnSpc>
            </a:pPr>
            <a:r>
              <a:rPr sz="900" b="1">
                <a:solidFill>
                  <a:srgbClr val="1C3F6E"/>
                </a:solidFill>
                <a:latin typeface="+mj-ea"/>
                <a:ea typeface="+mj-ea"/>
              </a:rPr>
              <a:t>$6.2B → $25.4B</a:t>
            </a:r>
          </a:p>
          <a:p>
            <a:pPr algn="l">
              <a:lnSpc>
                <a:spcPct val="95000"/>
              </a:lnSpc>
            </a:pPr>
            <a:r>
              <a:rPr sz="750" b="0">
                <a:solidFill>
                  <a:srgbClr val="555555"/>
                </a:solidFill>
                <a:latin typeface="+mj-ea"/>
                <a:ea typeface="+mj-ea"/>
              </a:rPr>
              <a:t>’25→’31E · CAGR ≈27%</a:t>
            </a:r>
          </a:p>
        </p:txBody>
      </p:sp>
      <p:sp>
        <p:nvSpPr>
          <p:cNvPr id="281" name="Segment chip">
            <a:extLst>
              <a:ext uri="{FF2B5EF4-FFF2-40B4-BE49-F238E27FC236}">
                <a16:creationId xmlns:a16="http://schemas.microsoft.com/office/drawing/2014/main" id="{C76930F2-7808-4EDD-B03D-9A9B905987CD}"/>
              </a:ext>
            </a:extLst>
          </p:cNvPr>
          <p:cNvSpPr/>
          <p:nvPr/>
        </p:nvSpPr>
        <p:spPr>
          <a:xfrm>
            <a:off x="6492240" y="5138927"/>
            <a:ext cx="1261872" cy="246888"/>
          </a:xfrm>
          <a:prstGeom prst="roundRect">
            <a:avLst>
              <a:gd name="adj" fmla="val 19000"/>
            </a:avLst>
          </a:prstGeom>
          <a:solidFill>
            <a:srgbClr val="EAF1FA"/>
          </a:solidFill>
          <a:ln w="12700">
            <a:solidFill>
              <a:srgbClr val="2F6DB5"/>
            </a:solidFill>
          </a:ln>
        </p:spPr>
        <p:txBody>
          <a:bodyPr wrap="square" lIns="54864" tIns="18288" rIns="45720" bIns="18288" rtlCol="0" anchor="ctr"/>
          <a:lstStyle/>
          <a:p>
            <a:pPr algn="l"/>
            <a:r>
              <a:rPr sz="950" b="1">
                <a:solidFill>
                  <a:srgbClr val="222222"/>
                </a:solidFill>
                <a:latin typeface="+mj-ea"/>
                <a:ea typeface="+mj-ea"/>
              </a:rPr>
              <a:t>CXL 메모리 풀</a:t>
            </a:r>
          </a:p>
        </p:txBody>
      </p:sp>
      <p:sp>
        <p:nvSpPr>
          <p:cNvPr id="282" name="TextBox 281">
            <a:extLst>
              <a:ext uri="{FF2B5EF4-FFF2-40B4-BE49-F238E27FC236}">
                <a16:creationId xmlns:a16="http://schemas.microsoft.com/office/drawing/2014/main" id="{1750F99D-F96D-4EF5-85D4-F50EC98E0095}"/>
              </a:ext>
            </a:extLst>
          </p:cNvPr>
          <p:cNvSpPr txBox="1"/>
          <p:nvPr/>
        </p:nvSpPr>
        <p:spPr>
          <a:xfrm>
            <a:off x="7818120" y="5138927"/>
            <a:ext cx="1417320" cy="246888"/>
          </a:xfrm>
          <a:prstGeom prst="rect">
            <a:avLst/>
          </a:prstGeom>
          <a:noFill/>
        </p:spPr>
        <p:txBody>
          <a:bodyPr wrap="square" lIns="0" tIns="0" rIns="0" bIns="0" anchor="ctr">
            <a:noAutofit/>
          </a:bodyPr>
          <a:lstStyle/>
          <a:p>
            <a:pPr algn="l">
              <a:lnSpc>
                <a:spcPct val="95000"/>
              </a:lnSpc>
            </a:pPr>
            <a:r>
              <a:rPr sz="850" b="0" dirty="0" err="1">
                <a:solidFill>
                  <a:srgbClr val="222222"/>
                </a:solidFill>
                <a:latin typeface="+mj-ea"/>
                <a:ea typeface="+mj-ea"/>
              </a:rPr>
              <a:t>서버</a:t>
            </a:r>
            <a:r>
              <a:rPr sz="850" b="0" dirty="0">
                <a:solidFill>
                  <a:srgbClr val="222222"/>
                </a:solidFill>
                <a:latin typeface="+mj-ea"/>
                <a:ea typeface="+mj-ea"/>
              </a:rPr>
              <a:t> </a:t>
            </a:r>
            <a:r>
              <a:rPr sz="850" b="0" dirty="0" err="1">
                <a:solidFill>
                  <a:srgbClr val="222222"/>
                </a:solidFill>
                <a:latin typeface="+mj-ea"/>
                <a:ea typeface="+mj-ea"/>
              </a:rPr>
              <a:t>단위</a:t>
            </a:r>
            <a:r>
              <a:rPr sz="850" b="0" dirty="0">
                <a:solidFill>
                  <a:srgbClr val="222222"/>
                </a:solidFill>
                <a:latin typeface="+mj-ea"/>
                <a:ea typeface="+mj-ea"/>
              </a:rPr>
              <a:t> </a:t>
            </a:r>
            <a:r>
              <a:rPr sz="850" b="0" dirty="0" err="1">
                <a:solidFill>
                  <a:srgbClr val="222222"/>
                </a:solidFill>
                <a:latin typeface="+mj-ea"/>
                <a:ea typeface="+mj-ea"/>
              </a:rPr>
              <a:t>용량</a:t>
            </a:r>
            <a:r>
              <a:rPr sz="850" b="0" dirty="0">
                <a:solidFill>
                  <a:srgbClr val="222222"/>
                </a:solidFill>
                <a:latin typeface="+mj-ea"/>
                <a:ea typeface="+mj-ea"/>
              </a:rPr>
              <a:t> </a:t>
            </a:r>
            <a:r>
              <a:rPr sz="850" b="0" dirty="0" err="1">
                <a:solidFill>
                  <a:srgbClr val="222222"/>
                </a:solidFill>
                <a:latin typeface="+mj-ea"/>
                <a:ea typeface="+mj-ea"/>
              </a:rPr>
              <a:t>확장</a:t>
            </a:r>
            <a:r>
              <a:rPr sz="850" b="0" dirty="0">
                <a:solidFill>
                  <a:srgbClr val="222222"/>
                </a:solidFill>
                <a:latin typeface="+mj-ea"/>
                <a:ea typeface="+mj-ea"/>
              </a:rPr>
              <a:t>, KV </a:t>
            </a:r>
            <a:r>
              <a:rPr sz="850" b="0" dirty="0" err="1">
                <a:solidFill>
                  <a:srgbClr val="222222"/>
                </a:solidFill>
                <a:latin typeface="+mj-ea"/>
                <a:ea typeface="+mj-ea"/>
              </a:rPr>
              <a:t>공유</a:t>
            </a:r>
            <a:endParaRPr sz="850" b="0" dirty="0">
              <a:solidFill>
                <a:srgbClr val="222222"/>
              </a:solidFill>
              <a:latin typeface="+mj-ea"/>
              <a:ea typeface="+mj-ea"/>
            </a:endParaRPr>
          </a:p>
        </p:txBody>
      </p:sp>
      <p:sp>
        <p:nvSpPr>
          <p:cNvPr id="283" name="seg bar now">
            <a:extLst>
              <a:ext uri="{FF2B5EF4-FFF2-40B4-BE49-F238E27FC236}">
                <a16:creationId xmlns:a16="http://schemas.microsoft.com/office/drawing/2014/main" id="{DC6707B1-0338-4262-A877-1EFEE6D31C03}"/>
              </a:ext>
            </a:extLst>
          </p:cNvPr>
          <p:cNvSpPr/>
          <p:nvPr/>
        </p:nvSpPr>
        <p:spPr>
          <a:xfrm>
            <a:off x="9281160" y="5166359"/>
            <a:ext cx="28232" cy="91440"/>
          </a:xfrm>
          <a:prstGeom prst="rect">
            <a:avLst/>
          </a:prstGeom>
          <a:solidFill>
            <a:srgbClr val="9DB9DE"/>
          </a:solidFill>
          <a:ln>
            <a:noFill/>
          </a:ln>
        </p:spPr>
        <p:txBody>
          <a:bodyPr rtlCol="0" anchor="ctr"/>
          <a:lstStyle/>
          <a:p>
            <a:pPr algn="ctr"/>
            <a:endParaRPr/>
          </a:p>
        </p:txBody>
      </p:sp>
      <p:sp>
        <p:nvSpPr>
          <p:cNvPr id="284" name="seg bar future">
            <a:extLst>
              <a:ext uri="{FF2B5EF4-FFF2-40B4-BE49-F238E27FC236}">
                <a16:creationId xmlns:a16="http://schemas.microsoft.com/office/drawing/2014/main" id="{1B21EF73-EC8F-4D14-A62A-305D9DC09481}"/>
              </a:ext>
            </a:extLst>
          </p:cNvPr>
          <p:cNvSpPr/>
          <p:nvPr/>
        </p:nvSpPr>
        <p:spPr>
          <a:xfrm>
            <a:off x="9281160" y="5266943"/>
            <a:ext cx="146989" cy="91440"/>
          </a:xfrm>
          <a:prstGeom prst="rect">
            <a:avLst/>
          </a:prstGeom>
          <a:solidFill>
            <a:srgbClr val="2F6DB5"/>
          </a:solidFill>
          <a:ln>
            <a:noFill/>
          </a:ln>
        </p:spPr>
        <p:txBody>
          <a:bodyPr rtlCol="0" anchor="ctr"/>
          <a:lstStyle/>
          <a:p>
            <a:pPr algn="ctr"/>
            <a:endParaRPr/>
          </a:p>
        </p:txBody>
      </p:sp>
      <p:sp>
        <p:nvSpPr>
          <p:cNvPr id="285" name="TextBox 284">
            <a:extLst>
              <a:ext uri="{FF2B5EF4-FFF2-40B4-BE49-F238E27FC236}">
                <a16:creationId xmlns:a16="http://schemas.microsoft.com/office/drawing/2014/main" id="{186178A9-B695-43FE-87D0-52147BBD0F07}"/>
              </a:ext>
            </a:extLst>
          </p:cNvPr>
          <p:cNvSpPr txBox="1"/>
          <p:nvPr/>
        </p:nvSpPr>
        <p:spPr>
          <a:xfrm>
            <a:off x="10515600" y="5129783"/>
            <a:ext cx="1115568" cy="265176"/>
          </a:xfrm>
          <a:prstGeom prst="rect">
            <a:avLst/>
          </a:prstGeom>
          <a:noFill/>
        </p:spPr>
        <p:txBody>
          <a:bodyPr wrap="square" lIns="0" tIns="0" rIns="0" bIns="0" anchor="ctr">
            <a:noAutofit/>
          </a:bodyPr>
          <a:lstStyle/>
          <a:p>
            <a:pPr algn="l">
              <a:lnSpc>
                <a:spcPct val="95000"/>
              </a:lnSpc>
            </a:pPr>
            <a:r>
              <a:rPr sz="900" b="1">
                <a:solidFill>
                  <a:srgbClr val="1C3F6E"/>
                </a:solidFill>
                <a:latin typeface="+mj-ea"/>
                <a:ea typeface="+mj-ea"/>
              </a:rPr>
              <a:t>$2.5B → $12.9B</a:t>
            </a:r>
          </a:p>
          <a:p>
            <a:pPr algn="l">
              <a:lnSpc>
                <a:spcPct val="95000"/>
              </a:lnSpc>
            </a:pPr>
            <a:r>
              <a:rPr sz="750" b="0">
                <a:solidFill>
                  <a:srgbClr val="555555"/>
                </a:solidFill>
                <a:latin typeface="+mj-ea"/>
                <a:ea typeface="+mj-ea"/>
              </a:rPr>
              <a:t>’26→’31E · CAGR ≈39%</a:t>
            </a:r>
          </a:p>
        </p:txBody>
      </p:sp>
      <p:sp>
        <p:nvSpPr>
          <p:cNvPr id="286" name="Segment chip">
            <a:extLst>
              <a:ext uri="{FF2B5EF4-FFF2-40B4-BE49-F238E27FC236}">
                <a16:creationId xmlns:a16="http://schemas.microsoft.com/office/drawing/2014/main" id="{229E2F15-9E9F-4E27-8118-53783761E5BD}"/>
              </a:ext>
            </a:extLst>
          </p:cNvPr>
          <p:cNvSpPr/>
          <p:nvPr/>
        </p:nvSpPr>
        <p:spPr>
          <a:xfrm>
            <a:off x="6492240" y="5449823"/>
            <a:ext cx="1261872" cy="246888"/>
          </a:xfrm>
          <a:prstGeom prst="roundRect">
            <a:avLst>
              <a:gd name="adj" fmla="val 19000"/>
            </a:avLst>
          </a:prstGeom>
          <a:solidFill>
            <a:srgbClr val="EAF1FA"/>
          </a:solidFill>
          <a:ln w="12700">
            <a:solidFill>
              <a:srgbClr val="2F6DB5"/>
            </a:solidFill>
          </a:ln>
        </p:spPr>
        <p:txBody>
          <a:bodyPr wrap="square" lIns="54864" tIns="18288" rIns="45720" bIns="18288" rtlCol="0" anchor="ctr"/>
          <a:lstStyle/>
          <a:p>
            <a:pPr algn="l"/>
            <a:r>
              <a:rPr sz="950" b="1">
                <a:solidFill>
                  <a:srgbClr val="222222"/>
                </a:solidFill>
                <a:latin typeface="+mj-ea"/>
                <a:ea typeface="+mj-ea"/>
              </a:rPr>
              <a:t>SOCAMM2·LPDDR</a:t>
            </a:r>
          </a:p>
        </p:txBody>
      </p:sp>
      <p:sp>
        <p:nvSpPr>
          <p:cNvPr id="287" name="TextBox 286">
            <a:extLst>
              <a:ext uri="{FF2B5EF4-FFF2-40B4-BE49-F238E27FC236}">
                <a16:creationId xmlns:a16="http://schemas.microsoft.com/office/drawing/2014/main" id="{0ED8C0BA-92F5-4A5F-B05E-50828EF11512}"/>
              </a:ext>
            </a:extLst>
          </p:cNvPr>
          <p:cNvSpPr txBox="1"/>
          <p:nvPr/>
        </p:nvSpPr>
        <p:spPr>
          <a:xfrm>
            <a:off x="7818120" y="5449823"/>
            <a:ext cx="1417320" cy="246888"/>
          </a:xfrm>
          <a:prstGeom prst="rect">
            <a:avLst/>
          </a:prstGeom>
          <a:noFill/>
        </p:spPr>
        <p:txBody>
          <a:bodyPr wrap="square" lIns="0" tIns="0" rIns="0" bIns="0" anchor="ctr">
            <a:noAutofit/>
          </a:bodyPr>
          <a:lstStyle/>
          <a:p>
            <a:pPr algn="l">
              <a:lnSpc>
                <a:spcPct val="95000"/>
              </a:lnSpc>
            </a:pPr>
            <a:r>
              <a:rPr sz="850" b="0" dirty="0" err="1">
                <a:solidFill>
                  <a:srgbClr val="222222"/>
                </a:solidFill>
                <a:latin typeface="+mj-ea"/>
                <a:ea typeface="+mj-ea"/>
              </a:rPr>
              <a:t>서버용</a:t>
            </a:r>
            <a:r>
              <a:rPr sz="850" b="0" dirty="0">
                <a:solidFill>
                  <a:srgbClr val="222222"/>
                </a:solidFill>
                <a:latin typeface="+mj-ea"/>
                <a:ea typeface="+mj-ea"/>
              </a:rPr>
              <a:t> </a:t>
            </a:r>
            <a:r>
              <a:rPr sz="850" b="0" dirty="0" err="1">
                <a:solidFill>
                  <a:srgbClr val="222222"/>
                </a:solidFill>
                <a:latin typeface="+mj-ea"/>
                <a:ea typeface="+mj-ea"/>
              </a:rPr>
              <a:t>저전력·대용량</a:t>
            </a:r>
            <a:r>
              <a:rPr sz="850" b="0" dirty="0">
                <a:solidFill>
                  <a:srgbClr val="222222"/>
                </a:solidFill>
                <a:latin typeface="+mj-ea"/>
                <a:ea typeface="+mj-ea"/>
              </a:rPr>
              <a:t> </a:t>
            </a:r>
          </a:p>
        </p:txBody>
      </p:sp>
      <p:sp>
        <p:nvSpPr>
          <p:cNvPr id="288" name="TextBox 287">
            <a:extLst>
              <a:ext uri="{FF2B5EF4-FFF2-40B4-BE49-F238E27FC236}">
                <a16:creationId xmlns:a16="http://schemas.microsoft.com/office/drawing/2014/main" id="{7AF18399-56D7-42EB-A6B5-8BF90C0B2037}"/>
              </a:ext>
            </a:extLst>
          </p:cNvPr>
          <p:cNvSpPr txBox="1"/>
          <p:nvPr/>
        </p:nvSpPr>
        <p:spPr>
          <a:xfrm>
            <a:off x="10515600" y="5440679"/>
            <a:ext cx="1115568" cy="265176"/>
          </a:xfrm>
          <a:prstGeom prst="rect">
            <a:avLst/>
          </a:prstGeom>
          <a:noFill/>
        </p:spPr>
        <p:txBody>
          <a:bodyPr wrap="square" lIns="0" tIns="0" rIns="0" bIns="0" anchor="ctr">
            <a:noAutofit/>
          </a:bodyPr>
          <a:lstStyle/>
          <a:p>
            <a:pPr algn="l">
              <a:lnSpc>
                <a:spcPct val="95000"/>
              </a:lnSpc>
            </a:pPr>
            <a:r>
              <a:rPr sz="900" b="1">
                <a:solidFill>
                  <a:srgbClr val="555555"/>
                </a:solidFill>
                <a:latin typeface="+mj-ea"/>
                <a:ea typeface="+mj-ea"/>
              </a:rPr>
              <a:t>공개 추정치 부재</a:t>
            </a:r>
          </a:p>
          <a:p>
            <a:pPr algn="l">
              <a:lnSpc>
                <a:spcPct val="95000"/>
              </a:lnSpc>
            </a:pPr>
            <a:r>
              <a:rPr sz="750" b="0">
                <a:solidFill>
                  <a:srgbClr val="555555"/>
                </a:solidFill>
                <a:latin typeface="+mj-ea"/>
                <a:ea typeface="+mj-ea"/>
              </a:rPr>
              <a:t>초기 시장</a:t>
            </a:r>
          </a:p>
        </p:txBody>
      </p:sp>
      <p:sp>
        <p:nvSpPr>
          <p:cNvPr id="289" name="TextBox 288">
            <a:extLst>
              <a:ext uri="{FF2B5EF4-FFF2-40B4-BE49-F238E27FC236}">
                <a16:creationId xmlns:a16="http://schemas.microsoft.com/office/drawing/2014/main" id="{D1DFF20F-D994-4612-A468-25132F6A7713}"/>
              </a:ext>
            </a:extLst>
          </p:cNvPr>
          <p:cNvSpPr txBox="1"/>
          <p:nvPr/>
        </p:nvSpPr>
        <p:spPr>
          <a:xfrm>
            <a:off x="9281160" y="5449823"/>
            <a:ext cx="1188720" cy="246888"/>
          </a:xfrm>
          <a:prstGeom prst="rect">
            <a:avLst/>
          </a:prstGeom>
          <a:noFill/>
        </p:spPr>
        <p:txBody>
          <a:bodyPr wrap="square" lIns="0" tIns="0" rIns="0" bIns="0" anchor="ctr">
            <a:noAutofit/>
          </a:bodyPr>
          <a:lstStyle/>
          <a:p>
            <a:pPr algn="l"/>
            <a:r>
              <a:rPr sz="900" b="0">
                <a:solidFill>
                  <a:srgbClr val="555555"/>
                </a:solidFill>
                <a:latin typeface="+mj-ea"/>
                <a:ea typeface="+mj-ea"/>
              </a:rPr>
              <a:t>—</a:t>
            </a:r>
          </a:p>
        </p:txBody>
      </p:sp>
      <p:sp>
        <p:nvSpPr>
          <p:cNvPr id="290" name="Segment chip">
            <a:extLst>
              <a:ext uri="{FF2B5EF4-FFF2-40B4-BE49-F238E27FC236}">
                <a16:creationId xmlns:a16="http://schemas.microsoft.com/office/drawing/2014/main" id="{8D340E3D-0023-495B-A71C-3D2B423C4BFF}"/>
              </a:ext>
            </a:extLst>
          </p:cNvPr>
          <p:cNvSpPr/>
          <p:nvPr/>
        </p:nvSpPr>
        <p:spPr>
          <a:xfrm>
            <a:off x="6492240" y="5760720"/>
            <a:ext cx="1261872" cy="246888"/>
          </a:xfrm>
          <a:prstGeom prst="roundRect">
            <a:avLst>
              <a:gd name="adj" fmla="val 19000"/>
            </a:avLst>
          </a:prstGeom>
          <a:solidFill>
            <a:srgbClr val="EAF1FA"/>
          </a:solidFill>
          <a:ln w="12700">
            <a:solidFill>
              <a:srgbClr val="2F6DB5"/>
            </a:solidFill>
          </a:ln>
        </p:spPr>
        <p:txBody>
          <a:bodyPr wrap="square" lIns="54864" tIns="18288" rIns="45720" bIns="18288" rtlCol="0" anchor="ctr"/>
          <a:lstStyle/>
          <a:p>
            <a:pPr algn="l"/>
            <a:r>
              <a:rPr sz="950" b="1" dirty="0">
                <a:solidFill>
                  <a:srgbClr val="222222"/>
                </a:solidFill>
                <a:latin typeface="+mj-ea"/>
                <a:ea typeface="+mj-ea"/>
              </a:rPr>
              <a:t>HBF · KV </a:t>
            </a:r>
            <a:r>
              <a:rPr sz="950" b="1" dirty="0" err="1">
                <a:solidFill>
                  <a:srgbClr val="222222"/>
                </a:solidFill>
                <a:latin typeface="+mj-ea"/>
                <a:ea typeface="+mj-ea"/>
              </a:rPr>
              <a:t>전용</a:t>
            </a:r>
            <a:r>
              <a:rPr sz="950" b="1" dirty="0">
                <a:solidFill>
                  <a:srgbClr val="222222"/>
                </a:solidFill>
                <a:latin typeface="+mj-ea"/>
                <a:ea typeface="+mj-ea"/>
              </a:rPr>
              <a:t> </a:t>
            </a:r>
            <a:r>
              <a:rPr sz="950" b="1" dirty="0" err="1">
                <a:solidFill>
                  <a:srgbClr val="222222"/>
                </a:solidFill>
                <a:latin typeface="+mj-ea"/>
                <a:ea typeface="+mj-ea"/>
              </a:rPr>
              <a:t>계층</a:t>
            </a:r>
            <a:endParaRPr sz="950" b="1" dirty="0">
              <a:solidFill>
                <a:srgbClr val="222222"/>
              </a:solidFill>
              <a:latin typeface="+mj-ea"/>
              <a:ea typeface="+mj-ea"/>
            </a:endParaRPr>
          </a:p>
        </p:txBody>
      </p:sp>
      <p:sp>
        <p:nvSpPr>
          <p:cNvPr id="291" name="TextBox 290">
            <a:extLst>
              <a:ext uri="{FF2B5EF4-FFF2-40B4-BE49-F238E27FC236}">
                <a16:creationId xmlns:a16="http://schemas.microsoft.com/office/drawing/2014/main" id="{B7C44A1C-DA37-4FAD-AC39-BDE1B9730229}"/>
              </a:ext>
            </a:extLst>
          </p:cNvPr>
          <p:cNvSpPr txBox="1"/>
          <p:nvPr/>
        </p:nvSpPr>
        <p:spPr>
          <a:xfrm>
            <a:off x="7818120" y="5760720"/>
            <a:ext cx="1417320" cy="246888"/>
          </a:xfrm>
          <a:prstGeom prst="rect">
            <a:avLst/>
          </a:prstGeom>
          <a:noFill/>
        </p:spPr>
        <p:txBody>
          <a:bodyPr wrap="square" lIns="0" tIns="0" rIns="0" bIns="0" anchor="ctr">
            <a:noAutofit/>
          </a:bodyPr>
          <a:lstStyle/>
          <a:p>
            <a:pPr algn="l">
              <a:lnSpc>
                <a:spcPct val="95000"/>
              </a:lnSpc>
            </a:pPr>
            <a:r>
              <a:rPr sz="850" b="0" dirty="0" err="1">
                <a:solidFill>
                  <a:srgbClr val="222222"/>
                </a:solidFill>
                <a:latin typeface="+mj-ea"/>
                <a:ea typeface="+mj-ea"/>
              </a:rPr>
              <a:t>HBM급</a:t>
            </a:r>
            <a:r>
              <a:rPr sz="850" b="0" dirty="0">
                <a:solidFill>
                  <a:srgbClr val="222222"/>
                </a:solidFill>
                <a:latin typeface="+mj-ea"/>
                <a:ea typeface="+mj-ea"/>
              </a:rPr>
              <a:t> </a:t>
            </a:r>
            <a:r>
              <a:rPr sz="850" b="0" dirty="0" err="1">
                <a:solidFill>
                  <a:srgbClr val="222222"/>
                </a:solidFill>
                <a:latin typeface="+mj-ea"/>
                <a:ea typeface="+mj-ea"/>
              </a:rPr>
              <a:t>읽기</a:t>
            </a:r>
            <a:r>
              <a:rPr sz="850" b="0" dirty="0">
                <a:solidFill>
                  <a:srgbClr val="222222"/>
                </a:solidFill>
                <a:latin typeface="+mj-ea"/>
                <a:ea typeface="+mj-ea"/>
              </a:rPr>
              <a:t> </a:t>
            </a:r>
            <a:r>
              <a:rPr sz="850" b="0" dirty="0" err="1">
                <a:solidFill>
                  <a:srgbClr val="222222"/>
                </a:solidFill>
                <a:latin typeface="+mj-ea"/>
                <a:ea typeface="+mj-ea"/>
              </a:rPr>
              <a:t>BW·용량</a:t>
            </a:r>
            <a:r>
              <a:rPr sz="850" b="0" dirty="0">
                <a:solidFill>
                  <a:srgbClr val="222222"/>
                </a:solidFill>
                <a:latin typeface="+mj-ea"/>
                <a:ea typeface="+mj-ea"/>
              </a:rPr>
              <a:t> ≈10×, SSD(CMX) </a:t>
            </a:r>
          </a:p>
        </p:txBody>
      </p:sp>
      <p:sp>
        <p:nvSpPr>
          <p:cNvPr id="292" name="TextBox 291">
            <a:extLst>
              <a:ext uri="{FF2B5EF4-FFF2-40B4-BE49-F238E27FC236}">
                <a16:creationId xmlns:a16="http://schemas.microsoft.com/office/drawing/2014/main" id="{B50A0650-1D9B-4BE5-9F2A-6FCFC51C43E5}"/>
              </a:ext>
            </a:extLst>
          </p:cNvPr>
          <p:cNvSpPr txBox="1"/>
          <p:nvPr/>
        </p:nvSpPr>
        <p:spPr>
          <a:xfrm>
            <a:off x="10515600" y="5751576"/>
            <a:ext cx="1115568" cy="265176"/>
          </a:xfrm>
          <a:prstGeom prst="rect">
            <a:avLst/>
          </a:prstGeom>
          <a:noFill/>
        </p:spPr>
        <p:txBody>
          <a:bodyPr wrap="square" lIns="0" tIns="0" rIns="0" bIns="0" anchor="ctr">
            <a:noAutofit/>
          </a:bodyPr>
          <a:lstStyle/>
          <a:p>
            <a:pPr algn="l">
              <a:lnSpc>
                <a:spcPct val="95000"/>
              </a:lnSpc>
            </a:pPr>
            <a:r>
              <a:rPr sz="900" b="1">
                <a:solidFill>
                  <a:srgbClr val="555555"/>
                </a:solidFill>
                <a:latin typeface="+mj-ea"/>
                <a:ea typeface="+mj-ea"/>
              </a:rPr>
              <a:t>공개 추정치 부재</a:t>
            </a:r>
          </a:p>
          <a:p>
            <a:pPr algn="l">
              <a:lnSpc>
                <a:spcPct val="95000"/>
              </a:lnSpc>
            </a:pPr>
            <a:r>
              <a:rPr sz="750" b="0">
                <a:solidFill>
                  <a:srgbClr val="555555"/>
                </a:solidFill>
                <a:latin typeface="+mj-ea"/>
                <a:ea typeface="+mj-ea"/>
              </a:rPr>
              <a:t>초기 시장</a:t>
            </a:r>
          </a:p>
        </p:txBody>
      </p:sp>
      <p:sp>
        <p:nvSpPr>
          <p:cNvPr id="293" name="TextBox 292">
            <a:extLst>
              <a:ext uri="{FF2B5EF4-FFF2-40B4-BE49-F238E27FC236}">
                <a16:creationId xmlns:a16="http://schemas.microsoft.com/office/drawing/2014/main" id="{EF822EB5-4849-4978-829A-149CBDB0DDEA}"/>
              </a:ext>
            </a:extLst>
          </p:cNvPr>
          <p:cNvSpPr txBox="1"/>
          <p:nvPr/>
        </p:nvSpPr>
        <p:spPr>
          <a:xfrm>
            <a:off x="9281160" y="5760720"/>
            <a:ext cx="1188720" cy="246888"/>
          </a:xfrm>
          <a:prstGeom prst="rect">
            <a:avLst/>
          </a:prstGeom>
          <a:noFill/>
        </p:spPr>
        <p:txBody>
          <a:bodyPr wrap="square" lIns="0" tIns="0" rIns="0" bIns="0" anchor="ctr">
            <a:noAutofit/>
          </a:bodyPr>
          <a:lstStyle/>
          <a:p>
            <a:pPr algn="l"/>
            <a:r>
              <a:rPr sz="900" b="0">
                <a:solidFill>
                  <a:srgbClr val="555555"/>
                </a:solidFill>
                <a:latin typeface="+mj-ea"/>
                <a:ea typeface="+mj-ea"/>
              </a:rPr>
              <a:t>—</a:t>
            </a:r>
          </a:p>
        </p:txBody>
      </p:sp>
      <p:sp>
        <p:nvSpPr>
          <p:cNvPr id="294" name="Text 99">
            <a:extLst>
              <a:ext uri="{FF2B5EF4-FFF2-40B4-BE49-F238E27FC236}">
                <a16:creationId xmlns:a16="http://schemas.microsoft.com/office/drawing/2014/main" id="{6BC63208-ADEC-4F19-B11C-A90016756407}"/>
              </a:ext>
            </a:extLst>
          </p:cNvPr>
          <p:cNvSpPr/>
          <p:nvPr/>
        </p:nvSpPr>
        <p:spPr>
          <a:xfrm>
            <a:off x="6130551" y="6235476"/>
            <a:ext cx="5862667" cy="454947"/>
          </a:xfrm>
          <a:prstGeom prst="rect">
            <a:avLst/>
          </a:prstGeom>
          <a:noFill/>
          <a:ln/>
        </p:spPr>
        <p:txBody>
          <a:bodyPr wrap="square" lIns="0" tIns="0" rIns="0" bIns="0" rtlCol="0" anchor="t">
            <a:noAutofit/>
          </a:bodyPr>
          <a:lstStyle/>
          <a:p>
            <a:pPr marL="0" indent="0" algn="l">
              <a:lnSpc>
                <a:spcPct val="125000"/>
              </a:lnSpc>
              <a:buNone/>
            </a:pPr>
            <a:r>
              <a:rPr lang="en-US" sz="600" dirty="0">
                <a:solidFill>
                  <a:srgbClr val="555555"/>
                </a:solidFill>
                <a:latin typeface="Noto Sans KR" pitchFamily="34" charset="0"/>
                <a:ea typeface="Noto Sans KR" pitchFamily="34" charset="-122"/>
                <a:cs typeface="Noto Sans KR" pitchFamily="34" charset="-120"/>
              </a:rPr>
              <a:t> [4] Micron(HBM TAM $16B ’24 · $35B ’25 · ≈$100B ’28E) [5] TrendForce(범용 DRAM 계약가 QoQ 전망: 1Q26 +90~95%, 2Q26 +58~63%, 3Q26E +13~18%, 4Q26E +10~15%; 누적 ≈4.0×는 구간 중앙값 곱) [6] SK hynix CES’26·Samsung OCP’26, Mordor Intelligence(CXL), Mobility Foresights(cHBM) [7] arXiv:2610.08378·2609.25782 [8] DRAMeXchange·TrendForce(DDR4 8Gb). 시장규모는 기관별 정의·범위가 달라 직접 비교 불가</a:t>
            </a:r>
            <a:endParaRPr lang="en-US" sz="600" dirty="0"/>
          </a:p>
        </p:txBody>
      </p:sp>
      <p:sp>
        <p:nvSpPr>
          <p:cNvPr id="354" name="모서리가 둥근 직사각형 116">
            <a:extLst>
              <a:ext uri="{FF2B5EF4-FFF2-40B4-BE49-F238E27FC236}">
                <a16:creationId xmlns:a16="http://schemas.microsoft.com/office/drawing/2014/main" id="{D9D1E32B-3E06-4207-A46B-A6558444A1BC}"/>
              </a:ext>
            </a:extLst>
          </p:cNvPr>
          <p:cNvSpPr/>
          <p:nvPr/>
        </p:nvSpPr>
        <p:spPr>
          <a:xfrm>
            <a:off x="386990" y="2184969"/>
            <a:ext cx="4960113" cy="1693012"/>
          </a:xfrm>
          <a:prstGeom prst="roundRect">
            <a:avLst>
              <a:gd name="adj" fmla="val 5842"/>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55" name="자유형 354"/>
          <p:cNvSpPr/>
          <p:nvPr/>
        </p:nvSpPr>
        <p:spPr>
          <a:xfrm rot="205096">
            <a:off x="972995" y="2676841"/>
            <a:ext cx="3979339" cy="692193"/>
          </a:xfrm>
          <a:custGeom>
            <a:avLst/>
            <a:gdLst>
              <a:gd name="connsiteX0" fmla="*/ 0 w 7688062"/>
              <a:gd name="connsiteY0" fmla="*/ 1510998 h 1510998"/>
              <a:gd name="connsiteX1" fmla="*/ 4403324 w 7688062"/>
              <a:gd name="connsiteY1" fmla="*/ 241491 h 1510998"/>
              <a:gd name="connsiteX2" fmla="*/ 7688062 w 7688062"/>
              <a:gd name="connsiteY2" fmla="*/ 1794 h 1510998"/>
            </a:gdLst>
            <a:ahLst/>
            <a:cxnLst>
              <a:cxn ang="0">
                <a:pos x="connsiteX0" y="connsiteY0"/>
              </a:cxn>
              <a:cxn ang="0">
                <a:pos x="connsiteX1" y="connsiteY1"/>
              </a:cxn>
              <a:cxn ang="0">
                <a:pos x="connsiteX2" y="connsiteY2"/>
              </a:cxn>
            </a:cxnLst>
            <a:rect l="l" t="t" r="r" b="b"/>
            <a:pathLst>
              <a:path w="7688062" h="1510998">
                <a:moveTo>
                  <a:pt x="0" y="1510998"/>
                </a:moveTo>
                <a:cubicBezTo>
                  <a:pt x="1560990" y="1002011"/>
                  <a:pt x="3121980" y="493025"/>
                  <a:pt x="4403324" y="241491"/>
                </a:cubicBezTo>
                <a:cubicBezTo>
                  <a:pt x="5684668" y="-10043"/>
                  <a:pt x="6686365" y="-4125"/>
                  <a:pt x="7688062" y="1794"/>
                </a:cubicBezTo>
              </a:path>
            </a:pathLst>
          </a:custGeom>
          <a:noFill/>
          <a:ln w="635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56" name="직사각형 355"/>
          <p:cNvSpPr/>
          <p:nvPr/>
        </p:nvSpPr>
        <p:spPr>
          <a:xfrm>
            <a:off x="3498060" y="3741519"/>
            <a:ext cx="1813978" cy="169277"/>
          </a:xfrm>
          <a:prstGeom prst="rect">
            <a:avLst/>
          </a:prstGeom>
        </p:spPr>
        <p:txBody>
          <a:bodyPr wrap="square">
            <a:spAutoFit/>
          </a:bodyPr>
          <a:lstStyle/>
          <a:p>
            <a:r>
              <a:rPr lang="en-US" altLang="ko-KR" sz="500" dirty="0"/>
              <a:t>DRAM </a:t>
            </a:r>
            <a:r>
              <a:rPr lang="ko-KR" altLang="en-US" sz="500" dirty="0"/>
              <a:t>및 </a:t>
            </a:r>
            <a:r>
              <a:rPr lang="en-US" altLang="ko-KR" sz="500" dirty="0"/>
              <a:t>NAND </a:t>
            </a:r>
            <a:r>
              <a:rPr lang="ko-KR" altLang="en-US" sz="500" dirty="0"/>
              <a:t>데이터 </a:t>
            </a:r>
            <a:r>
              <a:rPr lang="en-US" altLang="ko-KR" sz="500" dirty="0"/>
              <a:t>- Gartner Forecast </a:t>
            </a:r>
            <a:r>
              <a:rPr lang="ko-KR" altLang="en-US" sz="500" dirty="0"/>
              <a:t>문서 참고</a:t>
            </a:r>
          </a:p>
        </p:txBody>
      </p:sp>
      <p:cxnSp>
        <p:nvCxnSpPr>
          <p:cNvPr id="357" name="직선 연결선 356"/>
          <p:cNvCxnSpPr/>
          <p:nvPr/>
        </p:nvCxnSpPr>
        <p:spPr>
          <a:xfrm>
            <a:off x="715159" y="3088228"/>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8" name="직선 연결선 357"/>
          <p:cNvCxnSpPr/>
          <p:nvPr/>
        </p:nvCxnSpPr>
        <p:spPr>
          <a:xfrm>
            <a:off x="715159" y="3263493"/>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9" name="직선 연결선 358"/>
          <p:cNvCxnSpPr/>
          <p:nvPr/>
        </p:nvCxnSpPr>
        <p:spPr>
          <a:xfrm flipV="1">
            <a:off x="715159" y="3436301"/>
            <a:ext cx="4267092" cy="2456"/>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직선 연결선 359"/>
          <p:cNvCxnSpPr/>
          <p:nvPr/>
        </p:nvCxnSpPr>
        <p:spPr>
          <a:xfrm>
            <a:off x="715159" y="3614023"/>
            <a:ext cx="4267092" cy="0"/>
          </a:xfrm>
          <a:prstGeom prst="line">
            <a:avLst/>
          </a:prstGeom>
          <a:ln w="12700">
            <a:solidFill>
              <a:schemeClr val="tx1">
                <a:lumMod val="65000"/>
                <a:lumOff val="3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1" name="직선 연결선 360"/>
          <p:cNvCxnSpPr/>
          <p:nvPr/>
        </p:nvCxnSpPr>
        <p:spPr>
          <a:xfrm>
            <a:off x="744617" y="2471136"/>
            <a:ext cx="0" cy="1142887"/>
          </a:xfrm>
          <a:prstGeom prst="line">
            <a:avLst/>
          </a:prstGeom>
          <a:ln w="12700">
            <a:solidFill>
              <a:schemeClr val="tx1">
                <a:lumMod val="65000"/>
                <a:lumOff val="3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직선 연결선 361"/>
          <p:cNvCxnSpPr/>
          <p:nvPr/>
        </p:nvCxnSpPr>
        <p:spPr>
          <a:xfrm>
            <a:off x="1275315"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3" name="직선 연결선 362"/>
          <p:cNvCxnSpPr/>
          <p:nvPr/>
        </p:nvCxnSpPr>
        <p:spPr>
          <a:xfrm>
            <a:off x="1806042"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직선 연결선 363"/>
          <p:cNvCxnSpPr/>
          <p:nvPr/>
        </p:nvCxnSpPr>
        <p:spPr>
          <a:xfrm>
            <a:off x="2338255"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5" name="직선 연결선 364"/>
          <p:cNvCxnSpPr/>
          <p:nvPr/>
        </p:nvCxnSpPr>
        <p:spPr>
          <a:xfrm>
            <a:off x="2864813"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6" name="직선 연결선 365"/>
          <p:cNvCxnSpPr/>
          <p:nvPr/>
        </p:nvCxnSpPr>
        <p:spPr>
          <a:xfrm>
            <a:off x="3395977"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7" name="직선 연결선 366"/>
          <p:cNvCxnSpPr/>
          <p:nvPr/>
        </p:nvCxnSpPr>
        <p:spPr>
          <a:xfrm>
            <a:off x="3926051"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직선 연결선 367"/>
          <p:cNvCxnSpPr/>
          <p:nvPr/>
        </p:nvCxnSpPr>
        <p:spPr>
          <a:xfrm>
            <a:off x="4454110"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9" name="TextBox 368"/>
          <p:cNvSpPr txBox="1"/>
          <p:nvPr/>
        </p:nvSpPr>
        <p:spPr>
          <a:xfrm>
            <a:off x="877544" y="3602658"/>
            <a:ext cx="377302" cy="203878"/>
          </a:xfrm>
          <a:prstGeom prst="rect">
            <a:avLst/>
          </a:prstGeom>
          <a:noFill/>
        </p:spPr>
        <p:txBody>
          <a:bodyPr wrap="none" rtlCol="0">
            <a:spAutoFit/>
          </a:bodyPr>
          <a:lstStyle/>
          <a:p>
            <a:r>
              <a:rPr lang="en-US" altLang="ko-KR" sz="600" b="1" dirty="0"/>
              <a:t>2023</a:t>
            </a:r>
            <a:endParaRPr lang="ko-KR" altLang="en-US" sz="600" b="1" dirty="0"/>
          </a:p>
        </p:txBody>
      </p:sp>
      <p:sp>
        <p:nvSpPr>
          <p:cNvPr id="370" name="TextBox 369"/>
          <p:cNvSpPr txBox="1"/>
          <p:nvPr/>
        </p:nvSpPr>
        <p:spPr>
          <a:xfrm>
            <a:off x="1408257" y="3602658"/>
            <a:ext cx="377302" cy="203878"/>
          </a:xfrm>
          <a:prstGeom prst="rect">
            <a:avLst/>
          </a:prstGeom>
          <a:noFill/>
        </p:spPr>
        <p:txBody>
          <a:bodyPr wrap="none" rtlCol="0">
            <a:spAutoFit/>
          </a:bodyPr>
          <a:lstStyle/>
          <a:p>
            <a:r>
              <a:rPr lang="en-US" altLang="ko-KR" sz="600" b="1" dirty="0"/>
              <a:t>2024</a:t>
            </a:r>
            <a:endParaRPr lang="ko-KR" altLang="en-US" sz="600" b="1" dirty="0"/>
          </a:p>
        </p:txBody>
      </p:sp>
      <p:sp>
        <p:nvSpPr>
          <p:cNvPr id="371" name="TextBox 370"/>
          <p:cNvSpPr txBox="1"/>
          <p:nvPr/>
        </p:nvSpPr>
        <p:spPr>
          <a:xfrm>
            <a:off x="1939726" y="3602658"/>
            <a:ext cx="377302" cy="203878"/>
          </a:xfrm>
          <a:prstGeom prst="rect">
            <a:avLst/>
          </a:prstGeom>
          <a:noFill/>
        </p:spPr>
        <p:txBody>
          <a:bodyPr wrap="none" rtlCol="0">
            <a:spAutoFit/>
          </a:bodyPr>
          <a:lstStyle/>
          <a:p>
            <a:r>
              <a:rPr lang="en-US" altLang="ko-KR" sz="600" b="1" dirty="0"/>
              <a:t>2025</a:t>
            </a:r>
            <a:endParaRPr lang="ko-KR" altLang="en-US" sz="600" b="1" dirty="0"/>
          </a:p>
        </p:txBody>
      </p:sp>
      <p:sp>
        <p:nvSpPr>
          <p:cNvPr id="372" name="TextBox 371"/>
          <p:cNvSpPr txBox="1"/>
          <p:nvPr/>
        </p:nvSpPr>
        <p:spPr>
          <a:xfrm>
            <a:off x="2469112" y="3602658"/>
            <a:ext cx="377302" cy="203878"/>
          </a:xfrm>
          <a:prstGeom prst="rect">
            <a:avLst/>
          </a:prstGeom>
          <a:noFill/>
        </p:spPr>
        <p:txBody>
          <a:bodyPr wrap="none" rtlCol="0">
            <a:spAutoFit/>
          </a:bodyPr>
          <a:lstStyle/>
          <a:p>
            <a:r>
              <a:rPr lang="en-US" altLang="ko-KR" sz="600" b="1" dirty="0"/>
              <a:t>2026</a:t>
            </a:r>
            <a:endParaRPr lang="ko-KR" altLang="en-US" sz="600" b="1" dirty="0"/>
          </a:p>
        </p:txBody>
      </p:sp>
      <p:sp>
        <p:nvSpPr>
          <p:cNvPr id="373" name="TextBox 372"/>
          <p:cNvSpPr txBox="1"/>
          <p:nvPr/>
        </p:nvSpPr>
        <p:spPr>
          <a:xfrm>
            <a:off x="2997973" y="3602658"/>
            <a:ext cx="377302" cy="203878"/>
          </a:xfrm>
          <a:prstGeom prst="rect">
            <a:avLst/>
          </a:prstGeom>
          <a:noFill/>
        </p:spPr>
        <p:txBody>
          <a:bodyPr wrap="none" rtlCol="0">
            <a:spAutoFit/>
          </a:bodyPr>
          <a:lstStyle/>
          <a:p>
            <a:r>
              <a:rPr lang="en-US" altLang="ko-KR" sz="600" b="1" dirty="0"/>
              <a:t>2027</a:t>
            </a:r>
            <a:endParaRPr lang="ko-KR" altLang="en-US" sz="600" b="1" dirty="0"/>
          </a:p>
        </p:txBody>
      </p:sp>
      <p:sp>
        <p:nvSpPr>
          <p:cNvPr id="374" name="TextBox 373"/>
          <p:cNvSpPr txBox="1"/>
          <p:nvPr/>
        </p:nvSpPr>
        <p:spPr>
          <a:xfrm>
            <a:off x="3528847" y="3602658"/>
            <a:ext cx="377302" cy="203878"/>
          </a:xfrm>
          <a:prstGeom prst="rect">
            <a:avLst/>
          </a:prstGeom>
          <a:noFill/>
        </p:spPr>
        <p:txBody>
          <a:bodyPr wrap="none" rtlCol="0">
            <a:spAutoFit/>
          </a:bodyPr>
          <a:lstStyle/>
          <a:p>
            <a:r>
              <a:rPr lang="en-US" altLang="ko-KR" sz="600" b="1" dirty="0"/>
              <a:t>2028</a:t>
            </a:r>
            <a:endParaRPr lang="ko-KR" altLang="en-US" sz="600" b="1" dirty="0"/>
          </a:p>
        </p:txBody>
      </p:sp>
      <p:sp>
        <p:nvSpPr>
          <p:cNvPr id="375" name="TextBox 374"/>
          <p:cNvSpPr txBox="1"/>
          <p:nvPr/>
        </p:nvSpPr>
        <p:spPr>
          <a:xfrm>
            <a:off x="4057658" y="3602658"/>
            <a:ext cx="377302" cy="203878"/>
          </a:xfrm>
          <a:prstGeom prst="rect">
            <a:avLst/>
          </a:prstGeom>
          <a:noFill/>
        </p:spPr>
        <p:txBody>
          <a:bodyPr wrap="none" rtlCol="0">
            <a:spAutoFit/>
          </a:bodyPr>
          <a:lstStyle/>
          <a:p>
            <a:r>
              <a:rPr lang="en-US" altLang="ko-KR" sz="600" b="1" dirty="0"/>
              <a:t>2029</a:t>
            </a:r>
            <a:endParaRPr lang="ko-KR" altLang="en-US" sz="600" b="1" dirty="0"/>
          </a:p>
        </p:txBody>
      </p:sp>
      <p:sp>
        <p:nvSpPr>
          <p:cNvPr id="376" name="TextBox 375"/>
          <p:cNvSpPr txBox="1"/>
          <p:nvPr/>
        </p:nvSpPr>
        <p:spPr>
          <a:xfrm>
            <a:off x="4587168" y="3602658"/>
            <a:ext cx="377302" cy="203878"/>
          </a:xfrm>
          <a:prstGeom prst="rect">
            <a:avLst/>
          </a:prstGeom>
          <a:noFill/>
        </p:spPr>
        <p:txBody>
          <a:bodyPr wrap="none" rtlCol="0">
            <a:spAutoFit/>
          </a:bodyPr>
          <a:lstStyle/>
          <a:p>
            <a:r>
              <a:rPr lang="en-US" altLang="ko-KR" sz="600" b="1" dirty="0"/>
              <a:t>2030</a:t>
            </a:r>
            <a:endParaRPr lang="ko-KR" altLang="en-US" sz="600" b="1" dirty="0"/>
          </a:p>
        </p:txBody>
      </p:sp>
      <p:sp>
        <p:nvSpPr>
          <p:cNvPr id="377" name="TextBox 376"/>
          <p:cNvSpPr txBox="1"/>
          <p:nvPr/>
        </p:nvSpPr>
        <p:spPr>
          <a:xfrm flipV="1">
            <a:off x="354494" y="2792336"/>
            <a:ext cx="276999" cy="555600"/>
          </a:xfrm>
          <a:prstGeom prst="rect">
            <a:avLst/>
          </a:prstGeom>
          <a:noFill/>
        </p:spPr>
        <p:txBody>
          <a:bodyPr vert="eaVert" wrap="none" rtlCol="0">
            <a:spAutoFit/>
          </a:bodyPr>
          <a:lstStyle/>
          <a:p>
            <a:r>
              <a:rPr lang="en-US" altLang="ko-KR" sz="600" dirty="0" err="1">
                <a:solidFill>
                  <a:schemeClr val="accent1">
                    <a:lumMod val="75000"/>
                  </a:schemeClr>
                </a:solidFill>
              </a:rPr>
              <a:t>Exabytes</a:t>
            </a:r>
            <a:r>
              <a:rPr lang="en-US" altLang="ko-KR" sz="600" dirty="0">
                <a:solidFill>
                  <a:schemeClr val="accent1">
                    <a:lumMod val="75000"/>
                  </a:schemeClr>
                </a:solidFill>
              </a:rPr>
              <a:t> (EB)</a:t>
            </a:r>
            <a:endParaRPr lang="ko-KR" altLang="en-US" sz="600" dirty="0">
              <a:solidFill>
                <a:schemeClr val="accent1">
                  <a:lumMod val="75000"/>
                </a:schemeClr>
              </a:solidFill>
            </a:endParaRPr>
          </a:p>
        </p:txBody>
      </p:sp>
      <p:sp>
        <p:nvSpPr>
          <p:cNvPr id="378" name="TextBox 377"/>
          <p:cNvSpPr txBox="1"/>
          <p:nvPr/>
        </p:nvSpPr>
        <p:spPr>
          <a:xfrm>
            <a:off x="431432" y="2504990"/>
            <a:ext cx="320839" cy="203878"/>
          </a:xfrm>
          <a:prstGeom prst="rect">
            <a:avLst/>
          </a:prstGeom>
          <a:noFill/>
        </p:spPr>
        <p:txBody>
          <a:bodyPr wrap="none" rtlCol="0">
            <a:spAutoFit/>
          </a:bodyPr>
          <a:lstStyle/>
          <a:p>
            <a:pPr algn="r"/>
            <a:r>
              <a:rPr lang="en-US" altLang="ko-KR" sz="600" dirty="0">
                <a:solidFill>
                  <a:schemeClr val="accent1">
                    <a:lumMod val="75000"/>
                  </a:schemeClr>
                </a:solidFill>
              </a:rPr>
              <a:t>120</a:t>
            </a:r>
            <a:endParaRPr lang="ko-KR" altLang="en-US" sz="600" dirty="0">
              <a:solidFill>
                <a:schemeClr val="accent1">
                  <a:lumMod val="75000"/>
                </a:schemeClr>
              </a:solidFill>
            </a:endParaRPr>
          </a:p>
        </p:txBody>
      </p:sp>
      <p:sp>
        <p:nvSpPr>
          <p:cNvPr id="379" name="TextBox 378"/>
          <p:cNvSpPr txBox="1"/>
          <p:nvPr/>
        </p:nvSpPr>
        <p:spPr>
          <a:xfrm>
            <a:off x="431432" y="2686591"/>
            <a:ext cx="320839" cy="203878"/>
          </a:xfrm>
          <a:prstGeom prst="rect">
            <a:avLst/>
          </a:prstGeom>
          <a:noFill/>
        </p:spPr>
        <p:txBody>
          <a:bodyPr wrap="none" rtlCol="0">
            <a:spAutoFit/>
          </a:bodyPr>
          <a:lstStyle/>
          <a:p>
            <a:pPr algn="r"/>
            <a:r>
              <a:rPr lang="en-US" altLang="ko-KR" sz="600" dirty="0">
                <a:solidFill>
                  <a:schemeClr val="accent1">
                    <a:lumMod val="75000"/>
                  </a:schemeClr>
                </a:solidFill>
              </a:rPr>
              <a:t>100</a:t>
            </a:r>
            <a:endParaRPr lang="ko-KR" altLang="en-US" sz="600" dirty="0">
              <a:solidFill>
                <a:schemeClr val="accent1">
                  <a:lumMod val="75000"/>
                </a:schemeClr>
              </a:solidFill>
            </a:endParaRPr>
          </a:p>
        </p:txBody>
      </p:sp>
      <p:sp>
        <p:nvSpPr>
          <p:cNvPr id="380" name="TextBox 379"/>
          <p:cNvSpPr txBox="1"/>
          <p:nvPr/>
        </p:nvSpPr>
        <p:spPr>
          <a:xfrm>
            <a:off x="474609" y="2860090"/>
            <a:ext cx="277662" cy="203878"/>
          </a:xfrm>
          <a:prstGeom prst="rect">
            <a:avLst/>
          </a:prstGeom>
          <a:noFill/>
        </p:spPr>
        <p:txBody>
          <a:bodyPr wrap="none" rtlCol="0">
            <a:spAutoFit/>
          </a:bodyPr>
          <a:lstStyle/>
          <a:p>
            <a:pPr algn="r"/>
            <a:r>
              <a:rPr lang="en-US" altLang="ko-KR" sz="600" dirty="0">
                <a:solidFill>
                  <a:schemeClr val="accent1">
                    <a:lumMod val="75000"/>
                  </a:schemeClr>
                </a:solidFill>
              </a:rPr>
              <a:t>80</a:t>
            </a:r>
            <a:endParaRPr lang="ko-KR" altLang="en-US" sz="600" dirty="0">
              <a:solidFill>
                <a:schemeClr val="accent1">
                  <a:lumMod val="75000"/>
                </a:schemeClr>
              </a:solidFill>
            </a:endParaRPr>
          </a:p>
        </p:txBody>
      </p:sp>
      <p:sp>
        <p:nvSpPr>
          <p:cNvPr id="381" name="TextBox 380"/>
          <p:cNvSpPr txBox="1"/>
          <p:nvPr/>
        </p:nvSpPr>
        <p:spPr>
          <a:xfrm>
            <a:off x="474608" y="3033590"/>
            <a:ext cx="277662" cy="203878"/>
          </a:xfrm>
          <a:prstGeom prst="rect">
            <a:avLst/>
          </a:prstGeom>
          <a:noFill/>
        </p:spPr>
        <p:txBody>
          <a:bodyPr wrap="none" rtlCol="0">
            <a:spAutoFit/>
          </a:bodyPr>
          <a:lstStyle/>
          <a:p>
            <a:pPr algn="r"/>
            <a:r>
              <a:rPr lang="en-US" altLang="ko-KR" sz="600" dirty="0">
                <a:solidFill>
                  <a:schemeClr val="accent1">
                    <a:lumMod val="75000"/>
                  </a:schemeClr>
                </a:solidFill>
              </a:rPr>
              <a:t>60</a:t>
            </a:r>
            <a:endParaRPr lang="ko-KR" altLang="en-US" sz="600" dirty="0">
              <a:solidFill>
                <a:schemeClr val="accent1">
                  <a:lumMod val="75000"/>
                </a:schemeClr>
              </a:solidFill>
            </a:endParaRPr>
          </a:p>
        </p:txBody>
      </p:sp>
      <p:sp>
        <p:nvSpPr>
          <p:cNvPr id="382" name="TextBox 381"/>
          <p:cNvSpPr txBox="1"/>
          <p:nvPr/>
        </p:nvSpPr>
        <p:spPr>
          <a:xfrm>
            <a:off x="474609" y="3210621"/>
            <a:ext cx="277662" cy="203878"/>
          </a:xfrm>
          <a:prstGeom prst="rect">
            <a:avLst/>
          </a:prstGeom>
          <a:noFill/>
        </p:spPr>
        <p:txBody>
          <a:bodyPr wrap="none" rtlCol="0">
            <a:spAutoFit/>
          </a:bodyPr>
          <a:lstStyle/>
          <a:p>
            <a:pPr algn="r"/>
            <a:r>
              <a:rPr lang="en-US" altLang="ko-KR" sz="600" dirty="0">
                <a:solidFill>
                  <a:schemeClr val="accent1">
                    <a:lumMod val="75000"/>
                  </a:schemeClr>
                </a:solidFill>
              </a:rPr>
              <a:t>40</a:t>
            </a:r>
            <a:endParaRPr lang="ko-KR" altLang="en-US" sz="600" dirty="0">
              <a:solidFill>
                <a:schemeClr val="accent1">
                  <a:lumMod val="75000"/>
                </a:schemeClr>
              </a:solidFill>
            </a:endParaRPr>
          </a:p>
        </p:txBody>
      </p:sp>
      <p:sp>
        <p:nvSpPr>
          <p:cNvPr id="383" name="TextBox 382"/>
          <p:cNvSpPr txBox="1"/>
          <p:nvPr/>
        </p:nvSpPr>
        <p:spPr>
          <a:xfrm>
            <a:off x="474609" y="3387674"/>
            <a:ext cx="277662" cy="203878"/>
          </a:xfrm>
          <a:prstGeom prst="rect">
            <a:avLst/>
          </a:prstGeom>
          <a:noFill/>
        </p:spPr>
        <p:txBody>
          <a:bodyPr wrap="none" rtlCol="0">
            <a:spAutoFit/>
          </a:bodyPr>
          <a:lstStyle/>
          <a:p>
            <a:pPr algn="r"/>
            <a:r>
              <a:rPr lang="en-US" altLang="ko-KR" sz="600" dirty="0">
                <a:solidFill>
                  <a:schemeClr val="accent1">
                    <a:lumMod val="75000"/>
                  </a:schemeClr>
                </a:solidFill>
              </a:rPr>
              <a:t>20</a:t>
            </a:r>
            <a:endParaRPr lang="ko-KR" altLang="en-US" sz="600" dirty="0">
              <a:solidFill>
                <a:schemeClr val="accent1">
                  <a:lumMod val="75000"/>
                </a:schemeClr>
              </a:solidFill>
            </a:endParaRPr>
          </a:p>
        </p:txBody>
      </p:sp>
      <p:sp>
        <p:nvSpPr>
          <p:cNvPr id="384" name="직사각형 383"/>
          <p:cNvSpPr/>
          <p:nvPr/>
        </p:nvSpPr>
        <p:spPr>
          <a:xfrm>
            <a:off x="817985" y="3366179"/>
            <a:ext cx="189662" cy="2478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85" name="직사각형 384"/>
          <p:cNvSpPr/>
          <p:nvPr/>
        </p:nvSpPr>
        <p:spPr>
          <a:xfrm>
            <a:off x="1012286" y="3217471"/>
            <a:ext cx="189662" cy="396553"/>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86" name="직사각형 385"/>
          <p:cNvSpPr/>
          <p:nvPr/>
        </p:nvSpPr>
        <p:spPr>
          <a:xfrm>
            <a:off x="1348683" y="3346543"/>
            <a:ext cx="189662" cy="2674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87" name="직사각형 386"/>
          <p:cNvSpPr/>
          <p:nvPr/>
        </p:nvSpPr>
        <p:spPr>
          <a:xfrm>
            <a:off x="1543013" y="3192732"/>
            <a:ext cx="189662" cy="42129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88" name="직사각형 387"/>
          <p:cNvSpPr/>
          <p:nvPr/>
        </p:nvSpPr>
        <p:spPr>
          <a:xfrm>
            <a:off x="1879410" y="3275637"/>
            <a:ext cx="189662" cy="33838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89" name="직사각형 388"/>
          <p:cNvSpPr/>
          <p:nvPr/>
        </p:nvSpPr>
        <p:spPr>
          <a:xfrm>
            <a:off x="2075225" y="3137220"/>
            <a:ext cx="189662" cy="476802"/>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0" name="직사각형 389"/>
          <p:cNvSpPr/>
          <p:nvPr/>
        </p:nvSpPr>
        <p:spPr>
          <a:xfrm>
            <a:off x="2411623" y="3230549"/>
            <a:ext cx="189662" cy="38347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1" name="직사각형 390"/>
          <p:cNvSpPr/>
          <p:nvPr/>
        </p:nvSpPr>
        <p:spPr>
          <a:xfrm>
            <a:off x="2601784" y="3058242"/>
            <a:ext cx="189662" cy="55578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2" name="직사각형 391"/>
          <p:cNvSpPr/>
          <p:nvPr/>
        </p:nvSpPr>
        <p:spPr>
          <a:xfrm>
            <a:off x="2938181" y="3175955"/>
            <a:ext cx="189662" cy="43806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3" name="직사각형 392"/>
          <p:cNvSpPr/>
          <p:nvPr/>
        </p:nvSpPr>
        <p:spPr>
          <a:xfrm>
            <a:off x="3132948" y="3016013"/>
            <a:ext cx="189662" cy="59801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4" name="직사각형 393"/>
          <p:cNvSpPr/>
          <p:nvPr/>
        </p:nvSpPr>
        <p:spPr>
          <a:xfrm>
            <a:off x="3469600" y="3115645"/>
            <a:ext cx="189662" cy="49837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5" name="직사각형 394"/>
          <p:cNvSpPr/>
          <p:nvPr/>
        </p:nvSpPr>
        <p:spPr>
          <a:xfrm>
            <a:off x="3663276" y="2987763"/>
            <a:ext cx="189662" cy="62626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6" name="직사각형 395"/>
          <p:cNvSpPr/>
          <p:nvPr/>
        </p:nvSpPr>
        <p:spPr>
          <a:xfrm>
            <a:off x="3999418" y="3075097"/>
            <a:ext cx="189662" cy="53892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7" name="직사각형 396"/>
          <p:cNvSpPr/>
          <p:nvPr/>
        </p:nvSpPr>
        <p:spPr>
          <a:xfrm>
            <a:off x="4191080" y="2892811"/>
            <a:ext cx="189662" cy="72121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8" name="직사각형 397"/>
          <p:cNvSpPr/>
          <p:nvPr/>
        </p:nvSpPr>
        <p:spPr>
          <a:xfrm>
            <a:off x="4527477" y="3037143"/>
            <a:ext cx="189662" cy="5768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9" name="직사각형 398"/>
          <p:cNvSpPr/>
          <p:nvPr/>
        </p:nvSpPr>
        <p:spPr>
          <a:xfrm>
            <a:off x="4722042" y="2864665"/>
            <a:ext cx="189663" cy="74935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cxnSp>
        <p:nvCxnSpPr>
          <p:cNvPr id="400" name="직선 화살표 연결선 399"/>
          <p:cNvCxnSpPr/>
          <p:nvPr/>
        </p:nvCxnSpPr>
        <p:spPr>
          <a:xfrm flipH="1">
            <a:off x="744191" y="3408658"/>
            <a:ext cx="13220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1" name="직선 연결선 400"/>
          <p:cNvCxnSpPr/>
          <p:nvPr/>
        </p:nvCxnSpPr>
        <p:spPr>
          <a:xfrm>
            <a:off x="4985071" y="2471136"/>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2" name="TextBox 401"/>
          <p:cNvSpPr txBox="1"/>
          <p:nvPr/>
        </p:nvSpPr>
        <p:spPr>
          <a:xfrm>
            <a:off x="4959147" y="2861873"/>
            <a:ext cx="295930" cy="203878"/>
          </a:xfrm>
          <a:prstGeom prst="rect">
            <a:avLst/>
          </a:prstGeom>
          <a:noFill/>
        </p:spPr>
        <p:txBody>
          <a:bodyPr wrap="none" rtlCol="0">
            <a:spAutoFit/>
          </a:bodyPr>
          <a:lstStyle/>
          <a:p>
            <a:r>
              <a:rPr lang="en-US" altLang="ko-KR" sz="600" dirty="0">
                <a:solidFill>
                  <a:schemeClr val="accent6">
                    <a:lumMod val="75000"/>
                  </a:schemeClr>
                </a:solidFill>
              </a:rPr>
              <a:t>1.6</a:t>
            </a:r>
            <a:endParaRPr lang="ko-KR" altLang="en-US" sz="600" dirty="0">
              <a:solidFill>
                <a:schemeClr val="accent6">
                  <a:lumMod val="75000"/>
                </a:schemeClr>
              </a:solidFill>
            </a:endParaRPr>
          </a:p>
        </p:txBody>
      </p:sp>
      <p:sp>
        <p:nvSpPr>
          <p:cNvPr id="403" name="TextBox 402"/>
          <p:cNvSpPr txBox="1"/>
          <p:nvPr/>
        </p:nvSpPr>
        <p:spPr>
          <a:xfrm>
            <a:off x="4959147" y="3031475"/>
            <a:ext cx="295930" cy="203878"/>
          </a:xfrm>
          <a:prstGeom prst="rect">
            <a:avLst/>
          </a:prstGeom>
          <a:noFill/>
        </p:spPr>
        <p:txBody>
          <a:bodyPr wrap="none" rtlCol="0">
            <a:spAutoFit/>
          </a:bodyPr>
          <a:lstStyle/>
          <a:p>
            <a:r>
              <a:rPr lang="en-US" altLang="ko-KR" sz="600" dirty="0">
                <a:solidFill>
                  <a:schemeClr val="accent6">
                    <a:lumMod val="75000"/>
                  </a:schemeClr>
                </a:solidFill>
              </a:rPr>
              <a:t>1.2</a:t>
            </a:r>
            <a:endParaRPr lang="ko-KR" altLang="en-US" sz="600" dirty="0">
              <a:solidFill>
                <a:schemeClr val="accent6">
                  <a:lumMod val="75000"/>
                </a:schemeClr>
              </a:solidFill>
            </a:endParaRPr>
          </a:p>
        </p:txBody>
      </p:sp>
      <p:sp>
        <p:nvSpPr>
          <p:cNvPr id="404" name="TextBox 403"/>
          <p:cNvSpPr txBox="1"/>
          <p:nvPr/>
        </p:nvSpPr>
        <p:spPr>
          <a:xfrm>
            <a:off x="4959147" y="3209715"/>
            <a:ext cx="295930" cy="203878"/>
          </a:xfrm>
          <a:prstGeom prst="rect">
            <a:avLst/>
          </a:prstGeom>
          <a:noFill/>
        </p:spPr>
        <p:txBody>
          <a:bodyPr wrap="none" rtlCol="0">
            <a:spAutoFit/>
          </a:bodyPr>
          <a:lstStyle/>
          <a:p>
            <a:r>
              <a:rPr lang="en-US" altLang="ko-KR" sz="600" dirty="0">
                <a:solidFill>
                  <a:schemeClr val="accent6">
                    <a:lumMod val="75000"/>
                  </a:schemeClr>
                </a:solidFill>
              </a:rPr>
              <a:t>0.8</a:t>
            </a:r>
            <a:endParaRPr lang="ko-KR" altLang="en-US" sz="600" dirty="0">
              <a:solidFill>
                <a:schemeClr val="accent6">
                  <a:lumMod val="75000"/>
                </a:schemeClr>
              </a:solidFill>
            </a:endParaRPr>
          </a:p>
        </p:txBody>
      </p:sp>
      <p:sp>
        <p:nvSpPr>
          <p:cNvPr id="405" name="TextBox 404"/>
          <p:cNvSpPr txBox="1"/>
          <p:nvPr/>
        </p:nvSpPr>
        <p:spPr>
          <a:xfrm>
            <a:off x="4959147" y="3383428"/>
            <a:ext cx="295930" cy="203878"/>
          </a:xfrm>
          <a:prstGeom prst="rect">
            <a:avLst/>
          </a:prstGeom>
          <a:noFill/>
        </p:spPr>
        <p:txBody>
          <a:bodyPr wrap="none" rtlCol="0">
            <a:spAutoFit/>
          </a:bodyPr>
          <a:lstStyle/>
          <a:p>
            <a:r>
              <a:rPr lang="en-US" altLang="ko-KR" sz="600" dirty="0">
                <a:solidFill>
                  <a:schemeClr val="accent6">
                    <a:lumMod val="75000"/>
                  </a:schemeClr>
                </a:solidFill>
              </a:rPr>
              <a:t>0.4</a:t>
            </a:r>
            <a:endParaRPr lang="ko-KR" altLang="en-US" sz="600" dirty="0">
              <a:solidFill>
                <a:schemeClr val="accent6">
                  <a:lumMod val="75000"/>
                </a:schemeClr>
              </a:solidFill>
            </a:endParaRPr>
          </a:p>
        </p:txBody>
      </p:sp>
      <p:sp>
        <p:nvSpPr>
          <p:cNvPr id="406" name="TextBox 405"/>
          <p:cNvSpPr txBox="1"/>
          <p:nvPr/>
        </p:nvSpPr>
        <p:spPr>
          <a:xfrm>
            <a:off x="5111050" y="2762030"/>
            <a:ext cx="276999" cy="626133"/>
          </a:xfrm>
          <a:prstGeom prst="rect">
            <a:avLst/>
          </a:prstGeom>
          <a:noFill/>
        </p:spPr>
        <p:txBody>
          <a:bodyPr vert="eaVert" wrap="none" rtlCol="0">
            <a:spAutoFit/>
          </a:bodyPr>
          <a:lstStyle/>
          <a:p>
            <a:r>
              <a:rPr lang="en-US" altLang="ko-KR" sz="600" dirty="0">
                <a:solidFill>
                  <a:schemeClr val="accent6">
                    <a:lumMod val="75000"/>
                  </a:schemeClr>
                </a:solidFill>
              </a:rPr>
              <a:t>Zettabytes (ZB)</a:t>
            </a:r>
            <a:endParaRPr lang="ko-KR" altLang="en-US" sz="600" dirty="0">
              <a:solidFill>
                <a:schemeClr val="accent6">
                  <a:lumMod val="75000"/>
                </a:schemeClr>
              </a:solidFill>
            </a:endParaRPr>
          </a:p>
        </p:txBody>
      </p:sp>
      <p:cxnSp>
        <p:nvCxnSpPr>
          <p:cNvPr id="407" name="직선 연결선 406"/>
          <p:cNvCxnSpPr/>
          <p:nvPr/>
        </p:nvCxnSpPr>
        <p:spPr>
          <a:xfrm>
            <a:off x="715159" y="2562435"/>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직선 연결선 407"/>
          <p:cNvCxnSpPr/>
          <p:nvPr/>
        </p:nvCxnSpPr>
        <p:spPr>
          <a:xfrm>
            <a:off x="715159" y="2737699"/>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9" name="직선 연결선 408"/>
          <p:cNvCxnSpPr/>
          <p:nvPr/>
        </p:nvCxnSpPr>
        <p:spPr>
          <a:xfrm>
            <a:off x="715159" y="2912964"/>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0" name="타원 409"/>
          <p:cNvSpPr/>
          <p:nvPr/>
        </p:nvSpPr>
        <p:spPr>
          <a:xfrm flipH="1">
            <a:off x="991333" y="2873536"/>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1" name="타원 410"/>
          <p:cNvSpPr/>
          <p:nvPr/>
        </p:nvSpPr>
        <p:spPr>
          <a:xfrm flipH="1">
            <a:off x="1522045" y="2869125"/>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2" name="타원 411"/>
          <p:cNvSpPr/>
          <p:nvPr/>
        </p:nvSpPr>
        <p:spPr>
          <a:xfrm flipH="1">
            <a:off x="2582651" y="2748411"/>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3" name="타원 412"/>
          <p:cNvSpPr/>
          <p:nvPr/>
        </p:nvSpPr>
        <p:spPr>
          <a:xfrm flipH="1">
            <a:off x="3111762" y="2683733"/>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4" name="타원 413"/>
          <p:cNvSpPr/>
          <p:nvPr/>
        </p:nvSpPr>
        <p:spPr>
          <a:xfrm flipH="1">
            <a:off x="3642635" y="2615030"/>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5" name="타원 414"/>
          <p:cNvSpPr/>
          <p:nvPr/>
        </p:nvSpPr>
        <p:spPr>
          <a:xfrm flipH="1">
            <a:off x="4171446" y="2519151"/>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16" name="타원 415"/>
          <p:cNvSpPr/>
          <p:nvPr/>
        </p:nvSpPr>
        <p:spPr>
          <a:xfrm flipH="1">
            <a:off x="4700957" y="2460179"/>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cxnSp>
        <p:nvCxnSpPr>
          <p:cNvPr id="417" name="직선 연결선 416"/>
          <p:cNvCxnSpPr/>
          <p:nvPr/>
        </p:nvCxnSpPr>
        <p:spPr>
          <a:xfrm flipV="1">
            <a:off x="1028600" y="2888400"/>
            <a:ext cx="493445" cy="4412"/>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8" name="직선 연결선 417"/>
          <p:cNvCxnSpPr/>
          <p:nvPr/>
        </p:nvCxnSpPr>
        <p:spPr>
          <a:xfrm flipV="1">
            <a:off x="1559312" y="2845241"/>
            <a:ext cx="494203" cy="43159"/>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9" name="직선 연결선 418"/>
          <p:cNvCxnSpPr/>
          <p:nvPr/>
        </p:nvCxnSpPr>
        <p:spPr>
          <a:xfrm flipV="1">
            <a:off x="3149029" y="2634306"/>
            <a:ext cx="493606" cy="68703"/>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0" name="직선 연결선 419"/>
          <p:cNvCxnSpPr/>
          <p:nvPr/>
        </p:nvCxnSpPr>
        <p:spPr>
          <a:xfrm flipV="1">
            <a:off x="2619918" y="2703008"/>
            <a:ext cx="491843" cy="64678"/>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1" name="직선 연결선 420"/>
          <p:cNvCxnSpPr/>
          <p:nvPr/>
        </p:nvCxnSpPr>
        <p:spPr>
          <a:xfrm flipV="1">
            <a:off x="2090782" y="2767686"/>
            <a:ext cx="491869" cy="77555"/>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2" name="직선 연결선 421"/>
          <p:cNvCxnSpPr/>
          <p:nvPr/>
        </p:nvCxnSpPr>
        <p:spPr>
          <a:xfrm flipV="1">
            <a:off x="4208714" y="2479454"/>
            <a:ext cx="492244" cy="58972"/>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3" name="직선 연결선 422"/>
          <p:cNvCxnSpPr/>
          <p:nvPr/>
        </p:nvCxnSpPr>
        <p:spPr>
          <a:xfrm flipV="1">
            <a:off x="3679903" y="2538426"/>
            <a:ext cx="491544" cy="95880"/>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4" name="TextBox 423"/>
          <p:cNvSpPr txBox="1"/>
          <p:nvPr/>
        </p:nvSpPr>
        <p:spPr>
          <a:xfrm>
            <a:off x="846714" y="2701267"/>
            <a:ext cx="574921" cy="237858"/>
          </a:xfrm>
          <a:prstGeom prst="rect">
            <a:avLst/>
          </a:prstGeom>
          <a:noFill/>
        </p:spPr>
        <p:txBody>
          <a:bodyPr wrap="none" rtlCol="0">
            <a:spAutoFit/>
          </a:bodyPr>
          <a:lstStyle/>
          <a:p>
            <a:r>
              <a:rPr lang="en-US" altLang="ko-KR" sz="800" b="1" dirty="0">
                <a:solidFill>
                  <a:srgbClr val="7030A0"/>
                </a:solidFill>
              </a:rPr>
              <a:t>0.51 ZB</a:t>
            </a:r>
            <a:endParaRPr lang="ko-KR" altLang="en-US" sz="800" b="1" dirty="0">
              <a:solidFill>
                <a:srgbClr val="7030A0"/>
              </a:solidFill>
            </a:endParaRPr>
          </a:p>
        </p:txBody>
      </p:sp>
      <p:sp>
        <p:nvSpPr>
          <p:cNvPr id="425" name="TextBox 424"/>
          <p:cNvSpPr txBox="1"/>
          <p:nvPr/>
        </p:nvSpPr>
        <p:spPr>
          <a:xfrm>
            <a:off x="1364687" y="2695873"/>
            <a:ext cx="574921" cy="237858"/>
          </a:xfrm>
          <a:prstGeom prst="rect">
            <a:avLst/>
          </a:prstGeom>
          <a:noFill/>
        </p:spPr>
        <p:txBody>
          <a:bodyPr wrap="none" rtlCol="0">
            <a:spAutoFit/>
          </a:bodyPr>
          <a:lstStyle/>
          <a:p>
            <a:r>
              <a:rPr lang="en-US" altLang="ko-KR" sz="800" b="1" dirty="0">
                <a:solidFill>
                  <a:srgbClr val="7030A0"/>
                </a:solidFill>
              </a:rPr>
              <a:t>1.28 ZB</a:t>
            </a:r>
            <a:endParaRPr lang="ko-KR" altLang="en-US" sz="800" b="1" dirty="0">
              <a:solidFill>
                <a:srgbClr val="7030A0"/>
              </a:solidFill>
            </a:endParaRPr>
          </a:p>
        </p:txBody>
      </p:sp>
      <p:sp>
        <p:nvSpPr>
          <p:cNvPr id="426" name="TextBox 425"/>
          <p:cNvSpPr txBox="1"/>
          <p:nvPr/>
        </p:nvSpPr>
        <p:spPr>
          <a:xfrm>
            <a:off x="1922294" y="2642586"/>
            <a:ext cx="513477" cy="237858"/>
          </a:xfrm>
          <a:prstGeom prst="rect">
            <a:avLst/>
          </a:prstGeom>
          <a:noFill/>
        </p:spPr>
        <p:txBody>
          <a:bodyPr wrap="none" rtlCol="0">
            <a:spAutoFit/>
          </a:bodyPr>
          <a:lstStyle/>
          <a:p>
            <a:r>
              <a:rPr lang="en-US" altLang="ko-KR" sz="800" b="1" dirty="0">
                <a:solidFill>
                  <a:srgbClr val="7030A0"/>
                </a:solidFill>
              </a:rPr>
              <a:t>3.2 ZB</a:t>
            </a:r>
            <a:endParaRPr lang="ko-KR" altLang="en-US" sz="800" b="1" dirty="0">
              <a:solidFill>
                <a:srgbClr val="7030A0"/>
              </a:solidFill>
            </a:endParaRPr>
          </a:p>
        </p:txBody>
      </p:sp>
      <p:sp>
        <p:nvSpPr>
          <p:cNvPr id="427" name="TextBox 426"/>
          <p:cNvSpPr txBox="1"/>
          <p:nvPr/>
        </p:nvSpPr>
        <p:spPr>
          <a:xfrm>
            <a:off x="2989309" y="2501741"/>
            <a:ext cx="485246" cy="237858"/>
          </a:xfrm>
          <a:prstGeom prst="rect">
            <a:avLst/>
          </a:prstGeom>
          <a:noFill/>
        </p:spPr>
        <p:txBody>
          <a:bodyPr wrap="none" rtlCol="0">
            <a:spAutoFit/>
          </a:bodyPr>
          <a:lstStyle/>
          <a:p>
            <a:r>
              <a:rPr lang="en-US" altLang="ko-KR" sz="800" b="1" dirty="0">
                <a:solidFill>
                  <a:srgbClr val="7030A0"/>
                </a:solidFill>
              </a:rPr>
              <a:t>20 ZB</a:t>
            </a:r>
            <a:endParaRPr lang="ko-KR" altLang="en-US" sz="800" b="1" dirty="0">
              <a:solidFill>
                <a:srgbClr val="7030A0"/>
              </a:solidFill>
            </a:endParaRPr>
          </a:p>
        </p:txBody>
      </p:sp>
      <p:sp>
        <p:nvSpPr>
          <p:cNvPr id="428" name="TextBox 427"/>
          <p:cNvSpPr txBox="1"/>
          <p:nvPr/>
        </p:nvSpPr>
        <p:spPr>
          <a:xfrm>
            <a:off x="3516543" y="2428787"/>
            <a:ext cx="485246" cy="237858"/>
          </a:xfrm>
          <a:prstGeom prst="rect">
            <a:avLst/>
          </a:prstGeom>
          <a:noFill/>
        </p:spPr>
        <p:txBody>
          <a:bodyPr wrap="none" rtlCol="0">
            <a:spAutoFit/>
          </a:bodyPr>
          <a:lstStyle/>
          <a:p>
            <a:r>
              <a:rPr lang="en-US" altLang="ko-KR" sz="800" b="1" dirty="0">
                <a:solidFill>
                  <a:srgbClr val="7030A0"/>
                </a:solidFill>
              </a:rPr>
              <a:t>50 ZB</a:t>
            </a:r>
            <a:endParaRPr lang="ko-KR" altLang="en-US" sz="800" b="1" dirty="0">
              <a:solidFill>
                <a:srgbClr val="7030A0"/>
              </a:solidFill>
            </a:endParaRPr>
          </a:p>
        </p:txBody>
      </p:sp>
      <p:sp>
        <p:nvSpPr>
          <p:cNvPr id="429" name="TextBox 428"/>
          <p:cNvSpPr txBox="1"/>
          <p:nvPr/>
        </p:nvSpPr>
        <p:spPr>
          <a:xfrm>
            <a:off x="4014635" y="2350325"/>
            <a:ext cx="546690" cy="237858"/>
          </a:xfrm>
          <a:prstGeom prst="rect">
            <a:avLst/>
          </a:prstGeom>
          <a:noFill/>
        </p:spPr>
        <p:txBody>
          <a:bodyPr wrap="none" rtlCol="0">
            <a:spAutoFit/>
          </a:bodyPr>
          <a:lstStyle/>
          <a:p>
            <a:r>
              <a:rPr lang="en-US" altLang="ko-KR" sz="800" b="1" dirty="0">
                <a:solidFill>
                  <a:srgbClr val="7030A0"/>
                </a:solidFill>
              </a:rPr>
              <a:t>125 ZB</a:t>
            </a:r>
            <a:endParaRPr lang="ko-KR" altLang="en-US" sz="800" b="1" dirty="0">
              <a:solidFill>
                <a:srgbClr val="7030A0"/>
              </a:solidFill>
            </a:endParaRPr>
          </a:p>
        </p:txBody>
      </p:sp>
      <p:sp>
        <p:nvSpPr>
          <p:cNvPr id="430" name="TextBox 429"/>
          <p:cNvSpPr txBox="1"/>
          <p:nvPr/>
        </p:nvSpPr>
        <p:spPr>
          <a:xfrm>
            <a:off x="4520328" y="2277889"/>
            <a:ext cx="636366" cy="237858"/>
          </a:xfrm>
          <a:prstGeom prst="rect">
            <a:avLst/>
          </a:prstGeom>
          <a:noFill/>
        </p:spPr>
        <p:txBody>
          <a:bodyPr wrap="none" rtlCol="0">
            <a:spAutoFit/>
          </a:bodyPr>
          <a:lstStyle/>
          <a:p>
            <a:r>
              <a:rPr lang="en-US" altLang="ko-KR" sz="800" b="1" dirty="0">
                <a:solidFill>
                  <a:srgbClr val="7030A0"/>
                </a:solidFill>
              </a:rPr>
              <a:t>312.5 ZB</a:t>
            </a:r>
            <a:endParaRPr lang="ko-KR" altLang="en-US" sz="800" b="1" dirty="0">
              <a:solidFill>
                <a:srgbClr val="7030A0"/>
              </a:solidFill>
            </a:endParaRPr>
          </a:p>
        </p:txBody>
      </p:sp>
      <p:sp>
        <p:nvSpPr>
          <p:cNvPr id="431" name="TextBox 430"/>
          <p:cNvSpPr txBox="1"/>
          <p:nvPr/>
        </p:nvSpPr>
        <p:spPr>
          <a:xfrm>
            <a:off x="2481836" y="2567940"/>
            <a:ext cx="423800" cy="237858"/>
          </a:xfrm>
          <a:prstGeom prst="rect">
            <a:avLst/>
          </a:prstGeom>
          <a:noFill/>
        </p:spPr>
        <p:txBody>
          <a:bodyPr wrap="none" rtlCol="0">
            <a:spAutoFit/>
          </a:bodyPr>
          <a:lstStyle/>
          <a:p>
            <a:r>
              <a:rPr lang="en-US" altLang="ko-KR" sz="800" b="1" dirty="0">
                <a:solidFill>
                  <a:srgbClr val="7030A0"/>
                </a:solidFill>
              </a:rPr>
              <a:t>8 ZB</a:t>
            </a:r>
            <a:endParaRPr lang="ko-KR" altLang="en-US" sz="800" b="1" dirty="0">
              <a:solidFill>
                <a:srgbClr val="7030A0"/>
              </a:solidFill>
            </a:endParaRPr>
          </a:p>
        </p:txBody>
      </p:sp>
      <p:cxnSp>
        <p:nvCxnSpPr>
          <p:cNvPr id="432" name="직선 화살표 연결선 431"/>
          <p:cNvCxnSpPr/>
          <p:nvPr/>
        </p:nvCxnSpPr>
        <p:spPr>
          <a:xfrm>
            <a:off x="4861306" y="2879773"/>
            <a:ext cx="132202" cy="0"/>
          </a:xfrm>
          <a:prstGeom prst="straightConnector1">
            <a:avLst/>
          </a:prstGeom>
          <a:ln w="19050">
            <a:tailEnd type="triangle"/>
          </a:ln>
        </p:spPr>
        <p:style>
          <a:lnRef idx="1">
            <a:schemeClr val="accent6"/>
          </a:lnRef>
          <a:fillRef idx="0">
            <a:schemeClr val="accent6"/>
          </a:fillRef>
          <a:effectRef idx="0">
            <a:schemeClr val="accent6"/>
          </a:effectRef>
          <a:fontRef idx="minor">
            <a:schemeClr val="tx1"/>
          </a:fontRef>
        </p:style>
      </p:cxnSp>
      <p:sp>
        <p:nvSpPr>
          <p:cNvPr id="433" name="TextBox 432"/>
          <p:cNvSpPr txBox="1"/>
          <p:nvPr/>
        </p:nvSpPr>
        <p:spPr>
          <a:xfrm>
            <a:off x="4959147" y="2504990"/>
            <a:ext cx="295930" cy="203878"/>
          </a:xfrm>
          <a:prstGeom prst="rect">
            <a:avLst/>
          </a:prstGeom>
          <a:noFill/>
        </p:spPr>
        <p:txBody>
          <a:bodyPr wrap="none" rtlCol="0">
            <a:spAutoFit/>
          </a:bodyPr>
          <a:lstStyle/>
          <a:p>
            <a:r>
              <a:rPr lang="en-US" altLang="ko-KR" sz="600" dirty="0">
                <a:solidFill>
                  <a:schemeClr val="accent6">
                    <a:lumMod val="75000"/>
                  </a:schemeClr>
                </a:solidFill>
              </a:rPr>
              <a:t>2.4</a:t>
            </a:r>
            <a:endParaRPr lang="ko-KR" altLang="en-US" sz="600" dirty="0">
              <a:solidFill>
                <a:schemeClr val="accent6">
                  <a:lumMod val="75000"/>
                </a:schemeClr>
              </a:solidFill>
            </a:endParaRPr>
          </a:p>
        </p:txBody>
      </p:sp>
      <p:sp>
        <p:nvSpPr>
          <p:cNvPr id="434" name="TextBox 433"/>
          <p:cNvSpPr txBox="1"/>
          <p:nvPr/>
        </p:nvSpPr>
        <p:spPr>
          <a:xfrm>
            <a:off x="4959147" y="2683040"/>
            <a:ext cx="295930" cy="203878"/>
          </a:xfrm>
          <a:prstGeom prst="rect">
            <a:avLst/>
          </a:prstGeom>
          <a:noFill/>
        </p:spPr>
        <p:txBody>
          <a:bodyPr wrap="none" rtlCol="0">
            <a:spAutoFit/>
          </a:bodyPr>
          <a:lstStyle/>
          <a:p>
            <a:r>
              <a:rPr lang="en-US" altLang="ko-KR" sz="600" dirty="0">
                <a:solidFill>
                  <a:schemeClr val="accent6">
                    <a:lumMod val="75000"/>
                  </a:schemeClr>
                </a:solidFill>
              </a:rPr>
              <a:t>2.0</a:t>
            </a:r>
            <a:endParaRPr lang="ko-KR" altLang="en-US" sz="600" dirty="0">
              <a:solidFill>
                <a:schemeClr val="accent6">
                  <a:lumMod val="75000"/>
                </a:schemeClr>
              </a:solidFill>
            </a:endParaRPr>
          </a:p>
        </p:txBody>
      </p:sp>
      <p:grpSp>
        <p:nvGrpSpPr>
          <p:cNvPr id="435" name="그룹 434"/>
          <p:cNvGrpSpPr/>
          <p:nvPr/>
        </p:nvGrpSpPr>
        <p:grpSpPr>
          <a:xfrm>
            <a:off x="832865" y="2163155"/>
            <a:ext cx="2119250" cy="301902"/>
            <a:chOff x="1945564" y="2880508"/>
            <a:chExt cx="4094381" cy="659026"/>
          </a:xfrm>
        </p:grpSpPr>
        <p:sp>
          <p:nvSpPr>
            <p:cNvPr id="436" name="직사각형 435"/>
            <p:cNvSpPr/>
            <p:nvPr/>
          </p:nvSpPr>
          <p:spPr>
            <a:xfrm>
              <a:off x="1945564" y="3027859"/>
              <a:ext cx="108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437" name="직사각형 436"/>
            <p:cNvSpPr/>
            <p:nvPr/>
          </p:nvSpPr>
          <p:spPr>
            <a:xfrm>
              <a:off x="1945564" y="3221475"/>
              <a:ext cx="108000" cy="10800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400"/>
            </a:p>
          </p:txBody>
        </p:sp>
        <p:sp>
          <p:nvSpPr>
            <p:cNvPr id="438" name="TextBox 437"/>
            <p:cNvSpPr txBox="1"/>
            <p:nvPr/>
          </p:nvSpPr>
          <p:spPr>
            <a:xfrm>
              <a:off x="2008785" y="2905210"/>
              <a:ext cx="1821653" cy="403110"/>
            </a:xfrm>
            <a:prstGeom prst="rect">
              <a:avLst/>
            </a:prstGeom>
            <a:noFill/>
          </p:spPr>
          <p:txBody>
            <a:bodyPr wrap="none" rtlCol="0">
              <a:spAutoFit/>
            </a:bodyPr>
            <a:lstStyle/>
            <a:p>
              <a:r>
                <a:rPr lang="en-US" altLang="ko-KR" sz="600" dirty="0"/>
                <a:t>DRAM Total Supplied</a:t>
              </a:r>
              <a:endParaRPr lang="ko-KR" altLang="en-US" sz="600" dirty="0"/>
            </a:p>
          </p:txBody>
        </p:sp>
        <p:sp>
          <p:nvSpPr>
            <p:cNvPr id="439" name="TextBox 438"/>
            <p:cNvSpPr txBox="1"/>
            <p:nvPr/>
          </p:nvSpPr>
          <p:spPr>
            <a:xfrm>
              <a:off x="2008785" y="3103514"/>
              <a:ext cx="1824748" cy="403110"/>
            </a:xfrm>
            <a:prstGeom prst="rect">
              <a:avLst/>
            </a:prstGeom>
            <a:noFill/>
          </p:spPr>
          <p:txBody>
            <a:bodyPr wrap="none" rtlCol="0">
              <a:spAutoFit/>
            </a:bodyPr>
            <a:lstStyle/>
            <a:p>
              <a:r>
                <a:rPr lang="en-US" altLang="ko-KR" sz="600" dirty="0"/>
                <a:t>NAND Total Supplied</a:t>
              </a:r>
              <a:endParaRPr lang="ko-KR" altLang="en-US" sz="600" dirty="0"/>
            </a:p>
          </p:txBody>
        </p:sp>
        <p:sp>
          <p:nvSpPr>
            <p:cNvPr id="440" name="타원 439"/>
            <p:cNvSpPr/>
            <p:nvPr/>
          </p:nvSpPr>
          <p:spPr>
            <a:xfrm flipH="1">
              <a:off x="3847065" y="3008608"/>
              <a:ext cx="111930" cy="152481"/>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441" name="TextBox 440"/>
            <p:cNvSpPr txBox="1"/>
            <p:nvPr/>
          </p:nvSpPr>
          <p:spPr>
            <a:xfrm>
              <a:off x="3900330" y="2880508"/>
              <a:ext cx="2127985" cy="403110"/>
            </a:xfrm>
            <a:prstGeom prst="rect">
              <a:avLst/>
            </a:prstGeom>
            <a:noFill/>
          </p:spPr>
          <p:txBody>
            <a:bodyPr wrap="square" rtlCol="0">
              <a:spAutoFit/>
            </a:bodyPr>
            <a:lstStyle/>
            <a:p>
              <a:r>
                <a:rPr lang="en-US" altLang="ko-KR" sz="600" dirty="0" err="1"/>
                <a:t>KVcache</a:t>
              </a:r>
              <a:r>
                <a:rPr lang="en-US" altLang="ko-KR" sz="600" dirty="0"/>
                <a:t> Demand (x2.5/Y)</a:t>
              </a:r>
              <a:endParaRPr lang="ko-KR" altLang="en-US" sz="600" dirty="0"/>
            </a:p>
          </p:txBody>
        </p:sp>
        <p:sp>
          <p:nvSpPr>
            <p:cNvPr id="442" name="직사각형 441"/>
            <p:cNvSpPr/>
            <p:nvPr/>
          </p:nvSpPr>
          <p:spPr>
            <a:xfrm>
              <a:off x="3829221" y="3216441"/>
              <a:ext cx="192510" cy="209031"/>
            </a:xfrm>
            <a:prstGeom prst="rect">
              <a:avLst/>
            </a:prstGeom>
            <a:solidFill>
              <a:schemeClr val="bg1">
                <a:lumMod val="9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400"/>
            </a:p>
          </p:txBody>
        </p:sp>
        <p:sp>
          <p:nvSpPr>
            <p:cNvPr id="443" name="TextBox 442"/>
            <p:cNvSpPr txBox="1"/>
            <p:nvPr/>
          </p:nvSpPr>
          <p:spPr>
            <a:xfrm>
              <a:off x="3883817" y="3102831"/>
              <a:ext cx="2156128" cy="436703"/>
            </a:xfrm>
            <a:prstGeom prst="rect">
              <a:avLst/>
            </a:prstGeom>
            <a:noFill/>
          </p:spPr>
          <p:txBody>
            <a:bodyPr wrap="none" rtlCol="0">
              <a:spAutoFit/>
            </a:bodyPr>
            <a:lstStyle/>
            <a:p>
              <a:r>
                <a:rPr lang="en-US" altLang="ko-KR" sz="700" dirty="0"/>
                <a:t>model</a:t>
              </a:r>
              <a:r>
                <a:rPr lang="ko-KR" altLang="en-US" sz="700" dirty="0"/>
                <a:t> </a:t>
              </a:r>
              <a:r>
                <a:rPr lang="en-US" altLang="ko-KR" sz="700" dirty="0"/>
                <a:t>size (saturation)</a:t>
              </a:r>
              <a:endParaRPr lang="ko-KR" altLang="en-US" sz="700" dirty="0"/>
            </a:p>
          </p:txBody>
        </p:sp>
      </p:grpSp>
      <p:sp>
        <p:nvSpPr>
          <p:cNvPr id="444" name="타원 443"/>
          <p:cNvSpPr/>
          <p:nvPr/>
        </p:nvSpPr>
        <p:spPr>
          <a:xfrm flipH="1">
            <a:off x="2052956" y="2824084"/>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45" name="TextBox 444"/>
          <p:cNvSpPr txBox="1"/>
          <p:nvPr/>
        </p:nvSpPr>
        <p:spPr>
          <a:xfrm>
            <a:off x="4693648" y="2689431"/>
            <a:ext cx="388928" cy="186888"/>
          </a:xfrm>
          <a:prstGeom prst="rect">
            <a:avLst/>
          </a:prstGeom>
          <a:noFill/>
        </p:spPr>
        <p:txBody>
          <a:bodyPr wrap="none" rtlCol="0">
            <a:spAutoFit/>
          </a:bodyPr>
          <a:lstStyle/>
          <a:p>
            <a:r>
              <a:rPr lang="en-US" altLang="ko-KR" sz="500" b="1" dirty="0">
                <a:solidFill>
                  <a:schemeClr val="accent6">
                    <a:lumMod val="75000"/>
                  </a:schemeClr>
                </a:solidFill>
              </a:rPr>
              <a:t>1.7 ZB</a:t>
            </a:r>
            <a:endParaRPr lang="ko-KR" altLang="en-US" sz="500" b="1" dirty="0">
              <a:solidFill>
                <a:schemeClr val="accent6">
                  <a:lumMod val="75000"/>
                </a:schemeClr>
              </a:solidFill>
            </a:endParaRPr>
          </a:p>
        </p:txBody>
      </p:sp>
      <p:sp>
        <p:nvSpPr>
          <p:cNvPr id="446" name="TextBox 445"/>
          <p:cNvSpPr txBox="1"/>
          <p:nvPr/>
        </p:nvSpPr>
        <p:spPr>
          <a:xfrm>
            <a:off x="4506907" y="2938415"/>
            <a:ext cx="368999" cy="186888"/>
          </a:xfrm>
          <a:prstGeom prst="rect">
            <a:avLst/>
          </a:prstGeom>
          <a:noFill/>
        </p:spPr>
        <p:txBody>
          <a:bodyPr wrap="none" rtlCol="0">
            <a:spAutoFit/>
          </a:bodyPr>
          <a:lstStyle/>
          <a:p>
            <a:r>
              <a:rPr lang="en-US" altLang="ko-KR" sz="500" b="1" dirty="0">
                <a:solidFill>
                  <a:schemeClr val="accent1">
                    <a:lumMod val="75000"/>
                  </a:schemeClr>
                </a:solidFill>
              </a:rPr>
              <a:t>66 EB</a:t>
            </a:r>
            <a:endParaRPr lang="ko-KR" altLang="en-US" sz="500" b="1" dirty="0">
              <a:solidFill>
                <a:schemeClr val="accent1">
                  <a:lumMod val="75000"/>
                </a:schemeClr>
              </a:solidFill>
            </a:endParaRPr>
          </a:p>
        </p:txBody>
      </p:sp>
      <p:sp>
        <p:nvSpPr>
          <p:cNvPr id="447" name="직사각형 446"/>
          <p:cNvSpPr/>
          <p:nvPr/>
        </p:nvSpPr>
        <p:spPr>
          <a:xfrm>
            <a:off x="5667002" y="2505491"/>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ZB</a:t>
            </a:r>
          </a:p>
          <a:p>
            <a:pPr algn="ctr"/>
            <a:r>
              <a:rPr lang="en-US" altLang="ko-KR" sz="400" dirty="0"/>
              <a:t>(10</a:t>
            </a:r>
            <a:r>
              <a:rPr lang="en-US" altLang="ko-KR" sz="400" baseline="30000" dirty="0"/>
              <a:t>21</a:t>
            </a:r>
            <a:r>
              <a:rPr lang="en-US" altLang="ko-KR" sz="400" dirty="0"/>
              <a:t>)</a:t>
            </a:r>
            <a:endParaRPr lang="ko-KR" altLang="en-US" sz="400" dirty="0"/>
          </a:p>
        </p:txBody>
      </p:sp>
      <p:sp>
        <p:nvSpPr>
          <p:cNvPr id="448" name="직사각형 447"/>
          <p:cNvSpPr/>
          <p:nvPr/>
        </p:nvSpPr>
        <p:spPr>
          <a:xfrm>
            <a:off x="5667002" y="2783159"/>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EB</a:t>
            </a:r>
            <a:br>
              <a:rPr lang="en-US" altLang="ko-KR" sz="900" dirty="0"/>
            </a:br>
            <a:r>
              <a:rPr lang="en-US" altLang="ko-KR" sz="400" dirty="0"/>
              <a:t>(10</a:t>
            </a:r>
            <a:r>
              <a:rPr lang="en-US" altLang="ko-KR" sz="400" baseline="30000" dirty="0"/>
              <a:t>18</a:t>
            </a:r>
            <a:r>
              <a:rPr lang="en-US" altLang="ko-KR" sz="400" dirty="0"/>
              <a:t>)</a:t>
            </a:r>
            <a:endParaRPr lang="ko-KR" altLang="en-US" sz="400" dirty="0"/>
          </a:p>
        </p:txBody>
      </p:sp>
      <p:sp>
        <p:nvSpPr>
          <p:cNvPr id="449" name="직사각형 448"/>
          <p:cNvSpPr/>
          <p:nvPr/>
        </p:nvSpPr>
        <p:spPr>
          <a:xfrm>
            <a:off x="5667002" y="3060243"/>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PB</a:t>
            </a:r>
          </a:p>
          <a:p>
            <a:pPr algn="ctr"/>
            <a:r>
              <a:rPr lang="en-US" altLang="ko-KR" sz="400" dirty="0"/>
              <a:t>(10</a:t>
            </a:r>
            <a:r>
              <a:rPr lang="en-US" altLang="ko-KR" sz="400" baseline="30000" dirty="0"/>
              <a:t>15</a:t>
            </a:r>
            <a:r>
              <a:rPr lang="en-US" altLang="ko-KR" sz="400" dirty="0"/>
              <a:t>)</a:t>
            </a:r>
            <a:endParaRPr lang="ko-KR" altLang="en-US" sz="400" dirty="0"/>
          </a:p>
        </p:txBody>
      </p:sp>
      <p:sp>
        <p:nvSpPr>
          <p:cNvPr id="450" name="직사각형 449"/>
          <p:cNvSpPr/>
          <p:nvPr/>
        </p:nvSpPr>
        <p:spPr>
          <a:xfrm>
            <a:off x="5667002" y="3337404"/>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TB</a:t>
            </a:r>
          </a:p>
          <a:p>
            <a:pPr algn="ctr"/>
            <a:r>
              <a:rPr lang="en-US" altLang="ko-KR" sz="300" dirty="0"/>
              <a:t>(10</a:t>
            </a:r>
            <a:r>
              <a:rPr lang="en-US" altLang="ko-KR" sz="300" baseline="30000" dirty="0"/>
              <a:t>12</a:t>
            </a:r>
            <a:r>
              <a:rPr lang="en-US" altLang="ko-KR" sz="300" dirty="0"/>
              <a:t>)</a:t>
            </a:r>
            <a:endParaRPr lang="ko-KR" altLang="en-US" sz="300" dirty="0"/>
          </a:p>
        </p:txBody>
      </p:sp>
      <p:cxnSp>
        <p:nvCxnSpPr>
          <p:cNvPr id="451" name="구부러진 연결선 450"/>
          <p:cNvCxnSpPr>
            <a:stCxn id="450" idx="1"/>
            <a:endCxn id="449" idx="1"/>
          </p:cNvCxnSpPr>
          <p:nvPr/>
        </p:nvCxnSpPr>
        <p:spPr>
          <a:xfrm rot="10800000">
            <a:off x="5667002" y="3198075"/>
            <a:ext cx="12700" cy="277161"/>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cxnSp>
        <p:nvCxnSpPr>
          <p:cNvPr id="452" name="구부러진 연결선 451"/>
          <p:cNvCxnSpPr>
            <a:stCxn id="449" idx="1"/>
            <a:endCxn id="448" idx="1"/>
          </p:cNvCxnSpPr>
          <p:nvPr/>
        </p:nvCxnSpPr>
        <p:spPr>
          <a:xfrm rot="10800000">
            <a:off x="5667002" y="2920990"/>
            <a:ext cx="12700" cy="277084"/>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cxnSp>
        <p:nvCxnSpPr>
          <p:cNvPr id="453" name="구부러진 연결선 452"/>
          <p:cNvCxnSpPr>
            <a:stCxn id="448" idx="1"/>
            <a:endCxn id="447" idx="1"/>
          </p:cNvCxnSpPr>
          <p:nvPr/>
        </p:nvCxnSpPr>
        <p:spPr>
          <a:xfrm rot="10800000">
            <a:off x="5667002" y="2643322"/>
            <a:ext cx="12700" cy="277668"/>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sp>
        <p:nvSpPr>
          <p:cNvPr id="454" name="TextBox 453"/>
          <p:cNvSpPr txBox="1"/>
          <p:nvPr/>
        </p:nvSpPr>
        <p:spPr>
          <a:xfrm>
            <a:off x="5390581" y="2763222"/>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455" name="TextBox 454"/>
          <p:cNvSpPr txBox="1"/>
          <p:nvPr/>
        </p:nvSpPr>
        <p:spPr>
          <a:xfrm>
            <a:off x="5397049" y="3040578"/>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456" name="TextBox 455"/>
          <p:cNvSpPr txBox="1"/>
          <p:nvPr/>
        </p:nvSpPr>
        <p:spPr>
          <a:xfrm>
            <a:off x="5397551" y="3331274"/>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457" name="직사각형 456"/>
          <p:cNvSpPr/>
          <p:nvPr/>
        </p:nvSpPr>
        <p:spPr>
          <a:xfrm>
            <a:off x="384627" y="1913836"/>
            <a:ext cx="5552401" cy="230832"/>
          </a:xfrm>
          <a:prstGeom prst="rect">
            <a:avLst/>
          </a:prstGeom>
        </p:spPr>
        <p:txBody>
          <a:bodyPr wrap="square">
            <a:spAutoFit/>
          </a:bodyPr>
          <a:lstStyle/>
          <a:p>
            <a:r>
              <a:rPr lang="en-US" altLang="ko-KR" sz="900" b="1" dirty="0" err="1">
                <a:solidFill>
                  <a:prstClr val="black"/>
                </a:solidFill>
              </a:rPr>
              <a:t>KVcache</a:t>
            </a:r>
            <a:r>
              <a:rPr lang="en-US" altLang="ko-KR" sz="900" b="1" dirty="0">
                <a:solidFill>
                  <a:prstClr val="black"/>
                </a:solidFill>
              </a:rPr>
              <a:t> 수요(‘30</a:t>
            </a:r>
            <a:r>
              <a:rPr lang="ko-KR" altLang="en-US" sz="900" b="1" dirty="0">
                <a:solidFill>
                  <a:prstClr val="black"/>
                </a:solidFill>
              </a:rPr>
              <a:t>년</a:t>
            </a:r>
            <a:r>
              <a:rPr lang="en-US" altLang="ko-KR" sz="900" b="1" dirty="0">
                <a:solidFill>
                  <a:prstClr val="black"/>
                </a:solidFill>
              </a:rPr>
              <a:t>,312.5 ZB),</a:t>
            </a:r>
            <a:r>
              <a:rPr lang="ko-KR" altLang="en-US" sz="900" b="1" dirty="0">
                <a:solidFill>
                  <a:prstClr val="black"/>
                </a:solidFill>
              </a:rPr>
              <a:t> 총 </a:t>
            </a:r>
            <a:r>
              <a:rPr lang="en-US" altLang="ko-KR" sz="900" b="1" dirty="0">
                <a:solidFill>
                  <a:prstClr val="black"/>
                </a:solidFill>
              </a:rPr>
              <a:t>NAND </a:t>
            </a:r>
            <a:r>
              <a:rPr lang="ko-KR" altLang="en-US" sz="900" b="1" dirty="0">
                <a:solidFill>
                  <a:prstClr val="black"/>
                </a:solidFill>
              </a:rPr>
              <a:t>예상 공급</a:t>
            </a:r>
            <a:r>
              <a:rPr lang="en-US" altLang="ko-KR" sz="900" b="1" dirty="0">
                <a:solidFill>
                  <a:prstClr val="black"/>
                </a:solidFill>
              </a:rPr>
              <a:t>(1.76 ZB) </a:t>
            </a:r>
            <a:r>
              <a:rPr lang="ko-KR" altLang="en-US" sz="900" b="1" dirty="0">
                <a:solidFill>
                  <a:prstClr val="black"/>
                </a:solidFill>
              </a:rPr>
              <a:t>대비</a:t>
            </a:r>
            <a:r>
              <a:rPr lang="en-US" altLang="ko-KR" sz="900" b="1" dirty="0">
                <a:solidFill>
                  <a:prstClr val="black"/>
                </a:solidFill>
              </a:rPr>
              <a:t> 177</a:t>
            </a:r>
            <a:r>
              <a:rPr lang="ko-KR" altLang="en-US" sz="900" b="1" dirty="0">
                <a:solidFill>
                  <a:prstClr val="black"/>
                </a:solidFill>
              </a:rPr>
              <a:t>배 필요</a:t>
            </a:r>
            <a:endParaRPr lang="en-US" altLang="ko-KR" sz="300" b="1" dirty="0">
              <a:solidFill>
                <a:prstClr val="black"/>
              </a:solidFill>
            </a:endParaRPr>
          </a:p>
        </p:txBody>
      </p:sp>
      <p:sp>
        <p:nvSpPr>
          <p:cNvPr id="458" name="TextBox 457"/>
          <p:cNvSpPr txBox="1"/>
          <p:nvPr/>
        </p:nvSpPr>
        <p:spPr>
          <a:xfrm>
            <a:off x="4488843" y="1972124"/>
            <a:ext cx="906017" cy="200055"/>
          </a:xfrm>
          <a:prstGeom prst="rect">
            <a:avLst/>
          </a:prstGeom>
          <a:noFill/>
        </p:spPr>
        <p:txBody>
          <a:bodyPr wrap="none" rtlCol="0">
            <a:spAutoFit/>
          </a:bodyPr>
          <a:lstStyle/>
          <a:p>
            <a:r>
              <a:rPr lang="en-US" altLang="ko-KR" sz="700" dirty="0"/>
              <a:t>*Llama3 70B</a:t>
            </a:r>
            <a:r>
              <a:rPr lang="ko-KR" altLang="en-US" sz="700" dirty="0"/>
              <a:t> 기준</a:t>
            </a:r>
          </a:p>
        </p:txBody>
      </p:sp>
    </p:spTree>
    <p:extLst>
      <p:ext uri="{BB962C8B-B14F-4D97-AF65-F5344CB8AC3E}">
        <p14:creationId xmlns:p14="http://schemas.microsoft.com/office/powerpoint/2010/main" val="2130925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34948" y="137379"/>
            <a:ext cx="5736183" cy="365125"/>
          </a:xfrm>
        </p:spPr>
        <p:txBody>
          <a:bodyPr/>
          <a:lstStyle/>
          <a:p>
            <a:r>
              <a:rPr lang="ko-KR" altLang="en-US" dirty="0"/>
              <a:t>배경 지식 </a:t>
            </a:r>
            <a:r>
              <a:rPr lang="en-US" altLang="ko-KR" dirty="0"/>
              <a:t>(Agent, KV </a:t>
            </a:r>
            <a:r>
              <a:rPr lang="ko-KR" altLang="en-US" dirty="0"/>
              <a:t>캐시</a:t>
            </a:r>
            <a:r>
              <a:rPr lang="en-US" altLang="ko-KR" dirty="0"/>
              <a:t>, Prefill/Decode)</a:t>
            </a:r>
          </a:p>
        </p:txBody>
      </p:sp>
      <p:sp>
        <p:nvSpPr>
          <p:cNvPr id="8" name="실행 단추: 앞으로 또는 다음 7">
            <a:hlinkClick r:id="" action="ppaction://noaction" highlightClick="1"/>
          </p:cNvPr>
          <p:cNvSpPr/>
          <p:nvPr/>
        </p:nvSpPr>
        <p:spPr>
          <a:xfrm>
            <a:off x="7773876" y="55711"/>
            <a:ext cx="169486" cy="16733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 name="TextBox 8"/>
          <p:cNvSpPr txBox="1"/>
          <p:nvPr/>
        </p:nvSpPr>
        <p:spPr>
          <a:xfrm>
            <a:off x="6867609" y="46145"/>
            <a:ext cx="944489" cy="246221"/>
          </a:xfrm>
          <a:prstGeom prst="rect">
            <a:avLst/>
          </a:prstGeom>
          <a:noFill/>
        </p:spPr>
        <p:txBody>
          <a:bodyPr wrap="none" rtlCol="0">
            <a:spAutoFit/>
          </a:bodyPr>
          <a:lstStyle/>
          <a:p>
            <a:r>
              <a:rPr lang="en-US" altLang="ko-KR" sz="1000" dirty="0"/>
              <a:t>KV </a:t>
            </a:r>
            <a:r>
              <a:rPr lang="ko-KR" altLang="en-US" sz="1000" dirty="0"/>
              <a:t>캐시 상세</a:t>
            </a:r>
          </a:p>
        </p:txBody>
      </p:sp>
      <p:sp>
        <p:nvSpPr>
          <p:cNvPr id="93" name="실행 단추: 앞으로 또는 다음 92">
            <a:hlinkClick r:id="" action="ppaction://noaction" highlightClick="1"/>
          </p:cNvPr>
          <p:cNvSpPr/>
          <p:nvPr/>
        </p:nvSpPr>
        <p:spPr>
          <a:xfrm>
            <a:off x="7770562" y="302853"/>
            <a:ext cx="169486" cy="16733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p:cNvSpPr txBox="1"/>
          <p:nvPr/>
        </p:nvSpPr>
        <p:spPr>
          <a:xfrm>
            <a:off x="6512646" y="282460"/>
            <a:ext cx="1364930" cy="246221"/>
          </a:xfrm>
          <a:prstGeom prst="rect">
            <a:avLst/>
          </a:prstGeom>
          <a:noFill/>
        </p:spPr>
        <p:txBody>
          <a:bodyPr wrap="square" rtlCol="0">
            <a:spAutoFit/>
          </a:bodyPr>
          <a:lstStyle/>
          <a:p>
            <a:r>
              <a:rPr lang="en-US" altLang="ko-KR" sz="1000" dirty="0"/>
              <a:t>Prefill/Decode </a:t>
            </a:r>
            <a:r>
              <a:rPr lang="ko-KR" altLang="en-US" sz="1000" dirty="0"/>
              <a:t>상세</a:t>
            </a:r>
          </a:p>
        </p:txBody>
      </p:sp>
      <p:sp>
        <p:nvSpPr>
          <p:cNvPr id="86" name="Shape 4"/>
          <p:cNvSpPr/>
          <p:nvPr/>
        </p:nvSpPr>
        <p:spPr>
          <a:xfrm>
            <a:off x="6024999" y="647700"/>
            <a:ext cx="5894729" cy="5982058"/>
          </a:xfrm>
          <a:prstGeom prst="roundRect">
            <a:avLst>
              <a:gd name="adj" fmla="val 1572"/>
            </a:avLst>
          </a:prstGeom>
          <a:solidFill>
            <a:srgbClr val="051B2F">
              <a:alpha val="0"/>
            </a:srgbClr>
          </a:solidFill>
          <a:ln w="12700">
            <a:solidFill>
              <a:srgbClr val="FF0000"/>
            </a:solidFill>
            <a:prstDash val="solid"/>
          </a:ln>
        </p:spPr>
        <p:txBody>
          <a:bodyPr/>
          <a:lstStyle/>
          <a:p>
            <a:endParaRPr lang="ko-KR" altLang="en-US" dirty="0"/>
          </a:p>
        </p:txBody>
      </p:sp>
      <p:sp>
        <p:nvSpPr>
          <p:cNvPr id="87" name="Shape 4"/>
          <p:cNvSpPr/>
          <p:nvPr/>
        </p:nvSpPr>
        <p:spPr>
          <a:xfrm>
            <a:off x="172658" y="1669906"/>
            <a:ext cx="5323958" cy="4032409"/>
          </a:xfrm>
          <a:prstGeom prst="roundRect">
            <a:avLst>
              <a:gd name="adj" fmla="val 1572"/>
            </a:avLst>
          </a:prstGeom>
          <a:solidFill>
            <a:srgbClr val="051B2F">
              <a:alpha val="0"/>
            </a:srgbClr>
          </a:solidFill>
          <a:ln w="12700">
            <a:solidFill>
              <a:schemeClr val="bg1">
                <a:lumMod val="85000"/>
              </a:schemeClr>
            </a:solidFill>
            <a:prstDash val="solid"/>
          </a:ln>
        </p:spPr>
        <p:txBody>
          <a:bodyPr/>
          <a:lstStyle/>
          <a:p>
            <a:endParaRPr lang="ko-KR" altLang="en-US" sz="900" dirty="0"/>
          </a:p>
        </p:txBody>
      </p:sp>
      <p:cxnSp>
        <p:nvCxnSpPr>
          <p:cNvPr id="88" name="꺾인 연결선 87"/>
          <p:cNvCxnSpPr>
            <a:stCxn id="127" idx="1"/>
            <a:endCxn id="145" idx="1"/>
          </p:cNvCxnSpPr>
          <p:nvPr/>
        </p:nvCxnSpPr>
        <p:spPr>
          <a:xfrm rot="16200000" flipV="1">
            <a:off x="2251364" y="3847140"/>
            <a:ext cx="1544953" cy="297180"/>
          </a:xfrm>
          <a:prstGeom prst="bentConnector4">
            <a:avLst>
              <a:gd name="adj1" fmla="val 11455"/>
              <a:gd name="adj2" fmla="val 177829"/>
            </a:avLst>
          </a:prstGeom>
          <a:ln w="127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꺾인 연결선 88"/>
          <p:cNvCxnSpPr>
            <a:stCxn id="127" idx="4"/>
            <a:endCxn id="159" idx="1"/>
          </p:cNvCxnSpPr>
          <p:nvPr/>
        </p:nvCxnSpPr>
        <p:spPr>
          <a:xfrm flipH="1" flipV="1">
            <a:off x="4163641" y="3219304"/>
            <a:ext cx="343521" cy="1930303"/>
          </a:xfrm>
          <a:prstGeom prst="bentConnector5">
            <a:avLst>
              <a:gd name="adj1" fmla="val -66546"/>
              <a:gd name="adj2" fmla="val 24491"/>
              <a:gd name="adj3" fmla="val 152201"/>
            </a:avLst>
          </a:prstGeom>
          <a:ln w="127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꺾인 연결선 89"/>
          <p:cNvCxnSpPr>
            <a:stCxn id="127" idx="2"/>
            <a:endCxn id="131" idx="1"/>
          </p:cNvCxnSpPr>
          <p:nvPr/>
        </p:nvCxnSpPr>
        <p:spPr>
          <a:xfrm rot="10800000">
            <a:off x="1518976" y="3223253"/>
            <a:ext cx="318722" cy="1926354"/>
          </a:xfrm>
          <a:prstGeom prst="bentConnector3">
            <a:avLst>
              <a:gd name="adj1" fmla="val 171724"/>
            </a:avLst>
          </a:prstGeom>
          <a:ln w="63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 name="Shape 4"/>
          <p:cNvSpPr/>
          <p:nvPr/>
        </p:nvSpPr>
        <p:spPr>
          <a:xfrm>
            <a:off x="1371279" y="2204801"/>
            <a:ext cx="1208544" cy="2223928"/>
          </a:xfrm>
          <a:prstGeom prst="roundRect">
            <a:avLst>
              <a:gd name="adj" fmla="val 1572"/>
            </a:avLst>
          </a:prstGeom>
          <a:solidFill>
            <a:srgbClr val="051B2F">
              <a:alpha val="0"/>
            </a:srgbClr>
          </a:solidFill>
          <a:ln w="12700">
            <a:solidFill>
              <a:schemeClr val="bg1">
                <a:lumMod val="75000"/>
              </a:schemeClr>
            </a:solidFill>
            <a:prstDash val="solid"/>
          </a:ln>
        </p:spPr>
        <p:txBody>
          <a:bodyPr/>
          <a:lstStyle/>
          <a:p>
            <a:endParaRPr lang="ko-KR" altLang="en-US" dirty="0"/>
          </a:p>
        </p:txBody>
      </p:sp>
      <p:sp>
        <p:nvSpPr>
          <p:cNvPr id="92" name="Shape 4"/>
          <p:cNvSpPr/>
          <p:nvPr/>
        </p:nvSpPr>
        <p:spPr>
          <a:xfrm>
            <a:off x="2728502" y="2207481"/>
            <a:ext cx="1178246" cy="2223928"/>
          </a:xfrm>
          <a:prstGeom prst="roundRect">
            <a:avLst>
              <a:gd name="adj" fmla="val 1572"/>
            </a:avLst>
          </a:prstGeom>
          <a:noFill/>
          <a:ln w="12700">
            <a:solidFill>
              <a:schemeClr val="bg1">
                <a:lumMod val="75000"/>
              </a:schemeClr>
            </a:solidFill>
            <a:prstDash val="solid"/>
          </a:ln>
        </p:spPr>
        <p:txBody>
          <a:bodyPr/>
          <a:lstStyle/>
          <a:p>
            <a:endParaRPr lang="ko-KR" altLang="en-US" dirty="0"/>
          </a:p>
        </p:txBody>
      </p:sp>
      <p:sp>
        <p:nvSpPr>
          <p:cNvPr id="95" name="Shape 4"/>
          <p:cNvSpPr/>
          <p:nvPr/>
        </p:nvSpPr>
        <p:spPr>
          <a:xfrm>
            <a:off x="4053637" y="2207585"/>
            <a:ext cx="1208544" cy="2223928"/>
          </a:xfrm>
          <a:prstGeom prst="roundRect">
            <a:avLst>
              <a:gd name="adj" fmla="val 1572"/>
            </a:avLst>
          </a:prstGeom>
          <a:noFill/>
          <a:ln w="12700">
            <a:solidFill>
              <a:schemeClr val="bg1">
                <a:lumMod val="75000"/>
              </a:schemeClr>
            </a:solidFill>
            <a:prstDash val="solid"/>
          </a:ln>
        </p:spPr>
        <p:txBody>
          <a:bodyPr/>
          <a:lstStyle/>
          <a:p>
            <a:endParaRPr lang="ko-KR" altLang="en-US" dirty="0"/>
          </a:p>
        </p:txBody>
      </p:sp>
      <p:sp>
        <p:nvSpPr>
          <p:cNvPr id="96" name="TextBox 95"/>
          <p:cNvSpPr txBox="1"/>
          <p:nvPr/>
        </p:nvSpPr>
        <p:spPr>
          <a:xfrm>
            <a:off x="1471057" y="1303543"/>
            <a:ext cx="3106941" cy="307777"/>
          </a:xfrm>
          <a:prstGeom prst="rect">
            <a:avLst/>
          </a:prstGeom>
          <a:noFill/>
        </p:spPr>
        <p:txBody>
          <a:bodyPr wrap="none" rtlCol="0">
            <a:spAutoFit/>
          </a:bodyPr>
          <a:lstStyle/>
          <a:p>
            <a:r>
              <a:rPr lang="en-US" altLang="ko-KR" sz="1400" b="1" dirty="0"/>
              <a:t>Agent</a:t>
            </a:r>
            <a:r>
              <a:rPr lang="ko-KR" altLang="en-US" sz="1400" b="1" dirty="0"/>
              <a:t>가 다양한 모델</a:t>
            </a:r>
            <a:r>
              <a:rPr lang="en-US" altLang="ko-KR" sz="1400" b="1" dirty="0"/>
              <a:t>/SW </a:t>
            </a:r>
            <a:r>
              <a:rPr lang="ko-KR" altLang="en-US" sz="1400" b="1" dirty="0"/>
              <a:t>요청 제어</a:t>
            </a:r>
          </a:p>
        </p:txBody>
      </p:sp>
      <p:cxnSp>
        <p:nvCxnSpPr>
          <p:cNvPr id="124" name="직선 연결선 123"/>
          <p:cNvCxnSpPr/>
          <p:nvPr/>
        </p:nvCxnSpPr>
        <p:spPr>
          <a:xfrm>
            <a:off x="4969268" y="3353790"/>
            <a:ext cx="1001863" cy="3234652"/>
          </a:xfrm>
          <a:prstGeom prst="line">
            <a:avLst/>
          </a:prstGeom>
          <a:ln w="1270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직선 연결선 124"/>
          <p:cNvCxnSpPr/>
          <p:nvPr/>
        </p:nvCxnSpPr>
        <p:spPr>
          <a:xfrm flipV="1">
            <a:off x="4961291" y="793350"/>
            <a:ext cx="916366" cy="2275299"/>
          </a:xfrm>
          <a:prstGeom prst="line">
            <a:avLst/>
          </a:prstGeom>
          <a:ln w="1270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6" name="Shape 11"/>
          <p:cNvSpPr/>
          <p:nvPr/>
        </p:nvSpPr>
        <p:spPr>
          <a:xfrm>
            <a:off x="1565642" y="4070622"/>
            <a:ext cx="684741" cy="245963"/>
          </a:xfrm>
          <a:prstGeom prst="roundRect">
            <a:avLst/>
          </a:prstGeom>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r>
              <a:rPr lang="ko-KR" altLang="en-US" sz="800" dirty="0"/>
              <a:t>검색</a:t>
            </a:r>
            <a:r>
              <a:rPr lang="en-US" altLang="ko-KR" sz="800" dirty="0"/>
              <a:t> </a:t>
            </a:r>
            <a:r>
              <a:rPr lang="ko-KR" altLang="en-US" sz="800" dirty="0"/>
              <a:t>결과</a:t>
            </a:r>
          </a:p>
        </p:txBody>
      </p:sp>
      <p:sp>
        <p:nvSpPr>
          <p:cNvPr id="127" name="원통 126"/>
          <p:cNvSpPr/>
          <p:nvPr/>
        </p:nvSpPr>
        <p:spPr>
          <a:xfrm>
            <a:off x="1837698" y="4768206"/>
            <a:ext cx="2669464" cy="762801"/>
          </a:xfrm>
          <a:prstGeom prst="can">
            <a:avLst/>
          </a:prstGeom>
          <a:solidFill>
            <a:schemeClr val="bg1">
              <a:lumMod val="9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sz="1200" b="1" dirty="0"/>
          </a:p>
        </p:txBody>
      </p:sp>
      <p:grpSp>
        <p:nvGrpSpPr>
          <p:cNvPr id="128" name="그룹 127"/>
          <p:cNvGrpSpPr/>
          <p:nvPr/>
        </p:nvGrpSpPr>
        <p:grpSpPr>
          <a:xfrm>
            <a:off x="290411" y="2698056"/>
            <a:ext cx="949185" cy="465260"/>
            <a:chOff x="619582" y="2559145"/>
            <a:chExt cx="1795838" cy="309499"/>
          </a:xfrm>
        </p:grpSpPr>
        <p:sp>
          <p:nvSpPr>
            <p:cNvPr id="129" name="Shape 48"/>
            <p:cNvSpPr/>
            <p:nvPr/>
          </p:nvSpPr>
          <p:spPr>
            <a:xfrm>
              <a:off x="619582" y="2559145"/>
              <a:ext cx="1795838" cy="309499"/>
            </a:xfrm>
            <a:prstGeom prst="roundRect">
              <a:avLst>
                <a:gd name="adj" fmla="val 20000"/>
              </a:avLst>
            </a:prstGeom>
            <a:solidFill>
              <a:schemeClr val="accent2">
                <a:lumMod val="20000"/>
                <a:lumOff val="80000"/>
              </a:schemeClr>
            </a:solidFill>
            <a:ln w="15240">
              <a:noFill/>
              <a:prstDash val="solid"/>
            </a:ln>
          </p:spPr>
        </p:sp>
        <p:sp>
          <p:nvSpPr>
            <p:cNvPr id="130" name="Text 49"/>
            <p:cNvSpPr/>
            <p:nvPr/>
          </p:nvSpPr>
          <p:spPr>
            <a:xfrm>
              <a:off x="673324" y="2572553"/>
              <a:ext cx="1664574" cy="294024"/>
            </a:xfrm>
            <a:prstGeom prst="rect">
              <a:avLst/>
            </a:prstGeom>
            <a:noFill/>
            <a:ln>
              <a:noFill/>
            </a:ln>
          </p:spPr>
          <p:txBody>
            <a:bodyPr wrap="square"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700" kern="0" noProof="0" dirty="0">
                  <a:ea typeface="Malgun Gothic" pitchFamily="34" charset="-122"/>
                </a:rPr>
                <a:t>“</a:t>
              </a:r>
              <a:r>
                <a:rPr lang="ko-KR" altLang="en-US" sz="700" kern="0" noProof="0" dirty="0">
                  <a:ea typeface="Malgun Gothic" pitchFamily="34" charset="-122"/>
                </a:rPr>
                <a:t>개발 문서 </a:t>
              </a:r>
              <a:endParaRPr lang="en-US" altLang="ko-KR" sz="700" kern="0" noProof="0" dirty="0">
                <a:ea typeface="Malgun Gothic"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lang="ko-KR" altLang="en-US" sz="700" kern="0" noProof="0" dirty="0">
                  <a:ea typeface="Malgun Gothic" pitchFamily="34" charset="-122"/>
                </a:rPr>
                <a:t>찾아서 읽고 </a:t>
              </a:r>
              <a:endParaRPr lang="en-US" altLang="ko-KR" sz="700" kern="0" noProof="0" dirty="0">
                <a:ea typeface="Malgun Gothic"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lang="ko-KR" altLang="en-US" sz="700" kern="0" noProof="0" dirty="0">
                  <a:ea typeface="Malgun Gothic" pitchFamily="34" charset="-122"/>
                </a:rPr>
                <a:t>코드 수정해줘</a:t>
              </a:r>
              <a:r>
                <a:rPr lang="en-US" altLang="ko-KR" sz="700" kern="0" noProof="0" dirty="0">
                  <a:ea typeface="Malgun Gothic" pitchFamily="34" charset="-122"/>
                </a:rPr>
                <a:t>”</a:t>
              </a:r>
              <a:endParaRPr kumimoji="0" lang="en-US" sz="700" i="0" u="none" strike="noStrike" kern="0" cap="none" spc="0" normalizeH="0" baseline="0" noProof="0" dirty="0">
                <a:ln>
                  <a:noFill/>
                </a:ln>
                <a:effectLst/>
                <a:uLnTx/>
                <a:uFillTx/>
              </a:endParaRPr>
            </a:p>
          </p:txBody>
        </p:sp>
      </p:grpSp>
      <p:sp>
        <p:nvSpPr>
          <p:cNvPr id="131" name="모서리가 둥근 직사각형 130"/>
          <p:cNvSpPr/>
          <p:nvPr/>
        </p:nvSpPr>
        <p:spPr>
          <a:xfrm>
            <a:off x="1518976" y="3072598"/>
            <a:ext cx="793071" cy="301309"/>
          </a:xfrm>
          <a:prstGeom prst="roundRect">
            <a:avLst/>
          </a:prstGeom>
          <a:solidFill>
            <a:schemeClr val="bg1">
              <a:lumMod val="95000"/>
            </a:schemeClr>
          </a:solidFill>
          <a:ln>
            <a:solidFill>
              <a:schemeClr val="tx1"/>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altLang="ko-KR" sz="1200" dirty="0">
                <a:solidFill>
                  <a:schemeClr val="tx1"/>
                </a:solidFill>
              </a:rPr>
              <a:t>LLM</a:t>
            </a:r>
            <a:endParaRPr lang="ko-KR" altLang="en-US" sz="1600" dirty="0">
              <a:solidFill>
                <a:schemeClr val="tx1"/>
              </a:solidFill>
            </a:endParaRPr>
          </a:p>
        </p:txBody>
      </p:sp>
      <p:sp>
        <p:nvSpPr>
          <p:cNvPr id="132" name="모서리가 둥근 직사각형 131"/>
          <p:cNvSpPr/>
          <p:nvPr/>
        </p:nvSpPr>
        <p:spPr>
          <a:xfrm>
            <a:off x="1521535" y="3620368"/>
            <a:ext cx="790513" cy="378089"/>
          </a:xfrm>
          <a:prstGeom prst="round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900" dirty="0"/>
              <a:t>Web Search</a:t>
            </a:r>
            <a:endParaRPr lang="ko-KR" altLang="en-US" sz="900" dirty="0"/>
          </a:p>
        </p:txBody>
      </p:sp>
      <p:cxnSp>
        <p:nvCxnSpPr>
          <p:cNvPr id="133" name="직선 화살표 연결선 132"/>
          <p:cNvCxnSpPr/>
          <p:nvPr/>
        </p:nvCxnSpPr>
        <p:spPr>
          <a:xfrm>
            <a:off x="1915511" y="3387601"/>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34" name="그룹 133"/>
          <p:cNvGrpSpPr/>
          <p:nvPr/>
        </p:nvGrpSpPr>
        <p:grpSpPr>
          <a:xfrm>
            <a:off x="1549307" y="2437593"/>
            <a:ext cx="717501" cy="396335"/>
            <a:chOff x="229017" y="2606169"/>
            <a:chExt cx="846286" cy="396335"/>
          </a:xfrm>
        </p:grpSpPr>
        <p:sp>
          <p:nvSpPr>
            <p:cNvPr id="135" name="순서도: 문서 134"/>
            <p:cNvSpPr/>
            <p:nvPr/>
          </p:nvSpPr>
          <p:spPr>
            <a:xfrm>
              <a:off x="229017" y="2606169"/>
              <a:ext cx="846286" cy="396335"/>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a:p>
          </p:txBody>
        </p:sp>
        <p:sp>
          <p:nvSpPr>
            <p:cNvPr id="136" name="Shape 11"/>
            <p:cNvSpPr/>
            <p:nvPr/>
          </p:nvSpPr>
          <p:spPr>
            <a:xfrm>
              <a:off x="277725" y="2667804"/>
              <a:ext cx="319352" cy="108539"/>
            </a:xfrm>
            <a:prstGeom prst="roundRect">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sp>
          <p:nvSpPr>
            <p:cNvPr id="137" name="Shape 11"/>
            <p:cNvSpPr/>
            <p:nvPr/>
          </p:nvSpPr>
          <p:spPr>
            <a:xfrm>
              <a:off x="277725" y="2794601"/>
              <a:ext cx="319352" cy="108539"/>
            </a:xfrm>
            <a:prstGeom prst="roundRect">
              <a:avLst/>
            </a:prstGeom>
            <a:solidFill>
              <a:schemeClr val="accent2">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grpSp>
      <p:sp>
        <p:nvSpPr>
          <p:cNvPr id="138" name="TextBox 137"/>
          <p:cNvSpPr txBox="1"/>
          <p:nvPr/>
        </p:nvSpPr>
        <p:spPr>
          <a:xfrm>
            <a:off x="1325835" y="3386151"/>
            <a:ext cx="628698" cy="230832"/>
          </a:xfrm>
          <a:prstGeom prst="rect">
            <a:avLst/>
          </a:prstGeom>
          <a:noFill/>
        </p:spPr>
        <p:txBody>
          <a:bodyPr wrap="none" rtlCol="0">
            <a:spAutoFit/>
          </a:bodyPr>
          <a:lstStyle/>
          <a:p>
            <a:r>
              <a:rPr lang="en-US" altLang="ko-KR" sz="900" dirty="0"/>
              <a:t>SW </a:t>
            </a:r>
            <a:r>
              <a:rPr lang="ko-KR" altLang="en-US" sz="900" dirty="0"/>
              <a:t>호출</a:t>
            </a:r>
          </a:p>
        </p:txBody>
      </p:sp>
      <p:cxnSp>
        <p:nvCxnSpPr>
          <p:cNvPr id="139" name="직선 화살표 연결선 138"/>
          <p:cNvCxnSpPr/>
          <p:nvPr/>
        </p:nvCxnSpPr>
        <p:spPr>
          <a:xfrm>
            <a:off x="1915511" y="2848910"/>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0" name="TextBox 139"/>
          <p:cNvSpPr txBox="1"/>
          <p:nvPr/>
        </p:nvSpPr>
        <p:spPr>
          <a:xfrm>
            <a:off x="1572780" y="2217215"/>
            <a:ext cx="581951" cy="230832"/>
          </a:xfrm>
          <a:prstGeom prst="rect">
            <a:avLst/>
          </a:prstGeom>
          <a:noFill/>
        </p:spPr>
        <p:txBody>
          <a:bodyPr wrap="none" rtlCol="0">
            <a:spAutoFit/>
          </a:bodyPr>
          <a:lstStyle/>
          <a:p>
            <a:r>
              <a:rPr lang="ko-KR" altLang="en-US" sz="900" dirty="0"/>
              <a:t>입력 토큰</a:t>
            </a:r>
          </a:p>
        </p:txBody>
      </p:sp>
      <p:cxnSp>
        <p:nvCxnSpPr>
          <p:cNvPr id="141" name="직선 화살표 연결선 140"/>
          <p:cNvCxnSpPr>
            <a:stCxn id="241" idx="3"/>
            <a:endCxn id="136" idx="1"/>
          </p:cNvCxnSpPr>
          <p:nvPr/>
        </p:nvCxnSpPr>
        <p:spPr>
          <a:xfrm>
            <a:off x="1219955" y="2326164"/>
            <a:ext cx="370648" cy="227334"/>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직선 화살표 연결선 141"/>
          <p:cNvCxnSpPr>
            <a:stCxn id="129" idx="3"/>
            <a:endCxn id="137" idx="1"/>
          </p:cNvCxnSpPr>
          <p:nvPr/>
        </p:nvCxnSpPr>
        <p:spPr>
          <a:xfrm flipV="1">
            <a:off x="1239596" y="2680295"/>
            <a:ext cx="351007" cy="250391"/>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2199731" y="2492316"/>
            <a:ext cx="393056" cy="230832"/>
          </a:xfrm>
          <a:prstGeom prst="rect">
            <a:avLst/>
          </a:prstGeom>
          <a:noFill/>
        </p:spPr>
        <p:txBody>
          <a:bodyPr wrap="none" rtlCol="0">
            <a:spAutoFit/>
          </a:bodyPr>
          <a:lstStyle/>
          <a:p>
            <a:r>
              <a:rPr lang="en-US" altLang="ko-KR" sz="900" b="1" dirty="0">
                <a:solidFill>
                  <a:srgbClr val="0000FF"/>
                </a:solidFill>
              </a:rPr>
              <a:t>10K</a:t>
            </a:r>
            <a:endParaRPr lang="ko-KR" altLang="en-US" sz="900" b="1" dirty="0">
              <a:solidFill>
                <a:srgbClr val="0000FF"/>
              </a:solidFill>
            </a:endParaRPr>
          </a:p>
        </p:txBody>
      </p:sp>
      <p:sp>
        <p:nvSpPr>
          <p:cNvPr id="144" name="TextBox 143"/>
          <p:cNvSpPr txBox="1"/>
          <p:nvPr/>
        </p:nvSpPr>
        <p:spPr>
          <a:xfrm>
            <a:off x="2174242" y="4063851"/>
            <a:ext cx="393056" cy="230832"/>
          </a:xfrm>
          <a:prstGeom prst="rect">
            <a:avLst/>
          </a:prstGeom>
          <a:noFill/>
        </p:spPr>
        <p:txBody>
          <a:bodyPr wrap="none" rtlCol="0">
            <a:spAutoFit/>
          </a:bodyPr>
          <a:lstStyle/>
          <a:p>
            <a:r>
              <a:rPr lang="en-US" altLang="ko-KR" sz="900" b="1" dirty="0">
                <a:solidFill>
                  <a:srgbClr val="0000FF"/>
                </a:solidFill>
              </a:rPr>
              <a:t>30K</a:t>
            </a:r>
            <a:endParaRPr lang="ko-KR" altLang="en-US" sz="900" b="1" dirty="0">
              <a:solidFill>
                <a:srgbClr val="0000FF"/>
              </a:solidFill>
            </a:endParaRPr>
          </a:p>
        </p:txBody>
      </p:sp>
      <p:sp>
        <p:nvSpPr>
          <p:cNvPr id="145" name="모서리가 둥근 직사각형 144"/>
          <p:cNvSpPr/>
          <p:nvPr/>
        </p:nvSpPr>
        <p:spPr>
          <a:xfrm>
            <a:off x="2875250" y="3072598"/>
            <a:ext cx="793071" cy="301309"/>
          </a:xfrm>
          <a:prstGeom prst="roundRect">
            <a:avLst/>
          </a:prstGeom>
          <a:solidFill>
            <a:schemeClr val="bg1">
              <a:lumMod val="95000"/>
            </a:schemeClr>
          </a:solidFill>
          <a:ln>
            <a:solidFill>
              <a:schemeClr val="tx1"/>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altLang="ko-KR" sz="1200" dirty="0">
                <a:solidFill>
                  <a:schemeClr val="tx1"/>
                </a:solidFill>
              </a:rPr>
              <a:t>LLM</a:t>
            </a:r>
            <a:endParaRPr lang="ko-KR" altLang="en-US" sz="1600" dirty="0">
              <a:solidFill>
                <a:schemeClr val="tx1"/>
              </a:solidFill>
            </a:endParaRPr>
          </a:p>
        </p:txBody>
      </p:sp>
      <p:sp>
        <p:nvSpPr>
          <p:cNvPr id="146" name="모서리가 둥근 직사각형 145"/>
          <p:cNvSpPr/>
          <p:nvPr/>
        </p:nvSpPr>
        <p:spPr>
          <a:xfrm>
            <a:off x="2877809" y="3620368"/>
            <a:ext cx="790513" cy="378089"/>
          </a:xfrm>
          <a:prstGeom prst="round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900" dirty="0"/>
              <a:t>Code </a:t>
            </a:r>
            <a:r>
              <a:rPr lang="ko-KR" altLang="en-US" sz="900" dirty="0"/>
              <a:t>수정</a:t>
            </a:r>
          </a:p>
        </p:txBody>
      </p:sp>
      <p:cxnSp>
        <p:nvCxnSpPr>
          <p:cNvPr id="147" name="직선 화살표 연결선 146"/>
          <p:cNvCxnSpPr/>
          <p:nvPr/>
        </p:nvCxnSpPr>
        <p:spPr>
          <a:xfrm>
            <a:off x="3271785" y="3387601"/>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48" name="그룹 147"/>
          <p:cNvGrpSpPr/>
          <p:nvPr/>
        </p:nvGrpSpPr>
        <p:grpSpPr>
          <a:xfrm>
            <a:off x="2905581" y="2437593"/>
            <a:ext cx="717501" cy="396335"/>
            <a:chOff x="229017" y="2606169"/>
            <a:chExt cx="846286" cy="396335"/>
          </a:xfrm>
        </p:grpSpPr>
        <p:sp>
          <p:nvSpPr>
            <p:cNvPr id="149" name="순서도: 문서 148"/>
            <p:cNvSpPr/>
            <p:nvPr/>
          </p:nvSpPr>
          <p:spPr>
            <a:xfrm>
              <a:off x="229017" y="2606169"/>
              <a:ext cx="846286" cy="396335"/>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a:p>
          </p:txBody>
        </p:sp>
        <p:sp>
          <p:nvSpPr>
            <p:cNvPr id="150" name="Shape 11"/>
            <p:cNvSpPr/>
            <p:nvPr/>
          </p:nvSpPr>
          <p:spPr>
            <a:xfrm>
              <a:off x="277725" y="2667804"/>
              <a:ext cx="319352" cy="108539"/>
            </a:xfrm>
            <a:prstGeom prst="roundRect">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sp>
          <p:nvSpPr>
            <p:cNvPr id="151" name="Shape 11"/>
            <p:cNvSpPr/>
            <p:nvPr/>
          </p:nvSpPr>
          <p:spPr>
            <a:xfrm>
              <a:off x="277725" y="2794601"/>
              <a:ext cx="319352" cy="108539"/>
            </a:xfrm>
            <a:prstGeom prst="roundRect">
              <a:avLst/>
            </a:prstGeom>
            <a:solidFill>
              <a:schemeClr val="accent2">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grpSp>
      <p:cxnSp>
        <p:nvCxnSpPr>
          <p:cNvPr id="152" name="직선 화살표 연결선 151"/>
          <p:cNvCxnSpPr/>
          <p:nvPr/>
        </p:nvCxnSpPr>
        <p:spPr>
          <a:xfrm>
            <a:off x="3271785" y="2848910"/>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53" name="TextBox 152"/>
          <p:cNvSpPr txBox="1"/>
          <p:nvPr/>
        </p:nvSpPr>
        <p:spPr>
          <a:xfrm>
            <a:off x="2929054" y="2217215"/>
            <a:ext cx="581951" cy="230832"/>
          </a:xfrm>
          <a:prstGeom prst="rect">
            <a:avLst/>
          </a:prstGeom>
          <a:noFill/>
        </p:spPr>
        <p:txBody>
          <a:bodyPr wrap="none" rtlCol="0">
            <a:spAutoFit/>
          </a:bodyPr>
          <a:lstStyle/>
          <a:p>
            <a:r>
              <a:rPr lang="ko-KR" altLang="en-US" sz="900" dirty="0"/>
              <a:t>입력 토큰</a:t>
            </a:r>
          </a:p>
        </p:txBody>
      </p:sp>
      <p:sp>
        <p:nvSpPr>
          <p:cNvPr id="154" name="TextBox 153"/>
          <p:cNvSpPr txBox="1"/>
          <p:nvPr/>
        </p:nvSpPr>
        <p:spPr>
          <a:xfrm>
            <a:off x="3556005" y="2492316"/>
            <a:ext cx="393056" cy="230832"/>
          </a:xfrm>
          <a:prstGeom prst="rect">
            <a:avLst/>
          </a:prstGeom>
          <a:noFill/>
        </p:spPr>
        <p:txBody>
          <a:bodyPr wrap="none" rtlCol="0">
            <a:spAutoFit/>
          </a:bodyPr>
          <a:lstStyle/>
          <a:p>
            <a:r>
              <a:rPr lang="en-US" altLang="ko-KR" sz="900" b="1" dirty="0">
                <a:solidFill>
                  <a:srgbClr val="0000FF"/>
                </a:solidFill>
              </a:rPr>
              <a:t>40K</a:t>
            </a:r>
            <a:endParaRPr lang="ko-KR" altLang="en-US" sz="900" b="1" dirty="0">
              <a:solidFill>
                <a:srgbClr val="0000FF"/>
              </a:solidFill>
            </a:endParaRPr>
          </a:p>
        </p:txBody>
      </p:sp>
      <p:sp>
        <p:nvSpPr>
          <p:cNvPr id="155" name="TextBox 154"/>
          <p:cNvSpPr txBox="1"/>
          <p:nvPr/>
        </p:nvSpPr>
        <p:spPr>
          <a:xfrm>
            <a:off x="3602714" y="4061197"/>
            <a:ext cx="393056" cy="230832"/>
          </a:xfrm>
          <a:prstGeom prst="rect">
            <a:avLst/>
          </a:prstGeom>
          <a:noFill/>
        </p:spPr>
        <p:txBody>
          <a:bodyPr wrap="none" rtlCol="0">
            <a:spAutoFit/>
          </a:bodyPr>
          <a:lstStyle/>
          <a:p>
            <a:r>
              <a:rPr lang="en-US" altLang="ko-KR" sz="900" b="1" dirty="0">
                <a:solidFill>
                  <a:srgbClr val="0000FF"/>
                </a:solidFill>
              </a:rPr>
              <a:t>20K</a:t>
            </a:r>
            <a:endParaRPr lang="ko-KR" altLang="en-US" sz="900" b="1" dirty="0">
              <a:solidFill>
                <a:srgbClr val="0000FF"/>
              </a:solidFill>
            </a:endParaRPr>
          </a:p>
        </p:txBody>
      </p:sp>
      <p:sp>
        <p:nvSpPr>
          <p:cNvPr id="156" name="직사각형 155"/>
          <p:cNvSpPr/>
          <p:nvPr/>
        </p:nvSpPr>
        <p:spPr>
          <a:xfrm>
            <a:off x="1928982" y="4967987"/>
            <a:ext cx="721672" cy="253916"/>
          </a:xfrm>
          <a:prstGeom prst="rect">
            <a:avLst/>
          </a:prstGeom>
        </p:spPr>
        <p:txBody>
          <a:bodyPr wrap="none">
            <a:spAutoFit/>
          </a:bodyPr>
          <a:lstStyle/>
          <a:p>
            <a:pPr algn="ctr"/>
            <a:r>
              <a:rPr lang="en-US" altLang="ko-KR" sz="1050" b="1" dirty="0" err="1"/>
              <a:t>KVcache</a:t>
            </a:r>
            <a:endParaRPr lang="ko-KR" altLang="en-US" sz="1050" b="1" dirty="0"/>
          </a:p>
        </p:txBody>
      </p:sp>
      <p:sp>
        <p:nvSpPr>
          <p:cNvPr id="157" name="Shape 11"/>
          <p:cNvSpPr/>
          <p:nvPr/>
        </p:nvSpPr>
        <p:spPr>
          <a:xfrm>
            <a:off x="3240771" y="2496002"/>
            <a:ext cx="287430" cy="107804"/>
          </a:xfrm>
          <a:prstGeom prst="roundRect">
            <a:avLst/>
          </a:prstGeom>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endParaRPr lang="ko-KR" altLang="en-US" sz="800" dirty="0"/>
          </a:p>
        </p:txBody>
      </p:sp>
      <p:sp>
        <p:nvSpPr>
          <p:cNvPr id="158" name="Shape 11"/>
          <p:cNvSpPr/>
          <p:nvPr/>
        </p:nvSpPr>
        <p:spPr>
          <a:xfrm>
            <a:off x="2854657" y="4063676"/>
            <a:ext cx="822448" cy="245963"/>
          </a:xfrm>
          <a:prstGeom prst="roundRect">
            <a:avLst/>
          </a:prstGeom>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r>
              <a:rPr lang="ko-KR" altLang="en-US" sz="800" dirty="0"/>
              <a:t>수정된 </a:t>
            </a:r>
            <a:r>
              <a:rPr lang="en-US" altLang="ko-KR" sz="800" dirty="0"/>
              <a:t>Code</a:t>
            </a:r>
            <a:endParaRPr lang="ko-KR" altLang="en-US" sz="800" dirty="0"/>
          </a:p>
        </p:txBody>
      </p:sp>
      <p:sp>
        <p:nvSpPr>
          <p:cNvPr id="159" name="모서리가 둥근 직사각형 158"/>
          <p:cNvSpPr/>
          <p:nvPr/>
        </p:nvSpPr>
        <p:spPr>
          <a:xfrm>
            <a:off x="4163641" y="3068649"/>
            <a:ext cx="793071" cy="301309"/>
          </a:xfrm>
          <a:prstGeom prst="roundRect">
            <a:avLst/>
          </a:prstGeom>
          <a:solidFill>
            <a:schemeClr val="bg1">
              <a:lumMod val="95000"/>
            </a:schemeClr>
          </a:solidFill>
          <a:ln>
            <a:solidFill>
              <a:schemeClr val="tx1"/>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altLang="ko-KR" sz="1200" dirty="0">
                <a:solidFill>
                  <a:schemeClr val="tx1"/>
                </a:solidFill>
              </a:rPr>
              <a:t>LLM</a:t>
            </a:r>
            <a:endParaRPr lang="ko-KR" altLang="en-US" sz="1600" dirty="0">
              <a:solidFill>
                <a:schemeClr val="tx1"/>
              </a:solidFill>
            </a:endParaRPr>
          </a:p>
        </p:txBody>
      </p:sp>
      <p:sp>
        <p:nvSpPr>
          <p:cNvPr id="160" name="모서리가 둥근 직사각형 159"/>
          <p:cNvSpPr/>
          <p:nvPr/>
        </p:nvSpPr>
        <p:spPr>
          <a:xfrm>
            <a:off x="4166200" y="3616419"/>
            <a:ext cx="790513" cy="378089"/>
          </a:xfrm>
          <a:prstGeom prst="round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ko-KR" altLang="en-US" sz="900" dirty="0"/>
              <a:t>컴파일러</a:t>
            </a:r>
            <a:r>
              <a:rPr lang="en-US" altLang="ko-KR" sz="900" dirty="0"/>
              <a:t> </a:t>
            </a:r>
            <a:r>
              <a:rPr lang="ko-KR" altLang="en-US" sz="900" dirty="0"/>
              <a:t>수행</a:t>
            </a:r>
          </a:p>
        </p:txBody>
      </p:sp>
      <p:cxnSp>
        <p:nvCxnSpPr>
          <p:cNvPr id="161" name="직선 화살표 연결선 160"/>
          <p:cNvCxnSpPr/>
          <p:nvPr/>
        </p:nvCxnSpPr>
        <p:spPr>
          <a:xfrm>
            <a:off x="4560176" y="3383652"/>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62" name="그룹 161"/>
          <p:cNvGrpSpPr/>
          <p:nvPr/>
        </p:nvGrpSpPr>
        <p:grpSpPr>
          <a:xfrm>
            <a:off x="4193972" y="2433644"/>
            <a:ext cx="717501" cy="396335"/>
            <a:chOff x="229017" y="2606169"/>
            <a:chExt cx="846286" cy="396335"/>
          </a:xfrm>
        </p:grpSpPr>
        <p:sp>
          <p:nvSpPr>
            <p:cNvPr id="163" name="순서도: 문서 162"/>
            <p:cNvSpPr/>
            <p:nvPr/>
          </p:nvSpPr>
          <p:spPr>
            <a:xfrm>
              <a:off x="229017" y="2606169"/>
              <a:ext cx="846286" cy="396335"/>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a:p>
          </p:txBody>
        </p:sp>
        <p:sp>
          <p:nvSpPr>
            <p:cNvPr id="164" name="Shape 11"/>
            <p:cNvSpPr/>
            <p:nvPr/>
          </p:nvSpPr>
          <p:spPr>
            <a:xfrm>
              <a:off x="277725" y="2667804"/>
              <a:ext cx="319352" cy="108539"/>
            </a:xfrm>
            <a:prstGeom prst="roundRect">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sp>
          <p:nvSpPr>
            <p:cNvPr id="165" name="Shape 11"/>
            <p:cNvSpPr/>
            <p:nvPr/>
          </p:nvSpPr>
          <p:spPr>
            <a:xfrm>
              <a:off x="277725" y="2794601"/>
              <a:ext cx="319352" cy="108539"/>
            </a:xfrm>
            <a:prstGeom prst="roundRect">
              <a:avLst/>
            </a:prstGeom>
            <a:solidFill>
              <a:schemeClr val="accent2">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grpSp>
      <p:cxnSp>
        <p:nvCxnSpPr>
          <p:cNvPr id="166" name="직선 화살표 연결선 165"/>
          <p:cNvCxnSpPr/>
          <p:nvPr/>
        </p:nvCxnSpPr>
        <p:spPr>
          <a:xfrm>
            <a:off x="4560176" y="2844961"/>
            <a:ext cx="3529" cy="20732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a:off x="4217445" y="2213266"/>
            <a:ext cx="581951" cy="230832"/>
          </a:xfrm>
          <a:prstGeom prst="rect">
            <a:avLst/>
          </a:prstGeom>
          <a:noFill/>
        </p:spPr>
        <p:txBody>
          <a:bodyPr wrap="none" rtlCol="0">
            <a:spAutoFit/>
          </a:bodyPr>
          <a:lstStyle/>
          <a:p>
            <a:r>
              <a:rPr lang="ko-KR" altLang="en-US" sz="900" dirty="0"/>
              <a:t>입력 토큰</a:t>
            </a:r>
          </a:p>
        </p:txBody>
      </p:sp>
      <p:sp>
        <p:nvSpPr>
          <p:cNvPr id="168" name="TextBox 167"/>
          <p:cNvSpPr txBox="1"/>
          <p:nvPr/>
        </p:nvSpPr>
        <p:spPr>
          <a:xfrm>
            <a:off x="4844396" y="2488367"/>
            <a:ext cx="393056" cy="230832"/>
          </a:xfrm>
          <a:prstGeom prst="rect">
            <a:avLst/>
          </a:prstGeom>
          <a:noFill/>
        </p:spPr>
        <p:txBody>
          <a:bodyPr wrap="none" rtlCol="0">
            <a:spAutoFit/>
          </a:bodyPr>
          <a:lstStyle/>
          <a:p>
            <a:r>
              <a:rPr lang="en-US" altLang="ko-KR" sz="900" b="1" dirty="0">
                <a:solidFill>
                  <a:srgbClr val="0000FF"/>
                </a:solidFill>
              </a:rPr>
              <a:t>60K</a:t>
            </a:r>
            <a:endParaRPr lang="ko-KR" altLang="en-US" sz="900" b="1" dirty="0">
              <a:solidFill>
                <a:srgbClr val="0000FF"/>
              </a:solidFill>
            </a:endParaRPr>
          </a:p>
        </p:txBody>
      </p:sp>
      <p:sp>
        <p:nvSpPr>
          <p:cNvPr id="169" name="TextBox 168"/>
          <p:cNvSpPr txBox="1"/>
          <p:nvPr/>
        </p:nvSpPr>
        <p:spPr>
          <a:xfrm>
            <a:off x="4913005" y="4057248"/>
            <a:ext cx="393056" cy="230832"/>
          </a:xfrm>
          <a:prstGeom prst="rect">
            <a:avLst/>
          </a:prstGeom>
          <a:noFill/>
        </p:spPr>
        <p:txBody>
          <a:bodyPr wrap="none" rtlCol="0">
            <a:spAutoFit/>
          </a:bodyPr>
          <a:lstStyle/>
          <a:p>
            <a:r>
              <a:rPr lang="en-US" altLang="ko-KR" sz="900" b="1" dirty="0">
                <a:solidFill>
                  <a:srgbClr val="0000FF"/>
                </a:solidFill>
              </a:rPr>
              <a:t>10K</a:t>
            </a:r>
            <a:endParaRPr lang="ko-KR" altLang="en-US" sz="900" b="1" dirty="0">
              <a:solidFill>
                <a:srgbClr val="0000FF"/>
              </a:solidFill>
            </a:endParaRPr>
          </a:p>
        </p:txBody>
      </p:sp>
      <p:sp>
        <p:nvSpPr>
          <p:cNvPr id="170" name="Shape 11"/>
          <p:cNvSpPr/>
          <p:nvPr/>
        </p:nvSpPr>
        <p:spPr>
          <a:xfrm>
            <a:off x="4523687" y="2492053"/>
            <a:ext cx="287430" cy="107804"/>
          </a:xfrm>
          <a:prstGeom prst="roundRect">
            <a:avLst/>
          </a:prstGeom>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endParaRPr lang="ko-KR" altLang="en-US" sz="800" dirty="0"/>
          </a:p>
        </p:txBody>
      </p:sp>
      <p:sp>
        <p:nvSpPr>
          <p:cNvPr id="171" name="Shape 11"/>
          <p:cNvSpPr/>
          <p:nvPr/>
        </p:nvSpPr>
        <p:spPr>
          <a:xfrm>
            <a:off x="4164591" y="4065789"/>
            <a:ext cx="822448" cy="245963"/>
          </a:xfrm>
          <a:prstGeom prst="roundRect">
            <a:avLst/>
          </a:prstGeom>
          <a:solidFill>
            <a:schemeClr val="accent5">
              <a:lumMod val="20000"/>
              <a:lumOff val="80000"/>
            </a:schemeClr>
          </a:solidFill>
          <a:ln/>
        </p:spPr>
        <p:style>
          <a:lnRef idx="2">
            <a:schemeClr val="dk1"/>
          </a:lnRef>
          <a:fillRef idx="1">
            <a:schemeClr val="lt1"/>
          </a:fillRef>
          <a:effectRef idx="0">
            <a:schemeClr val="dk1"/>
          </a:effectRef>
          <a:fontRef idx="minor">
            <a:schemeClr val="dk1"/>
          </a:fontRef>
        </p:style>
        <p:txBody>
          <a:bodyPr/>
          <a:lstStyle/>
          <a:p>
            <a:pPr algn="ctr"/>
            <a:r>
              <a:rPr lang="ko-KR" altLang="en-US" sz="800" dirty="0"/>
              <a:t>결과 로그</a:t>
            </a:r>
          </a:p>
        </p:txBody>
      </p:sp>
      <p:sp>
        <p:nvSpPr>
          <p:cNvPr id="172" name="Shape 11"/>
          <p:cNvSpPr/>
          <p:nvPr/>
        </p:nvSpPr>
        <p:spPr>
          <a:xfrm>
            <a:off x="4521980" y="2618816"/>
            <a:ext cx="287430" cy="107804"/>
          </a:xfrm>
          <a:prstGeom prst="roundRect">
            <a:avLst/>
          </a:prstGeom>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endParaRPr lang="ko-KR" altLang="en-US" sz="800" dirty="0"/>
          </a:p>
        </p:txBody>
      </p:sp>
      <p:grpSp>
        <p:nvGrpSpPr>
          <p:cNvPr id="174" name="그룹 173"/>
          <p:cNvGrpSpPr/>
          <p:nvPr/>
        </p:nvGrpSpPr>
        <p:grpSpPr>
          <a:xfrm>
            <a:off x="290411" y="2074512"/>
            <a:ext cx="929544" cy="503298"/>
            <a:chOff x="564349" y="2954709"/>
            <a:chExt cx="929544" cy="503298"/>
          </a:xfrm>
        </p:grpSpPr>
        <p:grpSp>
          <p:nvGrpSpPr>
            <p:cNvPr id="175" name="그룹 174"/>
            <p:cNvGrpSpPr/>
            <p:nvPr/>
          </p:nvGrpSpPr>
          <p:grpSpPr>
            <a:xfrm>
              <a:off x="564349" y="2954709"/>
              <a:ext cx="929544" cy="503298"/>
              <a:chOff x="4672019" y="5565493"/>
              <a:chExt cx="2162985" cy="886402"/>
            </a:xfrm>
          </p:grpSpPr>
          <p:sp>
            <p:nvSpPr>
              <p:cNvPr id="241" name="Shape 11"/>
              <p:cNvSpPr/>
              <p:nvPr/>
            </p:nvSpPr>
            <p:spPr>
              <a:xfrm>
                <a:off x="4672019" y="5565493"/>
                <a:ext cx="2162985" cy="886402"/>
              </a:xfrm>
              <a:prstGeom prst="roundRect">
                <a:avLst/>
              </a:prstGeom>
              <a:solidFill>
                <a:schemeClr val="accent1">
                  <a:lumMod val="60000"/>
                  <a:lumOff val="4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700" dirty="0"/>
              </a:p>
            </p:txBody>
          </p:sp>
          <p:sp>
            <p:nvSpPr>
              <p:cNvPr id="244" name="모서리가 둥근 직사각형 243"/>
              <p:cNvSpPr/>
              <p:nvPr/>
            </p:nvSpPr>
            <p:spPr>
              <a:xfrm>
                <a:off x="4793935" y="5701940"/>
                <a:ext cx="1154414" cy="312183"/>
              </a:xfrm>
              <a:prstGeom prst="roundRect">
                <a:avLst/>
              </a:prstGeom>
              <a:solidFill>
                <a:schemeClr val="bg1"/>
              </a:solidFill>
              <a:ln>
                <a:noFill/>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600" b="1" dirty="0">
                    <a:solidFill>
                      <a:schemeClr val="tx1"/>
                    </a:solidFill>
                  </a:rPr>
                  <a:t>Sys. Prompt</a:t>
                </a:r>
                <a:endParaRPr lang="ko-KR" altLang="en-US" sz="600" b="1" dirty="0">
                  <a:solidFill>
                    <a:schemeClr val="tx1"/>
                  </a:solidFill>
                </a:endParaRPr>
              </a:p>
            </p:txBody>
          </p:sp>
          <p:sp>
            <p:nvSpPr>
              <p:cNvPr id="247" name="직사각형 246"/>
              <p:cNvSpPr/>
              <p:nvPr/>
            </p:nvSpPr>
            <p:spPr>
              <a:xfrm>
                <a:off x="5052079" y="6045358"/>
                <a:ext cx="1339845" cy="352334"/>
              </a:xfrm>
              <a:prstGeom prst="rect">
                <a:avLst/>
              </a:prstGeom>
            </p:spPr>
            <p:txBody>
              <a:bodyPr wrap="none">
                <a:spAutoFit/>
              </a:bodyPr>
              <a:lstStyle/>
              <a:p>
                <a:pPr algn="ctr"/>
                <a:r>
                  <a:rPr lang="ko-KR" altLang="en-US" sz="700" dirty="0"/>
                  <a:t>공통 입력</a:t>
                </a:r>
              </a:p>
            </p:txBody>
          </p:sp>
          <p:sp>
            <p:nvSpPr>
              <p:cNvPr id="249" name="모서리가 둥근 직사각형 248"/>
              <p:cNvSpPr/>
              <p:nvPr/>
            </p:nvSpPr>
            <p:spPr>
              <a:xfrm>
                <a:off x="6034147" y="5696511"/>
                <a:ext cx="648457" cy="312183"/>
              </a:xfrm>
              <a:prstGeom prst="roundRect">
                <a:avLst/>
              </a:prstGeom>
              <a:solidFill>
                <a:schemeClr val="bg1"/>
              </a:solidFill>
              <a:ln>
                <a:no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sz="600" dirty="0">
                  <a:solidFill>
                    <a:schemeClr val="tx1"/>
                  </a:solidFill>
                </a:endParaRPr>
              </a:p>
            </p:txBody>
          </p:sp>
        </p:grpSp>
        <p:sp>
          <p:nvSpPr>
            <p:cNvPr id="176" name="직사각형 175"/>
            <p:cNvSpPr/>
            <p:nvPr/>
          </p:nvSpPr>
          <p:spPr>
            <a:xfrm>
              <a:off x="1123792" y="3018581"/>
              <a:ext cx="330540" cy="184666"/>
            </a:xfrm>
            <a:prstGeom prst="rect">
              <a:avLst/>
            </a:prstGeom>
          </p:spPr>
          <p:txBody>
            <a:bodyPr wrap="none">
              <a:spAutoFit/>
            </a:bodyPr>
            <a:lstStyle/>
            <a:p>
              <a:pPr algn="ctr"/>
              <a:r>
                <a:rPr lang="en-US" altLang="ko-KR" sz="600" b="1" dirty="0"/>
                <a:t>tool</a:t>
              </a:r>
              <a:endParaRPr lang="ko-KR" altLang="en-US" sz="600" b="1" dirty="0"/>
            </a:p>
          </p:txBody>
        </p:sp>
      </p:grpSp>
      <p:sp>
        <p:nvSpPr>
          <p:cNvPr id="251" name="순서도: 다중 문서 250"/>
          <p:cNvSpPr/>
          <p:nvPr/>
        </p:nvSpPr>
        <p:spPr>
          <a:xfrm>
            <a:off x="3544095" y="5065167"/>
            <a:ext cx="736040" cy="358013"/>
          </a:xfrm>
          <a:prstGeom prst="flowChartMultidocumen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ko-KR" altLang="en-US" sz="900" dirty="0"/>
              <a:t>중간</a:t>
            </a:r>
            <a:endParaRPr lang="en-US" altLang="ko-KR" sz="900" dirty="0"/>
          </a:p>
          <a:p>
            <a:pPr algn="ctr"/>
            <a:r>
              <a:rPr lang="ko-KR" altLang="en-US" sz="900" dirty="0"/>
              <a:t>기억</a:t>
            </a:r>
          </a:p>
        </p:txBody>
      </p:sp>
      <p:sp>
        <p:nvSpPr>
          <p:cNvPr id="252" name="TextBox 251"/>
          <p:cNvSpPr txBox="1"/>
          <p:nvPr/>
        </p:nvSpPr>
        <p:spPr>
          <a:xfrm>
            <a:off x="2700515" y="3390274"/>
            <a:ext cx="628698" cy="230832"/>
          </a:xfrm>
          <a:prstGeom prst="rect">
            <a:avLst/>
          </a:prstGeom>
          <a:noFill/>
        </p:spPr>
        <p:txBody>
          <a:bodyPr wrap="none" rtlCol="0">
            <a:spAutoFit/>
          </a:bodyPr>
          <a:lstStyle/>
          <a:p>
            <a:r>
              <a:rPr lang="en-US" altLang="ko-KR" sz="900" dirty="0"/>
              <a:t>SW </a:t>
            </a:r>
            <a:r>
              <a:rPr lang="ko-KR" altLang="en-US" sz="900" dirty="0"/>
              <a:t>호출</a:t>
            </a:r>
          </a:p>
        </p:txBody>
      </p:sp>
      <p:sp>
        <p:nvSpPr>
          <p:cNvPr id="253" name="TextBox 252"/>
          <p:cNvSpPr txBox="1"/>
          <p:nvPr/>
        </p:nvSpPr>
        <p:spPr>
          <a:xfrm>
            <a:off x="3997251" y="3384668"/>
            <a:ext cx="628698" cy="230832"/>
          </a:xfrm>
          <a:prstGeom prst="rect">
            <a:avLst/>
          </a:prstGeom>
          <a:noFill/>
        </p:spPr>
        <p:txBody>
          <a:bodyPr wrap="none" rtlCol="0">
            <a:spAutoFit/>
          </a:bodyPr>
          <a:lstStyle/>
          <a:p>
            <a:r>
              <a:rPr lang="en-US" altLang="ko-KR" sz="900" dirty="0"/>
              <a:t>SW </a:t>
            </a:r>
            <a:r>
              <a:rPr lang="ko-KR" altLang="en-US" sz="900" dirty="0"/>
              <a:t>호출</a:t>
            </a:r>
          </a:p>
        </p:txBody>
      </p:sp>
      <p:sp>
        <p:nvSpPr>
          <p:cNvPr id="254" name="Shape 11"/>
          <p:cNvSpPr/>
          <p:nvPr/>
        </p:nvSpPr>
        <p:spPr>
          <a:xfrm>
            <a:off x="2815571" y="5142084"/>
            <a:ext cx="319352" cy="108539"/>
          </a:xfrm>
          <a:prstGeom prst="roundRect">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sp>
        <p:nvSpPr>
          <p:cNvPr id="255" name="Shape 11"/>
          <p:cNvSpPr/>
          <p:nvPr/>
        </p:nvSpPr>
        <p:spPr>
          <a:xfrm>
            <a:off x="2815571" y="5268881"/>
            <a:ext cx="319352" cy="108539"/>
          </a:xfrm>
          <a:prstGeom prst="roundRect">
            <a:avLst/>
          </a:prstGeom>
          <a:solidFill>
            <a:schemeClr val="accent2">
              <a:lumMod val="40000"/>
              <a:lumOff val="60000"/>
            </a:schemeClr>
          </a:solidFill>
          <a:ln>
            <a:noFill/>
          </a:ln>
        </p:spPr>
        <p:style>
          <a:lnRef idx="2">
            <a:schemeClr val="dk1"/>
          </a:lnRef>
          <a:fillRef idx="1">
            <a:schemeClr val="lt1"/>
          </a:fillRef>
          <a:effectRef idx="0">
            <a:schemeClr val="dk1"/>
          </a:effectRef>
          <a:fontRef idx="minor">
            <a:schemeClr val="dk1"/>
          </a:fontRef>
        </p:style>
        <p:txBody>
          <a:bodyPr/>
          <a:lstStyle/>
          <a:p>
            <a:pPr algn="ctr"/>
            <a:endParaRPr lang="ko-KR" altLang="en-US" sz="1050" dirty="0"/>
          </a:p>
        </p:txBody>
      </p:sp>
      <p:sp>
        <p:nvSpPr>
          <p:cNvPr id="256" name="Shape 11"/>
          <p:cNvSpPr/>
          <p:nvPr/>
        </p:nvSpPr>
        <p:spPr>
          <a:xfrm>
            <a:off x="3168391" y="5142029"/>
            <a:ext cx="287430" cy="107804"/>
          </a:xfrm>
          <a:prstGeom prst="roundRect">
            <a:avLst/>
          </a:prstGeom>
          <a:solidFill>
            <a:schemeClr val="accent6">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endParaRPr lang="ko-KR" altLang="en-US" sz="800" dirty="0"/>
          </a:p>
        </p:txBody>
      </p:sp>
      <p:sp>
        <p:nvSpPr>
          <p:cNvPr id="257" name="Shape 11"/>
          <p:cNvSpPr/>
          <p:nvPr/>
        </p:nvSpPr>
        <p:spPr>
          <a:xfrm>
            <a:off x="3166433" y="5271932"/>
            <a:ext cx="287430" cy="107804"/>
          </a:xfrm>
          <a:prstGeom prst="roundRect">
            <a:avLst/>
          </a:prstGeom>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a:lstStyle/>
          <a:p>
            <a:pPr algn="ctr"/>
            <a:endParaRPr lang="ko-KR" altLang="en-US" sz="800" dirty="0"/>
          </a:p>
        </p:txBody>
      </p:sp>
      <p:sp>
        <p:nvSpPr>
          <p:cNvPr id="258" name="모서리가 둥근 직사각형 257"/>
          <p:cNvSpPr/>
          <p:nvPr/>
        </p:nvSpPr>
        <p:spPr>
          <a:xfrm>
            <a:off x="2050589" y="1781246"/>
            <a:ext cx="2370622" cy="25431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t>Agent Controller</a:t>
            </a:r>
            <a:endParaRPr lang="ko-KR" altLang="en-US" sz="1200" dirty="0"/>
          </a:p>
        </p:txBody>
      </p:sp>
      <p:sp>
        <p:nvSpPr>
          <p:cNvPr id="259" name="TextBox 258"/>
          <p:cNvSpPr txBox="1"/>
          <p:nvPr/>
        </p:nvSpPr>
        <p:spPr>
          <a:xfrm>
            <a:off x="1338619" y="2020905"/>
            <a:ext cx="364202" cy="307777"/>
          </a:xfrm>
          <a:prstGeom prst="rect">
            <a:avLst/>
          </a:prstGeom>
          <a:noFill/>
        </p:spPr>
        <p:txBody>
          <a:bodyPr wrap="none" rtlCol="0">
            <a:spAutoFit/>
          </a:bodyPr>
          <a:lstStyle/>
          <a:p>
            <a:r>
              <a:rPr lang="ko-KR" altLang="en-US" sz="1400" dirty="0"/>
              <a:t>①</a:t>
            </a:r>
          </a:p>
        </p:txBody>
      </p:sp>
      <p:sp>
        <p:nvSpPr>
          <p:cNvPr id="260" name="직사각형 259"/>
          <p:cNvSpPr/>
          <p:nvPr/>
        </p:nvSpPr>
        <p:spPr>
          <a:xfrm>
            <a:off x="2679927" y="2024651"/>
            <a:ext cx="364202" cy="307777"/>
          </a:xfrm>
          <a:prstGeom prst="rect">
            <a:avLst/>
          </a:prstGeom>
        </p:spPr>
        <p:txBody>
          <a:bodyPr wrap="none">
            <a:spAutoFit/>
          </a:bodyPr>
          <a:lstStyle/>
          <a:p>
            <a:r>
              <a:rPr lang="ko-KR" altLang="en-US" sz="1400" dirty="0"/>
              <a:t>②</a:t>
            </a:r>
          </a:p>
        </p:txBody>
      </p:sp>
      <p:sp>
        <p:nvSpPr>
          <p:cNvPr id="261" name="직사각형 260"/>
          <p:cNvSpPr/>
          <p:nvPr/>
        </p:nvSpPr>
        <p:spPr>
          <a:xfrm>
            <a:off x="4015288" y="2042430"/>
            <a:ext cx="364202" cy="307777"/>
          </a:xfrm>
          <a:prstGeom prst="rect">
            <a:avLst/>
          </a:prstGeom>
        </p:spPr>
        <p:txBody>
          <a:bodyPr wrap="none">
            <a:spAutoFit/>
          </a:bodyPr>
          <a:lstStyle/>
          <a:p>
            <a:r>
              <a:rPr lang="ko-KR" altLang="en-US" sz="1400" dirty="0"/>
              <a:t>③</a:t>
            </a:r>
          </a:p>
        </p:txBody>
      </p:sp>
      <p:sp>
        <p:nvSpPr>
          <p:cNvPr id="262" name="TextBox 261"/>
          <p:cNvSpPr txBox="1"/>
          <p:nvPr/>
        </p:nvSpPr>
        <p:spPr>
          <a:xfrm>
            <a:off x="5206270" y="2984458"/>
            <a:ext cx="356188" cy="369332"/>
          </a:xfrm>
          <a:prstGeom prst="rect">
            <a:avLst/>
          </a:prstGeom>
          <a:noFill/>
        </p:spPr>
        <p:txBody>
          <a:bodyPr wrap="none" rtlCol="0">
            <a:spAutoFit/>
          </a:bodyPr>
          <a:lstStyle/>
          <a:p>
            <a:pPr algn="ctr"/>
            <a:r>
              <a:rPr lang="en-US" altLang="ko-KR" dirty="0"/>
              <a:t>…</a:t>
            </a:r>
            <a:endParaRPr lang="ko-KR" altLang="en-US" dirty="0"/>
          </a:p>
        </p:txBody>
      </p:sp>
      <p:sp>
        <p:nvSpPr>
          <p:cNvPr id="344" name="TextBox 343"/>
          <p:cNvSpPr txBox="1"/>
          <p:nvPr/>
        </p:nvSpPr>
        <p:spPr>
          <a:xfrm>
            <a:off x="6235259" y="681476"/>
            <a:ext cx="5557932" cy="507831"/>
          </a:xfrm>
          <a:prstGeom prst="rect">
            <a:avLst/>
          </a:prstGeom>
          <a:noFill/>
        </p:spPr>
        <p:txBody>
          <a:bodyPr wrap="none" rtlCol="0">
            <a:spAutoFit/>
          </a:bodyPr>
          <a:lstStyle/>
          <a:p>
            <a:pPr>
              <a:lnSpc>
                <a:spcPct val="150000"/>
              </a:lnSpc>
            </a:pPr>
            <a:r>
              <a:rPr lang="en-US" altLang="ko-KR" sz="900" b="1" dirty="0"/>
              <a:t>KV Cache</a:t>
            </a:r>
            <a:r>
              <a:rPr lang="ko-KR" altLang="en-US" sz="900" b="1" dirty="0"/>
              <a:t>란</a:t>
            </a:r>
            <a:r>
              <a:rPr lang="en-US" altLang="ko-KR" sz="900" b="1" dirty="0"/>
              <a:t>? </a:t>
            </a:r>
            <a:r>
              <a:rPr lang="en-US" altLang="ko-KR" sz="1000" b="1" dirty="0"/>
              <a:t> </a:t>
            </a:r>
          </a:p>
          <a:p>
            <a:pPr>
              <a:lnSpc>
                <a:spcPct val="150000"/>
              </a:lnSpc>
            </a:pPr>
            <a:r>
              <a:rPr lang="ko-KR" altLang="en-US" sz="800" b="1" dirty="0">
                <a:solidFill>
                  <a:srgbClr val="2E75B6"/>
                </a:solidFill>
                <a:ea typeface="맑은 고딕"/>
                <a:cs typeface="맑은 고딕"/>
              </a:rPr>
              <a:t>앞서 처리한 토큰의 정보</a:t>
            </a:r>
            <a:r>
              <a:rPr lang="en-US" altLang="ko-KR" sz="800" b="1" dirty="0">
                <a:solidFill>
                  <a:srgbClr val="2E75B6"/>
                </a:solidFill>
                <a:ea typeface="맑은 고딕"/>
                <a:cs typeface="맑은 고딕"/>
              </a:rPr>
              <a:t>(Key, Value)</a:t>
            </a:r>
            <a:r>
              <a:rPr lang="ko-KR" altLang="en-US" sz="800" b="1" dirty="0">
                <a:solidFill>
                  <a:srgbClr val="2E75B6"/>
                </a:solidFill>
                <a:ea typeface="맑은 고딕"/>
                <a:cs typeface="맑은 고딕"/>
              </a:rPr>
              <a:t>를 저장해</a:t>
            </a:r>
            <a:r>
              <a:rPr lang="en-US" altLang="ko-KR" sz="800" b="1" dirty="0">
                <a:solidFill>
                  <a:srgbClr val="2E75B6"/>
                </a:solidFill>
                <a:ea typeface="맑은 고딕"/>
                <a:cs typeface="맑은 고딕"/>
              </a:rPr>
              <a:t>, </a:t>
            </a:r>
            <a:r>
              <a:rPr lang="ko-KR" altLang="en-US" sz="800" b="1" dirty="0">
                <a:solidFill>
                  <a:srgbClr val="2E75B6"/>
                </a:solidFill>
                <a:ea typeface="맑은 고딕"/>
                <a:cs typeface="맑은 고딕"/>
              </a:rPr>
              <a:t>다음 토큰을 생성할 때 다시 계산하지 않고 이를 재사용하는 메모리 </a:t>
            </a:r>
          </a:p>
        </p:txBody>
      </p:sp>
      <p:sp>
        <p:nvSpPr>
          <p:cNvPr id="349" name="TextBox 348">
            <a:extLst>
              <a:ext uri="{FF2B5EF4-FFF2-40B4-BE49-F238E27FC236}">
                <a16:creationId xmlns:a16="http://schemas.microsoft.com/office/drawing/2014/main" id="{2EC42A33-9893-4D8E-910B-050395EAAA28}"/>
              </a:ext>
            </a:extLst>
          </p:cNvPr>
          <p:cNvSpPr txBox="1"/>
          <p:nvPr/>
        </p:nvSpPr>
        <p:spPr>
          <a:xfrm>
            <a:off x="6842933" y="3484613"/>
            <a:ext cx="3153336" cy="163443"/>
          </a:xfrm>
          <a:prstGeom prst="rect">
            <a:avLst/>
          </a:prstGeom>
          <a:noFill/>
        </p:spPr>
        <p:txBody>
          <a:bodyPr wrap="square" lIns="0" tIns="0" rIns="0" bIns="0" anchor="t">
            <a:spAutoFit/>
          </a:bodyPr>
          <a:lstStyle/>
          <a:p>
            <a:pPr algn="l">
              <a:lnSpc>
                <a:spcPct val="118000"/>
              </a:lnSpc>
              <a:spcAft>
                <a:spcPts val="0"/>
              </a:spcAft>
            </a:pPr>
            <a:r>
              <a:rPr lang="en-US" altLang="ko-KR" sz="900" b="1" dirty="0">
                <a:solidFill>
                  <a:srgbClr val="000000"/>
                </a:solidFill>
                <a:latin typeface="맑은 고딕"/>
                <a:ea typeface="맑은 고딕"/>
                <a:cs typeface="맑은 고딕"/>
              </a:rPr>
              <a:t>Context</a:t>
            </a:r>
            <a:r>
              <a:rPr lang="ko-KR" altLang="en-US" sz="900" b="1" dirty="0">
                <a:solidFill>
                  <a:srgbClr val="000000"/>
                </a:solidFill>
                <a:latin typeface="맑은 고딕"/>
                <a:ea typeface="맑은 고딕"/>
                <a:cs typeface="맑은 고딕"/>
              </a:rPr>
              <a:t>가 길어질수록 </a:t>
            </a:r>
            <a:r>
              <a:rPr lang="en-US" sz="900" dirty="0">
                <a:solidFill>
                  <a:srgbClr val="595959"/>
                </a:solidFill>
                <a:latin typeface="맑은 고딕"/>
                <a:ea typeface="맑은 고딕"/>
                <a:cs typeface="맑은 고딕"/>
              </a:rPr>
              <a:t>KV </a:t>
            </a:r>
            <a:r>
              <a:rPr lang="ko-KR" altLang="en-US" sz="900" dirty="0">
                <a:solidFill>
                  <a:srgbClr val="595959"/>
                </a:solidFill>
                <a:latin typeface="맑은 고딕"/>
                <a:ea typeface="맑은 고딕"/>
                <a:cs typeface="맑은 고딕"/>
              </a:rPr>
              <a:t>캐시는 </a:t>
            </a:r>
            <a:r>
              <a:rPr sz="900" b="0" i="0" dirty="0" err="1">
                <a:solidFill>
                  <a:srgbClr val="595959"/>
                </a:solidFill>
                <a:latin typeface="맑은 고딕"/>
                <a:ea typeface="맑은 고딕"/>
                <a:cs typeface="맑은 고딕"/>
              </a:rPr>
              <a:t>정비례</a:t>
            </a:r>
            <a:r>
              <a:rPr lang="ko-KR" altLang="en-US" sz="900" b="0" i="0" dirty="0">
                <a:solidFill>
                  <a:srgbClr val="595959"/>
                </a:solidFill>
                <a:latin typeface="맑은 고딕"/>
                <a:ea typeface="맑은 고딕"/>
                <a:cs typeface="맑은 고딕"/>
              </a:rPr>
              <a:t>해</a:t>
            </a:r>
            <a:r>
              <a:rPr sz="900" b="0" i="0" dirty="0">
                <a:solidFill>
                  <a:srgbClr val="595959"/>
                </a:solidFill>
                <a:latin typeface="맑은 고딕"/>
                <a:ea typeface="맑은 고딕"/>
                <a:cs typeface="맑은 고딕"/>
              </a:rPr>
              <a:t> </a:t>
            </a:r>
            <a:r>
              <a:rPr lang="ko-KR" altLang="en-US" sz="900" b="0" i="0" dirty="0">
                <a:solidFill>
                  <a:srgbClr val="595959"/>
                </a:solidFill>
                <a:latin typeface="맑은 고딕"/>
                <a:ea typeface="맑은 고딕"/>
                <a:cs typeface="맑은 고딕"/>
              </a:rPr>
              <a:t>커짐</a:t>
            </a:r>
            <a:endParaRPr sz="900" b="0" i="0" dirty="0">
              <a:solidFill>
                <a:srgbClr val="595959"/>
              </a:solidFill>
              <a:latin typeface="맑은 고딕"/>
              <a:ea typeface="맑은 고딕"/>
              <a:cs typeface="맑은 고딕"/>
            </a:endParaRPr>
          </a:p>
        </p:txBody>
      </p:sp>
      <p:grpSp>
        <p:nvGrpSpPr>
          <p:cNvPr id="350" name="그룹 349">
            <a:extLst>
              <a:ext uri="{FF2B5EF4-FFF2-40B4-BE49-F238E27FC236}">
                <a16:creationId xmlns:a16="http://schemas.microsoft.com/office/drawing/2014/main" id="{2E92557A-B2D0-4101-8495-BA4801300065}"/>
              </a:ext>
            </a:extLst>
          </p:cNvPr>
          <p:cNvGrpSpPr/>
          <p:nvPr/>
        </p:nvGrpSpPr>
        <p:grpSpPr>
          <a:xfrm>
            <a:off x="9206612" y="3169497"/>
            <a:ext cx="1798696" cy="1054138"/>
            <a:chOff x="8961120" y="4013799"/>
            <a:chExt cx="2633472" cy="1159551"/>
          </a:xfrm>
        </p:grpSpPr>
        <p:sp>
          <p:nvSpPr>
            <p:cNvPr id="351" name="Rectangle 187">
              <a:extLst>
                <a:ext uri="{FF2B5EF4-FFF2-40B4-BE49-F238E27FC236}">
                  <a16:creationId xmlns:a16="http://schemas.microsoft.com/office/drawing/2014/main" id="{3554DD70-8403-4263-9973-C17BD23FFA3F}"/>
                </a:ext>
              </a:extLst>
            </p:cNvPr>
            <p:cNvSpPr/>
            <p:nvPr/>
          </p:nvSpPr>
          <p:spPr>
            <a:xfrm>
              <a:off x="9079992" y="4928199"/>
              <a:ext cx="420624"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100000"/>
                </a:lnSpc>
                <a:spcAft>
                  <a:spcPts val="0"/>
                </a:spcAft>
              </a:pPr>
              <a:endParaRPr sz="2000"/>
            </a:p>
          </p:txBody>
        </p:sp>
        <p:sp>
          <p:nvSpPr>
            <p:cNvPr id="352" name="TextBox 351">
              <a:extLst>
                <a:ext uri="{FF2B5EF4-FFF2-40B4-BE49-F238E27FC236}">
                  <a16:creationId xmlns:a16="http://schemas.microsoft.com/office/drawing/2014/main" id="{A7F23AF5-CE5C-497E-97EE-C02FCD224F87}"/>
                </a:ext>
              </a:extLst>
            </p:cNvPr>
            <p:cNvSpPr txBox="1"/>
            <p:nvPr/>
          </p:nvSpPr>
          <p:spPr>
            <a:xfrm>
              <a:off x="9081425" y="4745318"/>
              <a:ext cx="417759" cy="135422"/>
            </a:xfrm>
            <a:prstGeom prst="rect">
              <a:avLst/>
            </a:prstGeom>
            <a:noFill/>
          </p:spPr>
          <p:txBody>
            <a:bodyPr wrap="none" lIns="0" tIns="0" rIns="0" bIns="0" anchor="t">
              <a:spAutoFit/>
            </a:bodyPr>
            <a:lstStyle/>
            <a:p>
              <a:pPr algn="ctr">
                <a:lnSpc>
                  <a:spcPct val="100000"/>
                </a:lnSpc>
                <a:spcAft>
                  <a:spcPts val="0"/>
                </a:spcAft>
              </a:pPr>
              <a:r>
                <a:rPr sz="800" b="1" i="0">
                  <a:solidFill>
                    <a:srgbClr val="1F3864"/>
                  </a:solidFill>
                  <a:latin typeface="맑은 고딕"/>
                  <a:ea typeface="맑은 고딕"/>
                  <a:cs typeface="맑은 고딕"/>
                </a:rPr>
                <a:t>1.3GB</a:t>
              </a:r>
            </a:p>
          </p:txBody>
        </p:sp>
        <p:sp>
          <p:nvSpPr>
            <p:cNvPr id="353" name="TextBox 352">
              <a:extLst>
                <a:ext uri="{FF2B5EF4-FFF2-40B4-BE49-F238E27FC236}">
                  <a16:creationId xmlns:a16="http://schemas.microsoft.com/office/drawing/2014/main" id="{8B28B620-8E76-4B12-AF79-8A2E8F41DBC3}"/>
                </a:ext>
              </a:extLst>
            </p:cNvPr>
            <p:cNvSpPr txBox="1"/>
            <p:nvPr/>
          </p:nvSpPr>
          <p:spPr>
            <a:xfrm>
              <a:off x="9204639" y="5037928"/>
              <a:ext cx="171329" cy="135422"/>
            </a:xfrm>
            <a:prstGeom prst="rect">
              <a:avLst/>
            </a:prstGeom>
            <a:noFill/>
          </p:spPr>
          <p:txBody>
            <a:bodyPr wrap="none" lIns="0" tIns="0" rIns="0" bIns="0" anchor="t">
              <a:spAutoFit/>
            </a:bodyPr>
            <a:lstStyle/>
            <a:p>
              <a:pPr algn="ctr">
                <a:lnSpc>
                  <a:spcPct val="100000"/>
                </a:lnSpc>
                <a:spcAft>
                  <a:spcPts val="0"/>
                </a:spcAft>
              </a:pPr>
              <a:r>
                <a:rPr sz="800" b="0" i="0" dirty="0">
                  <a:solidFill>
                    <a:srgbClr val="595959"/>
                  </a:solidFill>
                  <a:latin typeface="맑은 고딕"/>
                  <a:ea typeface="맑은 고딕"/>
                  <a:cs typeface="맑은 고딕"/>
                </a:rPr>
                <a:t>4K</a:t>
              </a:r>
            </a:p>
          </p:txBody>
        </p:sp>
        <p:sp>
          <p:nvSpPr>
            <p:cNvPr id="354" name="Rectangle 190">
              <a:extLst>
                <a:ext uri="{FF2B5EF4-FFF2-40B4-BE49-F238E27FC236}">
                  <a16:creationId xmlns:a16="http://schemas.microsoft.com/office/drawing/2014/main" id="{9CA69AF3-4AD3-4314-89D1-BDB170B741BD}"/>
                </a:ext>
              </a:extLst>
            </p:cNvPr>
            <p:cNvSpPr/>
            <p:nvPr/>
          </p:nvSpPr>
          <p:spPr>
            <a:xfrm>
              <a:off x="9921240" y="4800184"/>
              <a:ext cx="420624" cy="20116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100000"/>
                </a:lnSpc>
                <a:spcAft>
                  <a:spcPts val="0"/>
                </a:spcAft>
              </a:pPr>
              <a:endParaRPr sz="2000"/>
            </a:p>
          </p:txBody>
        </p:sp>
        <p:sp>
          <p:nvSpPr>
            <p:cNvPr id="355" name="TextBox 354">
              <a:extLst>
                <a:ext uri="{FF2B5EF4-FFF2-40B4-BE49-F238E27FC236}">
                  <a16:creationId xmlns:a16="http://schemas.microsoft.com/office/drawing/2014/main" id="{C4873768-2636-4231-82A6-ECE495E5C0F7}"/>
                </a:ext>
              </a:extLst>
            </p:cNvPr>
            <p:cNvSpPr txBox="1"/>
            <p:nvPr/>
          </p:nvSpPr>
          <p:spPr>
            <a:xfrm>
              <a:off x="9942622" y="4617303"/>
              <a:ext cx="377859" cy="135422"/>
            </a:xfrm>
            <a:prstGeom prst="rect">
              <a:avLst/>
            </a:prstGeom>
            <a:noFill/>
          </p:spPr>
          <p:txBody>
            <a:bodyPr wrap="none" lIns="0" tIns="0" rIns="0" bIns="0" anchor="t">
              <a:spAutoFit/>
            </a:bodyPr>
            <a:lstStyle/>
            <a:p>
              <a:pPr algn="ctr">
                <a:lnSpc>
                  <a:spcPct val="100000"/>
                </a:lnSpc>
                <a:spcAft>
                  <a:spcPts val="0"/>
                </a:spcAft>
              </a:pPr>
              <a:r>
                <a:rPr sz="800" b="1" i="0">
                  <a:solidFill>
                    <a:srgbClr val="1F3864"/>
                  </a:solidFill>
                  <a:latin typeface="맑은 고딕"/>
                  <a:ea typeface="맑은 고딕"/>
                  <a:cs typeface="맑은 고딕"/>
                </a:rPr>
                <a:t>10GB</a:t>
              </a:r>
            </a:p>
          </p:txBody>
        </p:sp>
        <p:sp>
          <p:nvSpPr>
            <p:cNvPr id="356" name="TextBox 355">
              <a:extLst>
                <a:ext uri="{FF2B5EF4-FFF2-40B4-BE49-F238E27FC236}">
                  <a16:creationId xmlns:a16="http://schemas.microsoft.com/office/drawing/2014/main" id="{A5A98EF3-7D41-47D6-B9BA-026D65CB3BE9}"/>
                </a:ext>
              </a:extLst>
            </p:cNvPr>
            <p:cNvSpPr txBox="1"/>
            <p:nvPr/>
          </p:nvSpPr>
          <p:spPr>
            <a:xfrm>
              <a:off x="10004817" y="5037928"/>
              <a:ext cx="253471" cy="135422"/>
            </a:xfrm>
            <a:prstGeom prst="rect">
              <a:avLst/>
            </a:prstGeom>
            <a:noFill/>
          </p:spPr>
          <p:txBody>
            <a:bodyPr wrap="none" lIns="0" tIns="0" rIns="0" bIns="0" anchor="t">
              <a:spAutoFit/>
            </a:bodyPr>
            <a:lstStyle/>
            <a:p>
              <a:pPr algn="ctr">
                <a:lnSpc>
                  <a:spcPct val="100000"/>
                </a:lnSpc>
                <a:spcAft>
                  <a:spcPts val="0"/>
                </a:spcAft>
              </a:pPr>
              <a:r>
                <a:rPr sz="800" b="0" i="0" dirty="0">
                  <a:solidFill>
                    <a:srgbClr val="595959"/>
                  </a:solidFill>
                  <a:latin typeface="맑은 고딕"/>
                  <a:ea typeface="맑은 고딕"/>
                  <a:cs typeface="맑은 고딕"/>
                </a:rPr>
                <a:t>32K</a:t>
              </a:r>
            </a:p>
          </p:txBody>
        </p:sp>
        <p:sp>
          <p:nvSpPr>
            <p:cNvPr id="357" name="Rectangle 193">
              <a:extLst>
                <a:ext uri="{FF2B5EF4-FFF2-40B4-BE49-F238E27FC236}">
                  <a16:creationId xmlns:a16="http://schemas.microsoft.com/office/drawing/2014/main" id="{FECE394F-A6E3-490F-825E-7063A4D9B6B2}"/>
                </a:ext>
              </a:extLst>
            </p:cNvPr>
            <p:cNvSpPr/>
            <p:nvPr/>
          </p:nvSpPr>
          <p:spPr>
            <a:xfrm>
              <a:off x="10762488" y="4196679"/>
              <a:ext cx="420624"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100000"/>
                </a:lnSpc>
                <a:spcAft>
                  <a:spcPts val="0"/>
                </a:spcAft>
              </a:pPr>
              <a:endParaRPr sz="2000"/>
            </a:p>
          </p:txBody>
        </p:sp>
        <p:sp>
          <p:nvSpPr>
            <p:cNvPr id="358" name="TextBox 357">
              <a:extLst>
                <a:ext uri="{FF2B5EF4-FFF2-40B4-BE49-F238E27FC236}">
                  <a16:creationId xmlns:a16="http://schemas.microsoft.com/office/drawing/2014/main" id="{63F01EB6-6E32-4269-B423-B22982A6625B}"/>
                </a:ext>
              </a:extLst>
            </p:cNvPr>
            <p:cNvSpPr txBox="1"/>
            <p:nvPr/>
          </p:nvSpPr>
          <p:spPr>
            <a:xfrm>
              <a:off x="10783868" y="4013799"/>
              <a:ext cx="377859" cy="135422"/>
            </a:xfrm>
            <a:prstGeom prst="rect">
              <a:avLst/>
            </a:prstGeom>
            <a:noFill/>
          </p:spPr>
          <p:txBody>
            <a:bodyPr wrap="none" lIns="0" tIns="0" rIns="0" bIns="0" anchor="t">
              <a:spAutoFit/>
            </a:bodyPr>
            <a:lstStyle/>
            <a:p>
              <a:pPr algn="ctr">
                <a:lnSpc>
                  <a:spcPct val="100000"/>
                </a:lnSpc>
                <a:spcAft>
                  <a:spcPts val="0"/>
                </a:spcAft>
              </a:pPr>
              <a:r>
                <a:rPr sz="800" b="1" i="0" dirty="0">
                  <a:solidFill>
                    <a:srgbClr val="1F3864"/>
                  </a:solidFill>
                  <a:latin typeface="맑은 고딕"/>
                  <a:ea typeface="맑은 고딕"/>
                  <a:cs typeface="맑은 고딕"/>
                </a:rPr>
                <a:t>40GB</a:t>
              </a:r>
            </a:p>
          </p:txBody>
        </p:sp>
        <p:sp>
          <p:nvSpPr>
            <p:cNvPr id="359" name="TextBox 358">
              <a:extLst>
                <a:ext uri="{FF2B5EF4-FFF2-40B4-BE49-F238E27FC236}">
                  <a16:creationId xmlns:a16="http://schemas.microsoft.com/office/drawing/2014/main" id="{DF502650-A627-4B3C-ABCE-776E3007C308}"/>
                </a:ext>
              </a:extLst>
            </p:cNvPr>
            <p:cNvSpPr txBox="1"/>
            <p:nvPr/>
          </p:nvSpPr>
          <p:spPr>
            <a:xfrm>
              <a:off x="10627798" y="5037928"/>
              <a:ext cx="690007" cy="135422"/>
            </a:xfrm>
            <a:prstGeom prst="rect">
              <a:avLst/>
            </a:prstGeom>
            <a:noFill/>
          </p:spPr>
          <p:txBody>
            <a:bodyPr wrap="none" lIns="0" tIns="0" rIns="0" bIns="0" anchor="t">
              <a:spAutoFit/>
            </a:bodyPr>
            <a:lstStyle/>
            <a:p>
              <a:pPr algn="ctr">
                <a:lnSpc>
                  <a:spcPct val="100000"/>
                </a:lnSpc>
                <a:spcAft>
                  <a:spcPts val="0"/>
                </a:spcAft>
              </a:pPr>
              <a:r>
                <a:rPr sz="800" b="0" i="0" dirty="0">
                  <a:solidFill>
                    <a:srgbClr val="595959"/>
                  </a:solidFill>
                  <a:latin typeface="맑은 고딕"/>
                  <a:ea typeface="맑은 고딕"/>
                  <a:cs typeface="맑은 고딕"/>
                </a:rPr>
                <a:t>128K </a:t>
              </a:r>
              <a:r>
                <a:rPr sz="800" b="0" i="0" dirty="0" err="1">
                  <a:solidFill>
                    <a:srgbClr val="595959"/>
                  </a:solidFill>
                  <a:latin typeface="맑은 고딕"/>
                  <a:ea typeface="맑은 고딕"/>
                  <a:cs typeface="맑은 고딕"/>
                </a:rPr>
                <a:t>토큰</a:t>
              </a:r>
              <a:endParaRPr sz="800" b="0" i="0" dirty="0">
                <a:solidFill>
                  <a:srgbClr val="595959"/>
                </a:solidFill>
                <a:latin typeface="맑은 고딕"/>
                <a:ea typeface="맑은 고딕"/>
                <a:cs typeface="맑은 고딕"/>
              </a:endParaRPr>
            </a:p>
          </p:txBody>
        </p:sp>
        <p:cxnSp>
          <p:nvCxnSpPr>
            <p:cNvPr id="360" name="Connector 196">
              <a:extLst>
                <a:ext uri="{FF2B5EF4-FFF2-40B4-BE49-F238E27FC236}">
                  <a16:creationId xmlns:a16="http://schemas.microsoft.com/office/drawing/2014/main" id="{8210EAAC-3DB8-4AF3-9056-E3380CA80491}"/>
                </a:ext>
              </a:extLst>
            </p:cNvPr>
            <p:cNvCxnSpPr/>
            <p:nvPr/>
          </p:nvCxnSpPr>
          <p:spPr>
            <a:xfrm>
              <a:off x="8961120" y="5001352"/>
              <a:ext cx="2633472"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grpSp>
      <p:grpSp>
        <p:nvGrpSpPr>
          <p:cNvPr id="11" name="그룹 10"/>
          <p:cNvGrpSpPr/>
          <p:nvPr/>
        </p:nvGrpSpPr>
        <p:grpSpPr>
          <a:xfrm>
            <a:off x="6267353" y="1148361"/>
            <a:ext cx="5321176" cy="1945079"/>
            <a:chOff x="336866" y="1583823"/>
            <a:chExt cx="11406415" cy="3445827"/>
          </a:xfrm>
        </p:grpSpPr>
        <p:grpSp>
          <p:nvGrpSpPr>
            <p:cNvPr id="282" name="그룹 281"/>
            <p:cNvGrpSpPr/>
            <p:nvPr/>
          </p:nvGrpSpPr>
          <p:grpSpPr>
            <a:xfrm>
              <a:off x="336866" y="1583823"/>
              <a:ext cx="11406415" cy="3445827"/>
              <a:chOff x="548640" y="2003662"/>
              <a:chExt cx="11852783" cy="4561730"/>
            </a:xfrm>
          </p:grpSpPr>
          <p:sp>
            <p:nvSpPr>
              <p:cNvPr id="284" name="Prefill badge"/>
              <p:cNvSpPr/>
              <p:nvPr/>
            </p:nvSpPr>
            <p:spPr>
              <a:xfrm>
                <a:off x="548640" y="2194560"/>
                <a:ext cx="2011680" cy="914400"/>
              </a:xfrm>
              <a:prstGeom prst="roundRect">
                <a:avLst>
                  <a:gd name="adj" fmla="val 10000"/>
                </a:avLst>
              </a:prstGeom>
              <a:solidFill>
                <a:srgbClr val="1D4ED8"/>
              </a:solidFill>
              <a:ln/>
            </p:spPr>
          </p:sp>
          <p:sp>
            <p:nvSpPr>
              <p:cNvPr id="285" name="Prefill badge text"/>
              <p:cNvSpPr txBox="1"/>
              <p:nvPr/>
            </p:nvSpPr>
            <p:spPr>
              <a:xfrm>
                <a:off x="548640" y="2194560"/>
                <a:ext cx="2011680" cy="914400"/>
              </a:xfrm>
              <a:prstGeom prst="rect">
                <a:avLst/>
              </a:prstGeom>
              <a:noFill/>
              <a:ln/>
            </p:spPr>
            <p:txBody>
              <a:bodyPr wrap="square" lIns="0" tIns="0" rIns="0" bIns="0"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rPr>
                  <a:t>Prefill </a:t>
                </a:r>
                <a:r>
                  <a:rPr kumimoji="0" lang="ko-KR" altLang="en-US" sz="900" b="1" i="0" u="none" strike="noStrike" kern="0" cap="none" spc="0" normalizeH="0" baseline="0" noProof="0" dirty="0">
                    <a:ln>
                      <a:noFill/>
                    </a:ln>
                    <a:solidFill>
                      <a:srgbClr val="FFFFFF"/>
                    </a:solidFill>
                    <a:effectLst/>
                    <a:uLnTx/>
                    <a:uFillTx/>
                  </a:rPr>
                  <a:t>단계</a:t>
                </a:r>
                <a:endParaRPr kumimoji="0" lang="en-US" sz="900" b="0" i="0" u="none" strike="noStrike" kern="0" cap="none" spc="0" normalizeH="0" baseline="0" noProof="0" dirty="0">
                  <a:ln>
                    <a:noFill/>
                  </a:ln>
                  <a:solidFill>
                    <a:srgbClr val="1F2937"/>
                  </a:solidFill>
                  <a:effectLst/>
                  <a:uLnTx/>
                  <a:uFillTx/>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sz="500" b="0" i="0" u="none" strike="noStrike" kern="0" cap="none" spc="0" normalizeH="0" baseline="0" noProof="0" dirty="0">
                    <a:ln>
                      <a:noFill/>
                    </a:ln>
                    <a:solidFill>
                      <a:srgbClr val="FFFFFF"/>
                    </a:solidFill>
                    <a:effectLst/>
                    <a:uLnTx/>
                    <a:uFillTx/>
                  </a:rPr>
                  <a:t>입력 </a:t>
                </a:r>
                <a:r>
                  <a:rPr kumimoji="0" lang="en-US" sz="500" b="0" i="0" u="none" strike="noStrike" kern="0" cap="none" spc="0" normalizeH="0" baseline="0" noProof="0" dirty="0" err="1">
                    <a:ln>
                      <a:noFill/>
                    </a:ln>
                    <a:solidFill>
                      <a:srgbClr val="FFFFFF"/>
                    </a:solidFill>
                    <a:effectLst/>
                    <a:uLnTx/>
                    <a:uFillTx/>
                  </a:rPr>
                  <a:t>프롬프트</a:t>
                </a:r>
                <a:r>
                  <a:rPr kumimoji="0" lang="en-US" sz="500" b="0" i="0" u="none" strike="noStrike" kern="0" cap="none" spc="0" normalizeH="0" baseline="0" noProof="0" dirty="0">
                    <a:ln>
                      <a:noFill/>
                    </a:ln>
                    <a:solidFill>
                      <a:srgbClr val="FFFFFF"/>
                    </a:solidFill>
                    <a:effectLst/>
                    <a:uLnTx/>
                    <a:uFillTx/>
                  </a:rPr>
                  <a:t> </a:t>
                </a:r>
                <a:r>
                  <a:rPr kumimoji="0" lang="en-US" sz="500" b="0" i="0" u="none" strike="noStrike" kern="0" cap="none" spc="0" normalizeH="0" baseline="0" noProof="0" dirty="0" err="1">
                    <a:ln>
                      <a:noFill/>
                    </a:ln>
                    <a:solidFill>
                      <a:srgbClr val="FFFFFF"/>
                    </a:solidFill>
                    <a:effectLst/>
                    <a:uLnTx/>
                    <a:uFillTx/>
                  </a:rPr>
                  <a:t>연산</a:t>
                </a:r>
                <a:endParaRPr kumimoji="0" lang="en-US" sz="500" b="0" i="0" u="none" strike="noStrike" kern="0" cap="none" spc="0" normalizeH="0" baseline="0" noProof="0" dirty="0">
                  <a:ln>
                    <a:noFill/>
                  </a:ln>
                  <a:solidFill>
                    <a:srgbClr val="FFFFFF"/>
                  </a:solidFill>
                  <a:effectLst/>
                  <a:uLnTx/>
                  <a:uFillTx/>
                </a:endParaRPr>
              </a:p>
            </p:txBody>
          </p:sp>
          <p:sp>
            <p:nvSpPr>
              <p:cNvPr id="286" name="Decode badge"/>
              <p:cNvSpPr/>
              <p:nvPr/>
            </p:nvSpPr>
            <p:spPr>
              <a:xfrm>
                <a:off x="548640" y="3200400"/>
                <a:ext cx="2011680" cy="2926080"/>
              </a:xfrm>
              <a:prstGeom prst="roundRect">
                <a:avLst>
                  <a:gd name="adj" fmla="val 4545"/>
                </a:avLst>
              </a:prstGeom>
              <a:solidFill>
                <a:srgbClr val="F59E0B"/>
              </a:solidFill>
              <a:ln/>
            </p:spPr>
          </p:sp>
          <p:sp>
            <p:nvSpPr>
              <p:cNvPr id="287" name="Decode badge text"/>
              <p:cNvSpPr txBox="1"/>
              <p:nvPr/>
            </p:nvSpPr>
            <p:spPr>
              <a:xfrm>
                <a:off x="548640" y="3200400"/>
                <a:ext cx="2011680" cy="2926080"/>
              </a:xfrm>
              <a:prstGeom prst="rect">
                <a:avLst/>
              </a:prstGeom>
              <a:noFill/>
              <a:ln/>
            </p:spPr>
            <p:txBody>
              <a:bodyPr wrap="square" lIns="0" tIns="0" rIns="0" bIns="0"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F2937"/>
                    </a:solidFill>
                    <a:effectLst/>
                    <a:uLnTx/>
                    <a:uFillTx/>
                  </a:rPr>
                  <a:t>Decode </a:t>
                </a:r>
                <a:r>
                  <a:rPr kumimoji="0" lang="ko-KR" altLang="en-US" sz="900" b="1" i="0" u="none" strike="noStrike" kern="0" cap="none" spc="0" normalizeH="0" baseline="0" noProof="0" dirty="0">
                    <a:ln>
                      <a:noFill/>
                    </a:ln>
                    <a:solidFill>
                      <a:srgbClr val="1F2937"/>
                    </a:solidFill>
                    <a:effectLst/>
                    <a:uLnTx/>
                    <a:uFillTx/>
                  </a:rPr>
                  <a:t>단계</a:t>
                </a:r>
                <a:endParaRPr kumimoji="0" lang="en-US" sz="900" b="0" i="0" u="none" strike="noStrike" kern="0" cap="none" spc="0" normalizeH="0" baseline="0" noProof="0" dirty="0">
                  <a:ln>
                    <a:noFill/>
                  </a:ln>
                  <a:solidFill>
                    <a:srgbClr val="1F2937"/>
                  </a:solidFill>
                  <a:effectLst/>
                  <a:uLnTx/>
                  <a:uFillTx/>
                </a:endParaRPr>
              </a:p>
              <a:p>
                <a:pPr lvl="0" algn="ctr" latinLnBrk="0">
                  <a:lnSpc>
                    <a:spcPct val="150000"/>
                  </a:lnSpc>
                  <a:defRPr/>
                </a:pPr>
                <a:r>
                  <a:rPr lang="ko-KR" altLang="en-US" sz="600" kern="0" dirty="0">
                    <a:solidFill>
                      <a:srgbClr val="1F2937"/>
                    </a:solidFill>
                  </a:rPr>
                  <a:t>출력 토큰 생성</a:t>
                </a:r>
                <a:endParaRPr kumimoji="0" lang="en-US" sz="600" b="0" i="0" u="none" strike="noStrike" kern="0" cap="none" spc="0" normalizeH="0" baseline="0" noProof="0" dirty="0">
                  <a:ln>
                    <a:noFill/>
                  </a:ln>
                  <a:solidFill>
                    <a:srgbClr val="1F2937"/>
                  </a:solidFill>
                  <a:effectLst/>
                  <a:uLnTx/>
                  <a:uFillTx/>
                </a:endParaRPr>
              </a:p>
            </p:txBody>
          </p:sp>
          <p:sp>
            <p:nvSpPr>
              <p:cNvPr id="288" name="Cell r0 c0"/>
              <p:cNvSpPr/>
              <p:nvPr/>
            </p:nvSpPr>
            <p:spPr>
              <a:xfrm>
                <a:off x="2743200" y="2286000"/>
                <a:ext cx="777240" cy="731520"/>
              </a:xfrm>
              <a:prstGeom prst="roundRect">
                <a:avLst>
                  <a:gd name="adj" fmla="val 10000"/>
                </a:avLst>
              </a:prstGeom>
              <a:solidFill>
                <a:srgbClr val="1D4ED8"/>
              </a:solidFill>
              <a:ln/>
            </p:spPr>
          </p:sp>
          <p:sp>
            <p:nvSpPr>
              <p:cNvPr id="289" name="Cell text r0 c0"/>
              <p:cNvSpPr txBox="1"/>
              <p:nvPr/>
            </p:nvSpPr>
            <p:spPr>
              <a:xfrm>
                <a:off x="2743200" y="228600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rPr>
                  <a:t>오늘의</a:t>
                </a:r>
                <a:endParaRPr kumimoji="0" lang="en-US" sz="700" b="0" i="0" u="none" strike="noStrike" kern="0" cap="none" spc="0" normalizeH="0" baseline="0" noProof="0" dirty="0">
                  <a:ln>
                    <a:noFill/>
                  </a:ln>
                  <a:solidFill>
                    <a:srgbClr val="1F2937"/>
                  </a:solidFill>
                  <a:effectLst/>
                  <a:uLnTx/>
                  <a:uFillTx/>
                </a:endParaRPr>
              </a:p>
            </p:txBody>
          </p:sp>
          <p:sp>
            <p:nvSpPr>
              <p:cNvPr id="290" name="Cell r0 c1"/>
              <p:cNvSpPr/>
              <p:nvPr/>
            </p:nvSpPr>
            <p:spPr>
              <a:xfrm>
                <a:off x="3593592" y="2286000"/>
                <a:ext cx="777240" cy="731520"/>
              </a:xfrm>
              <a:prstGeom prst="roundRect">
                <a:avLst>
                  <a:gd name="adj" fmla="val 10000"/>
                </a:avLst>
              </a:prstGeom>
              <a:solidFill>
                <a:srgbClr val="1D4ED8"/>
              </a:solidFill>
              <a:ln/>
            </p:spPr>
          </p:sp>
          <p:sp>
            <p:nvSpPr>
              <p:cNvPr id="291" name="Cell text r0 c1"/>
              <p:cNvSpPr txBox="1"/>
              <p:nvPr/>
            </p:nvSpPr>
            <p:spPr>
              <a:xfrm>
                <a:off x="3593592" y="228600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rPr>
                  <a:t>날씨</a:t>
                </a:r>
                <a:endParaRPr kumimoji="0" lang="en-US" sz="700" b="0" i="0" u="none" strike="noStrike" kern="0" cap="none" spc="0" normalizeH="0" baseline="0" noProof="0" dirty="0">
                  <a:ln>
                    <a:noFill/>
                  </a:ln>
                  <a:solidFill>
                    <a:srgbClr val="1F2937"/>
                  </a:solidFill>
                  <a:effectLst/>
                  <a:uLnTx/>
                  <a:uFillTx/>
                </a:endParaRPr>
              </a:p>
            </p:txBody>
          </p:sp>
          <p:sp>
            <p:nvSpPr>
              <p:cNvPr id="292" name="Cell r0 c2"/>
              <p:cNvSpPr/>
              <p:nvPr/>
            </p:nvSpPr>
            <p:spPr>
              <a:xfrm>
                <a:off x="4443984" y="2286000"/>
                <a:ext cx="777240" cy="731520"/>
              </a:xfrm>
              <a:prstGeom prst="roundRect">
                <a:avLst>
                  <a:gd name="adj" fmla="val 10000"/>
                </a:avLst>
              </a:prstGeom>
              <a:solidFill>
                <a:srgbClr val="1D4ED8"/>
              </a:solidFill>
              <a:ln/>
            </p:spPr>
          </p:sp>
          <p:sp>
            <p:nvSpPr>
              <p:cNvPr id="293" name="Cell text r0 c2"/>
              <p:cNvSpPr txBox="1"/>
              <p:nvPr/>
            </p:nvSpPr>
            <p:spPr>
              <a:xfrm>
                <a:off x="4443984" y="228600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rPr>
                  <a:t>는</a:t>
                </a:r>
                <a:endParaRPr kumimoji="0" lang="en-US" sz="700" b="0" i="0" u="none" strike="noStrike" kern="0" cap="none" spc="0" normalizeH="0" baseline="0" noProof="0" dirty="0">
                  <a:ln>
                    <a:noFill/>
                  </a:ln>
                  <a:solidFill>
                    <a:srgbClr val="1F2937"/>
                  </a:solidFill>
                  <a:effectLst/>
                  <a:uLnTx/>
                  <a:uFillTx/>
                </a:endParaRPr>
              </a:p>
            </p:txBody>
          </p:sp>
          <p:sp>
            <p:nvSpPr>
              <p:cNvPr id="294" name="Row desc 0"/>
              <p:cNvSpPr txBox="1"/>
              <p:nvPr/>
            </p:nvSpPr>
            <p:spPr>
              <a:xfrm>
                <a:off x="8017132" y="2194560"/>
                <a:ext cx="2717969" cy="914401"/>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1F2937"/>
                    </a:solidFill>
                    <a:effectLst/>
                    <a:uLnTx/>
                    <a:uFillTx/>
                  </a:rPr>
                  <a:t>프롬프트 3개를 </a:t>
                </a:r>
                <a:r>
                  <a:rPr kumimoji="0" lang="en-US" sz="700" b="1" i="0" u="none" strike="noStrike" kern="0" cap="none" spc="0" normalizeH="0" baseline="0" noProof="0" dirty="0">
                    <a:ln>
                      <a:noFill/>
                    </a:ln>
                    <a:solidFill>
                      <a:srgbClr val="1F2937"/>
                    </a:solidFill>
                    <a:effectLst/>
                    <a:uLnTx/>
                    <a:uFillTx/>
                  </a:rPr>
                  <a:t>한 번에 연산</a:t>
                </a:r>
                <a:endParaRPr kumimoji="0" lang="en-US" sz="700" b="0" i="0" u="none" strike="noStrike" kern="0" cap="none" spc="0" normalizeH="0" baseline="0" noProof="0" dirty="0">
                  <a:ln>
                    <a:noFill/>
                  </a:ln>
                  <a:solidFill>
                    <a:srgbClr val="1F2937"/>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1F2937"/>
                    </a:solidFill>
                    <a:effectLst/>
                    <a:uLnTx/>
                    <a:uFillTx/>
                  </a:rPr>
                  <a:t>→ 첫 토큰 '맑' 생성</a:t>
                </a:r>
              </a:p>
            </p:txBody>
          </p:sp>
          <p:sp>
            <p:nvSpPr>
              <p:cNvPr id="295" name="Cell r1 c0"/>
              <p:cNvSpPr/>
              <p:nvPr/>
            </p:nvSpPr>
            <p:spPr>
              <a:xfrm>
                <a:off x="2743200" y="3291840"/>
                <a:ext cx="777240" cy="731520"/>
              </a:xfrm>
              <a:prstGeom prst="roundRect">
                <a:avLst>
                  <a:gd name="adj" fmla="val 10000"/>
                </a:avLst>
              </a:prstGeom>
              <a:solidFill>
                <a:srgbClr val="E5E7EB"/>
              </a:solidFill>
              <a:ln/>
            </p:spPr>
          </p:sp>
          <p:sp>
            <p:nvSpPr>
              <p:cNvPr id="296" name="Cell text r1 c0"/>
              <p:cNvSpPr txBox="1"/>
              <p:nvPr/>
            </p:nvSpPr>
            <p:spPr>
              <a:xfrm>
                <a:off x="2743200" y="329184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오늘의</a:t>
                </a:r>
                <a:endParaRPr kumimoji="0" lang="en-US" sz="700" b="0" i="0" u="none" strike="noStrike" kern="0" cap="none" spc="0" normalizeH="0" baseline="0" noProof="0" dirty="0">
                  <a:ln>
                    <a:noFill/>
                  </a:ln>
                  <a:solidFill>
                    <a:srgbClr val="1F2937"/>
                  </a:solidFill>
                  <a:effectLst/>
                  <a:uLnTx/>
                  <a:uFillTx/>
                </a:endParaRPr>
              </a:p>
            </p:txBody>
          </p:sp>
          <p:sp>
            <p:nvSpPr>
              <p:cNvPr id="297" name="Cell r1 c1"/>
              <p:cNvSpPr/>
              <p:nvPr/>
            </p:nvSpPr>
            <p:spPr>
              <a:xfrm>
                <a:off x="3593592" y="3291840"/>
                <a:ext cx="777240" cy="731520"/>
              </a:xfrm>
              <a:prstGeom prst="roundRect">
                <a:avLst>
                  <a:gd name="adj" fmla="val 10000"/>
                </a:avLst>
              </a:prstGeom>
              <a:solidFill>
                <a:srgbClr val="E5E7EB"/>
              </a:solidFill>
              <a:ln/>
            </p:spPr>
          </p:sp>
          <p:sp>
            <p:nvSpPr>
              <p:cNvPr id="298" name="Cell text r1 c1"/>
              <p:cNvSpPr txBox="1"/>
              <p:nvPr/>
            </p:nvSpPr>
            <p:spPr>
              <a:xfrm>
                <a:off x="3593592" y="329184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날씨</a:t>
                </a:r>
                <a:endParaRPr kumimoji="0" lang="en-US" sz="700" b="0" i="0" u="none" strike="noStrike" kern="0" cap="none" spc="0" normalizeH="0" baseline="0" noProof="0" dirty="0">
                  <a:ln>
                    <a:noFill/>
                  </a:ln>
                  <a:solidFill>
                    <a:srgbClr val="1F2937"/>
                  </a:solidFill>
                  <a:effectLst/>
                  <a:uLnTx/>
                  <a:uFillTx/>
                </a:endParaRPr>
              </a:p>
            </p:txBody>
          </p:sp>
          <p:sp>
            <p:nvSpPr>
              <p:cNvPr id="299" name="Cell r1 c2"/>
              <p:cNvSpPr/>
              <p:nvPr/>
            </p:nvSpPr>
            <p:spPr>
              <a:xfrm>
                <a:off x="4443984" y="3291840"/>
                <a:ext cx="777240" cy="731520"/>
              </a:xfrm>
              <a:prstGeom prst="roundRect">
                <a:avLst>
                  <a:gd name="adj" fmla="val 10000"/>
                </a:avLst>
              </a:prstGeom>
              <a:solidFill>
                <a:srgbClr val="E5E7EB"/>
              </a:solidFill>
              <a:ln/>
            </p:spPr>
          </p:sp>
          <p:sp>
            <p:nvSpPr>
              <p:cNvPr id="300" name="Cell text r1 c2"/>
              <p:cNvSpPr txBox="1"/>
              <p:nvPr/>
            </p:nvSpPr>
            <p:spPr>
              <a:xfrm>
                <a:off x="4443984" y="329184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는</a:t>
                </a:r>
                <a:endParaRPr kumimoji="0" lang="en-US" sz="700" b="0" i="0" u="none" strike="noStrike" kern="0" cap="none" spc="0" normalizeH="0" baseline="0" noProof="0" dirty="0">
                  <a:ln>
                    <a:noFill/>
                  </a:ln>
                  <a:solidFill>
                    <a:srgbClr val="1F2937"/>
                  </a:solidFill>
                  <a:effectLst/>
                  <a:uLnTx/>
                  <a:uFillTx/>
                </a:endParaRPr>
              </a:p>
            </p:txBody>
          </p:sp>
          <p:sp>
            <p:nvSpPr>
              <p:cNvPr id="301" name="Cell r1 c3"/>
              <p:cNvSpPr/>
              <p:nvPr/>
            </p:nvSpPr>
            <p:spPr>
              <a:xfrm>
                <a:off x="5294376" y="3291840"/>
                <a:ext cx="777240" cy="731520"/>
              </a:xfrm>
              <a:prstGeom prst="roundRect">
                <a:avLst>
                  <a:gd name="adj" fmla="val 10000"/>
                </a:avLst>
              </a:prstGeom>
              <a:solidFill>
                <a:srgbClr val="F59E0B"/>
              </a:solidFill>
              <a:ln/>
            </p:spPr>
          </p:sp>
          <p:sp>
            <p:nvSpPr>
              <p:cNvPr id="302" name="Cell text r1 c3"/>
              <p:cNvSpPr txBox="1"/>
              <p:nvPr/>
            </p:nvSpPr>
            <p:spPr>
              <a:xfrm>
                <a:off x="5294376" y="329184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맑</a:t>
                </a:r>
                <a:endParaRPr kumimoji="0" lang="en-US" sz="700" b="0" i="0" u="none" strike="noStrike" kern="0" cap="none" spc="0" normalizeH="0" baseline="0" noProof="0" dirty="0">
                  <a:ln>
                    <a:noFill/>
                  </a:ln>
                  <a:solidFill>
                    <a:srgbClr val="1F2937"/>
                  </a:solidFill>
                  <a:effectLst/>
                  <a:uLnTx/>
                  <a:uFillTx/>
                </a:endParaRPr>
              </a:p>
            </p:txBody>
          </p:sp>
          <p:sp>
            <p:nvSpPr>
              <p:cNvPr id="303" name="Row desc 1"/>
              <p:cNvSpPr txBox="1"/>
              <p:nvPr/>
            </p:nvSpPr>
            <p:spPr>
              <a:xfrm>
                <a:off x="8017132" y="3200400"/>
                <a:ext cx="2717969" cy="914401"/>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'맑' 1개만 연산</a:t>
                </a:r>
                <a:endParaRPr kumimoji="0" lang="en-US" sz="700" b="0" i="0" u="none" strike="noStrike" kern="0" cap="none" spc="0" normalizeH="0" baseline="0" noProof="0" dirty="0">
                  <a:ln>
                    <a:noFill/>
                  </a:ln>
                  <a:solidFill>
                    <a:srgbClr val="1F2937"/>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1F2937"/>
                    </a:solidFill>
                    <a:effectLst/>
                    <a:uLnTx/>
                    <a:uFillTx/>
                  </a:rPr>
                  <a:t>→ '고' 생성</a:t>
                </a:r>
              </a:p>
            </p:txBody>
          </p:sp>
          <p:sp>
            <p:nvSpPr>
              <p:cNvPr id="304" name="Cell r2 c0"/>
              <p:cNvSpPr/>
              <p:nvPr/>
            </p:nvSpPr>
            <p:spPr>
              <a:xfrm>
                <a:off x="2743200" y="4297680"/>
                <a:ext cx="777240" cy="731520"/>
              </a:xfrm>
              <a:prstGeom prst="roundRect">
                <a:avLst>
                  <a:gd name="adj" fmla="val 10000"/>
                </a:avLst>
              </a:prstGeom>
              <a:solidFill>
                <a:srgbClr val="E5E7EB"/>
              </a:solidFill>
              <a:ln/>
            </p:spPr>
          </p:sp>
          <p:sp>
            <p:nvSpPr>
              <p:cNvPr id="305" name="Cell text r2 c0"/>
              <p:cNvSpPr txBox="1"/>
              <p:nvPr/>
            </p:nvSpPr>
            <p:spPr>
              <a:xfrm>
                <a:off x="2743200" y="429768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오늘의</a:t>
                </a:r>
                <a:endParaRPr kumimoji="0" lang="en-US" sz="700" b="0" i="0" u="none" strike="noStrike" kern="0" cap="none" spc="0" normalizeH="0" baseline="0" noProof="0" dirty="0">
                  <a:ln>
                    <a:noFill/>
                  </a:ln>
                  <a:solidFill>
                    <a:srgbClr val="1F2937"/>
                  </a:solidFill>
                  <a:effectLst/>
                  <a:uLnTx/>
                  <a:uFillTx/>
                </a:endParaRPr>
              </a:p>
            </p:txBody>
          </p:sp>
          <p:sp>
            <p:nvSpPr>
              <p:cNvPr id="306" name="Cell r2 c1"/>
              <p:cNvSpPr/>
              <p:nvPr/>
            </p:nvSpPr>
            <p:spPr>
              <a:xfrm>
                <a:off x="3593592" y="4297680"/>
                <a:ext cx="777240" cy="731520"/>
              </a:xfrm>
              <a:prstGeom prst="roundRect">
                <a:avLst>
                  <a:gd name="adj" fmla="val 10000"/>
                </a:avLst>
              </a:prstGeom>
              <a:solidFill>
                <a:srgbClr val="E5E7EB"/>
              </a:solidFill>
              <a:ln/>
            </p:spPr>
          </p:sp>
          <p:sp>
            <p:nvSpPr>
              <p:cNvPr id="307" name="Cell text r2 c1"/>
              <p:cNvSpPr txBox="1"/>
              <p:nvPr/>
            </p:nvSpPr>
            <p:spPr>
              <a:xfrm>
                <a:off x="3593592" y="429768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날씨</a:t>
                </a:r>
                <a:endParaRPr kumimoji="0" lang="en-US" sz="700" b="0" i="0" u="none" strike="noStrike" kern="0" cap="none" spc="0" normalizeH="0" baseline="0" noProof="0" dirty="0">
                  <a:ln>
                    <a:noFill/>
                  </a:ln>
                  <a:solidFill>
                    <a:srgbClr val="1F2937"/>
                  </a:solidFill>
                  <a:effectLst/>
                  <a:uLnTx/>
                  <a:uFillTx/>
                </a:endParaRPr>
              </a:p>
            </p:txBody>
          </p:sp>
          <p:sp>
            <p:nvSpPr>
              <p:cNvPr id="308" name="Cell r2 c2"/>
              <p:cNvSpPr/>
              <p:nvPr/>
            </p:nvSpPr>
            <p:spPr>
              <a:xfrm>
                <a:off x="4443984" y="4297680"/>
                <a:ext cx="777240" cy="731520"/>
              </a:xfrm>
              <a:prstGeom prst="roundRect">
                <a:avLst>
                  <a:gd name="adj" fmla="val 10000"/>
                </a:avLst>
              </a:prstGeom>
              <a:solidFill>
                <a:srgbClr val="E5E7EB"/>
              </a:solidFill>
              <a:ln/>
            </p:spPr>
          </p:sp>
          <p:sp>
            <p:nvSpPr>
              <p:cNvPr id="309" name="Cell text r2 c2"/>
              <p:cNvSpPr txBox="1"/>
              <p:nvPr/>
            </p:nvSpPr>
            <p:spPr>
              <a:xfrm>
                <a:off x="4443984" y="429768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는</a:t>
                </a:r>
                <a:endParaRPr kumimoji="0" lang="en-US" sz="700" b="0" i="0" u="none" strike="noStrike" kern="0" cap="none" spc="0" normalizeH="0" baseline="0" noProof="0" dirty="0">
                  <a:ln>
                    <a:noFill/>
                  </a:ln>
                  <a:solidFill>
                    <a:srgbClr val="1F2937"/>
                  </a:solidFill>
                  <a:effectLst/>
                  <a:uLnTx/>
                  <a:uFillTx/>
                </a:endParaRPr>
              </a:p>
            </p:txBody>
          </p:sp>
          <p:sp>
            <p:nvSpPr>
              <p:cNvPr id="310" name="Cell r2 c3"/>
              <p:cNvSpPr/>
              <p:nvPr/>
            </p:nvSpPr>
            <p:spPr>
              <a:xfrm>
                <a:off x="5294376" y="4297680"/>
                <a:ext cx="777240" cy="731520"/>
              </a:xfrm>
              <a:prstGeom prst="roundRect">
                <a:avLst>
                  <a:gd name="adj" fmla="val 10000"/>
                </a:avLst>
              </a:prstGeom>
              <a:solidFill>
                <a:srgbClr val="E5E7EB"/>
              </a:solidFill>
              <a:ln/>
            </p:spPr>
          </p:sp>
          <p:sp>
            <p:nvSpPr>
              <p:cNvPr id="311" name="Cell text r2 c3"/>
              <p:cNvSpPr txBox="1"/>
              <p:nvPr/>
            </p:nvSpPr>
            <p:spPr>
              <a:xfrm>
                <a:off x="5294376" y="429768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맑</a:t>
                </a:r>
                <a:endParaRPr kumimoji="0" lang="en-US" sz="700" b="0" i="0" u="none" strike="noStrike" kern="0" cap="none" spc="0" normalizeH="0" baseline="0" noProof="0" dirty="0">
                  <a:ln>
                    <a:noFill/>
                  </a:ln>
                  <a:solidFill>
                    <a:srgbClr val="1F2937"/>
                  </a:solidFill>
                  <a:effectLst/>
                  <a:uLnTx/>
                  <a:uFillTx/>
                </a:endParaRPr>
              </a:p>
            </p:txBody>
          </p:sp>
          <p:sp>
            <p:nvSpPr>
              <p:cNvPr id="312" name="Cell r2 c4"/>
              <p:cNvSpPr/>
              <p:nvPr/>
            </p:nvSpPr>
            <p:spPr>
              <a:xfrm>
                <a:off x="6144768" y="4297680"/>
                <a:ext cx="777240" cy="731520"/>
              </a:xfrm>
              <a:prstGeom prst="roundRect">
                <a:avLst>
                  <a:gd name="adj" fmla="val 10000"/>
                </a:avLst>
              </a:prstGeom>
              <a:solidFill>
                <a:srgbClr val="F59E0B"/>
              </a:solidFill>
              <a:ln/>
            </p:spPr>
          </p:sp>
          <p:sp>
            <p:nvSpPr>
              <p:cNvPr id="313" name="Cell text r2 c4"/>
              <p:cNvSpPr txBox="1"/>
              <p:nvPr/>
            </p:nvSpPr>
            <p:spPr>
              <a:xfrm>
                <a:off x="6144768" y="429768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고</a:t>
                </a:r>
                <a:endParaRPr kumimoji="0" lang="en-US" sz="700" b="0" i="0" u="none" strike="noStrike" kern="0" cap="none" spc="0" normalizeH="0" baseline="0" noProof="0" dirty="0">
                  <a:ln>
                    <a:noFill/>
                  </a:ln>
                  <a:solidFill>
                    <a:srgbClr val="1F2937"/>
                  </a:solidFill>
                  <a:effectLst/>
                  <a:uLnTx/>
                  <a:uFillTx/>
                </a:endParaRPr>
              </a:p>
            </p:txBody>
          </p:sp>
          <p:sp>
            <p:nvSpPr>
              <p:cNvPr id="314" name="Row desc 2"/>
              <p:cNvSpPr txBox="1"/>
              <p:nvPr/>
            </p:nvSpPr>
            <p:spPr>
              <a:xfrm>
                <a:off x="8017132" y="4206241"/>
                <a:ext cx="2717969" cy="914401"/>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'고' 1개만 연산</a:t>
                </a:r>
                <a:endParaRPr kumimoji="0" lang="en-US" sz="700" b="0" i="0" u="none" strike="noStrike" kern="0" cap="none" spc="0" normalizeH="0" baseline="0" noProof="0" dirty="0">
                  <a:ln>
                    <a:noFill/>
                  </a:ln>
                  <a:solidFill>
                    <a:srgbClr val="1F2937"/>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1F2937"/>
                    </a:solidFill>
                    <a:effectLst/>
                    <a:uLnTx/>
                    <a:uFillTx/>
                  </a:rPr>
                  <a:t>→ '바' 생성</a:t>
                </a:r>
              </a:p>
            </p:txBody>
          </p:sp>
          <p:sp>
            <p:nvSpPr>
              <p:cNvPr id="315" name="Cell r3 c0"/>
              <p:cNvSpPr/>
              <p:nvPr/>
            </p:nvSpPr>
            <p:spPr>
              <a:xfrm>
                <a:off x="2743200" y="5303520"/>
                <a:ext cx="777240" cy="731520"/>
              </a:xfrm>
              <a:prstGeom prst="roundRect">
                <a:avLst>
                  <a:gd name="adj" fmla="val 10000"/>
                </a:avLst>
              </a:prstGeom>
              <a:solidFill>
                <a:srgbClr val="E5E7EB"/>
              </a:solidFill>
              <a:ln/>
            </p:spPr>
          </p:sp>
          <p:sp>
            <p:nvSpPr>
              <p:cNvPr id="316" name="Cell text r3 c0"/>
              <p:cNvSpPr txBox="1"/>
              <p:nvPr/>
            </p:nvSpPr>
            <p:spPr>
              <a:xfrm>
                <a:off x="2743200"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오늘의</a:t>
                </a:r>
                <a:endParaRPr kumimoji="0" lang="en-US" sz="700" b="0" i="0" u="none" strike="noStrike" kern="0" cap="none" spc="0" normalizeH="0" baseline="0" noProof="0" dirty="0">
                  <a:ln>
                    <a:noFill/>
                  </a:ln>
                  <a:solidFill>
                    <a:srgbClr val="1F2937"/>
                  </a:solidFill>
                  <a:effectLst/>
                  <a:uLnTx/>
                  <a:uFillTx/>
                </a:endParaRPr>
              </a:p>
            </p:txBody>
          </p:sp>
          <p:sp>
            <p:nvSpPr>
              <p:cNvPr id="317" name="Cell r3 c1"/>
              <p:cNvSpPr/>
              <p:nvPr/>
            </p:nvSpPr>
            <p:spPr>
              <a:xfrm>
                <a:off x="3593592" y="5303520"/>
                <a:ext cx="777240" cy="731520"/>
              </a:xfrm>
              <a:prstGeom prst="roundRect">
                <a:avLst>
                  <a:gd name="adj" fmla="val 10000"/>
                </a:avLst>
              </a:prstGeom>
              <a:solidFill>
                <a:srgbClr val="E5E7EB"/>
              </a:solidFill>
              <a:ln/>
            </p:spPr>
          </p:sp>
          <p:sp>
            <p:nvSpPr>
              <p:cNvPr id="318" name="Cell text r3 c1"/>
              <p:cNvSpPr txBox="1"/>
              <p:nvPr/>
            </p:nvSpPr>
            <p:spPr>
              <a:xfrm>
                <a:off x="3593592"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날씨</a:t>
                </a:r>
                <a:endParaRPr kumimoji="0" lang="en-US" sz="700" b="0" i="0" u="none" strike="noStrike" kern="0" cap="none" spc="0" normalizeH="0" baseline="0" noProof="0" dirty="0">
                  <a:ln>
                    <a:noFill/>
                  </a:ln>
                  <a:solidFill>
                    <a:srgbClr val="1F2937"/>
                  </a:solidFill>
                  <a:effectLst/>
                  <a:uLnTx/>
                  <a:uFillTx/>
                </a:endParaRPr>
              </a:p>
            </p:txBody>
          </p:sp>
          <p:sp>
            <p:nvSpPr>
              <p:cNvPr id="319" name="Cell r3 c2"/>
              <p:cNvSpPr/>
              <p:nvPr/>
            </p:nvSpPr>
            <p:spPr>
              <a:xfrm>
                <a:off x="4443984" y="5303520"/>
                <a:ext cx="777240" cy="731520"/>
              </a:xfrm>
              <a:prstGeom prst="roundRect">
                <a:avLst>
                  <a:gd name="adj" fmla="val 10000"/>
                </a:avLst>
              </a:prstGeom>
              <a:solidFill>
                <a:srgbClr val="E5E7EB"/>
              </a:solidFill>
              <a:ln/>
            </p:spPr>
          </p:sp>
          <p:sp>
            <p:nvSpPr>
              <p:cNvPr id="320" name="Cell text r3 c2"/>
              <p:cNvSpPr txBox="1"/>
              <p:nvPr/>
            </p:nvSpPr>
            <p:spPr>
              <a:xfrm>
                <a:off x="4443984"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는</a:t>
                </a:r>
                <a:endParaRPr kumimoji="0" lang="en-US" sz="700" b="0" i="0" u="none" strike="noStrike" kern="0" cap="none" spc="0" normalizeH="0" baseline="0" noProof="0" dirty="0">
                  <a:ln>
                    <a:noFill/>
                  </a:ln>
                  <a:solidFill>
                    <a:srgbClr val="1F2937"/>
                  </a:solidFill>
                  <a:effectLst/>
                  <a:uLnTx/>
                  <a:uFillTx/>
                </a:endParaRPr>
              </a:p>
            </p:txBody>
          </p:sp>
          <p:sp>
            <p:nvSpPr>
              <p:cNvPr id="321" name="Cell r3 c3"/>
              <p:cNvSpPr/>
              <p:nvPr/>
            </p:nvSpPr>
            <p:spPr>
              <a:xfrm>
                <a:off x="5294376" y="5303520"/>
                <a:ext cx="777240" cy="731520"/>
              </a:xfrm>
              <a:prstGeom prst="roundRect">
                <a:avLst>
                  <a:gd name="adj" fmla="val 10000"/>
                </a:avLst>
              </a:prstGeom>
              <a:solidFill>
                <a:srgbClr val="E5E7EB"/>
              </a:solidFill>
              <a:ln/>
            </p:spPr>
          </p:sp>
          <p:sp>
            <p:nvSpPr>
              <p:cNvPr id="322" name="Cell text r3 c3"/>
              <p:cNvSpPr txBox="1"/>
              <p:nvPr/>
            </p:nvSpPr>
            <p:spPr>
              <a:xfrm>
                <a:off x="5294376"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맑</a:t>
                </a:r>
                <a:endParaRPr kumimoji="0" lang="en-US" sz="700" b="0" i="0" u="none" strike="noStrike" kern="0" cap="none" spc="0" normalizeH="0" baseline="0" noProof="0" dirty="0">
                  <a:ln>
                    <a:noFill/>
                  </a:ln>
                  <a:solidFill>
                    <a:srgbClr val="1F2937"/>
                  </a:solidFill>
                  <a:effectLst/>
                  <a:uLnTx/>
                  <a:uFillTx/>
                </a:endParaRPr>
              </a:p>
            </p:txBody>
          </p:sp>
          <p:sp>
            <p:nvSpPr>
              <p:cNvPr id="323" name="Cell r3 c4"/>
              <p:cNvSpPr/>
              <p:nvPr/>
            </p:nvSpPr>
            <p:spPr>
              <a:xfrm>
                <a:off x="6144768" y="5303520"/>
                <a:ext cx="777240" cy="731520"/>
              </a:xfrm>
              <a:prstGeom prst="roundRect">
                <a:avLst>
                  <a:gd name="adj" fmla="val 10000"/>
                </a:avLst>
              </a:prstGeom>
              <a:solidFill>
                <a:srgbClr val="E5E7EB"/>
              </a:solidFill>
              <a:ln/>
            </p:spPr>
          </p:sp>
          <p:sp>
            <p:nvSpPr>
              <p:cNvPr id="324" name="Cell text r3 c4"/>
              <p:cNvSpPr txBox="1"/>
              <p:nvPr/>
            </p:nvSpPr>
            <p:spPr>
              <a:xfrm>
                <a:off x="6144768"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4B5563"/>
                    </a:solidFill>
                    <a:effectLst/>
                    <a:uLnTx/>
                    <a:uFillTx/>
                  </a:rPr>
                  <a:t>고</a:t>
                </a:r>
                <a:endParaRPr kumimoji="0" lang="en-US" sz="700" b="0" i="0" u="none" strike="noStrike" kern="0" cap="none" spc="0" normalizeH="0" baseline="0" noProof="0" dirty="0">
                  <a:ln>
                    <a:noFill/>
                  </a:ln>
                  <a:solidFill>
                    <a:srgbClr val="1F2937"/>
                  </a:solidFill>
                  <a:effectLst/>
                  <a:uLnTx/>
                  <a:uFillTx/>
                </a:endParaRPr>
              </a:p>
            </p:txBody>
          </p:sp>
          <p:sp>
            <p:nvSpPr>
              <p:cNvPr id="325" name="Cell r3 c5"/>
              <p:cNvSpPr/>
              <p:nvPr/>
            </p:nvSpPr>
            <p:spPr>
              <a:xfrm>
                <a:off x="6995160" y="5303520"/>
                <a:ext cx="777240" cy="731520"/>
              </a:xfrm>
              <a:prstGeom prst="roundRect">
                <a:avLst>
                  <a:gd name="adj" fmla="val 10000"/>
                </a:avLst>
              </a:prstGeom>
              <a:solidFill>
                <a:srgbClr val="F59E0B"/>
              </a:solidFill>
              <a:ln/>
            </p:spPr>
          </p:sp>
          <p:sp>
            <p:nvSpPr>
              <p:cNvPr id="326" name="Cell text r3 c5"/>
              <p:cNvSpPr txBox="1"/>
              <p:nvPr/>
            </p:nvSpPr>
            <p:spPr>
              <a:xfrm>
                <a:off x="6995160" y="5303520"/>
                <a:ext cx="777240" cy="73152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바</a:t>
                </a:r>
                <a:endParaRPr kumimoji="0" lang="en-US" sz="700" b="0" i="0" u="none" strike="noStrike" kern="0" cap="none" spc="0" normalizeH="0" baseline="0" noProof="0" dirty="0">
                  <a:ln>
                    <a:noFill/>
                  </a:ln>
                  <a:solidFill>
                    <a:srgbClr val="1F2937"/>
                  </a:solidFill>
                  <a:effectLst/>
                  <a:uLnTx/>
                  <a:uFillTx/>
                </a:endParaRPr>
              </a:p>
            </p:txBody>
          </p:sp>
          <p:sp>
            <p:nvSpPr>
              <p:cNvPr id="327" name="Row desc 3"/>
              <p:cNvSpPr txBox="1"/>
              <p:nvPr/>
            </p:nvSpPr>
            <p:spPr>
              <a:xfrm>
                <a:off x="8017132" y="5212081"/>
                <a:ext cx="2717969" cy="914401"/>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1F2937"/>
                    </a:solidFill>
                    <a:effectLst/>
                    <a:uLnTx/>
                    <a:uFillTx/>
                  </a:rPr>
                  <a:t>'바' 1개만 연산</a:t>
                </a:r>
                <a:endParaRPr kumimoji="0" lang="en-US" sz="700" b="0" i="0" u="none" strike="noStrike" kern="0" cap="none" spc="0" normalizeH="0" baseline="0" noProof="0" dirty="0">
                  <a:ln>
                    <a:noFill/>
                  </a:ln>
                  <a:solidFill>
                    <a:srgbClr val="1F2937"/>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1F2937"/>
                    </a:solidFill>
                    <a:effectLst/>
                    <a:uLnTx/>
                    <a:uFillTx/>
                  </a:rPr>
                  <a:t>→ 다음 토큰 생성</a:t>
                </a:r>
              </a:p>
            </p:txBody>
          </p:sp>
          <p:sp>
            <p:nvSpPr>
              <p:cNvPr id="328" name="Legend swatch 0"/>
              <p:cNvSpPr/>
              <p:nvPr/>
            </p:nvSpPr>
            <p:spPr>
              <a:xfrm>
                <a:off x="548640" y="6291072"/>
                <a:ext cx="274320" cy="219456"/>
              </a:xfrm>
              <a:prstGeom prst="roundRect">
                <a:avLst>
                  <a:gd name="adj" fmla="val 16667"/>
                </a:avLst>
              </a:prstGeom>
              <a:solidFill>
                <a:srgbClr val="1D4ED8"/>
              </a:solidFill>
              <a:ln/>
            </p:spPr>
          </p:sp>
          <p:sp>
            <p:nvSpPr>
              <p:cNvPr id="329" name="Legend text 0"/>
              <p:cNvSpPr txBox="1"/>
              <p:nvPr/>
            </p:nvSpPr>
            <p:spPr>
              <a:xfrm>
                <a:off x="914400" y="6236208"/>
                <a:ext cx="3566160" cy="32918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600" b="0" i="0" u="none" strike="noStrike" kern="0" cap="none" spc="0" normalizeH="0" baseline="0" noProof="0" dirty="0">
                    <a:ln>
                      <a:noFill/>
                    </a:ln>
                    <a:solidFill>
                      <a:srgbClr val="4B5563"/>
                    </a:solidFill>
                    <a:effectLst/>
                    <a:uLnTx/>
                    <a:uFillTx/>
                  </a:rPr>
                  <a:t>입력 토큰에 해당하는 </a:t>
                </a:r>
                <a:r>
                  <a:rPr kumimoji="0" lang="en-US" sz="600" b="0" i="0" u="none" strike="noStrike" kern="0" cap="none" spc="0" normalizeH="0" baseline="0" noProof="0" dirty="0">
                    <a:ln>
                      <a:noFill/>
                    </a:ln>
                    <a:solidFill>
                      <a:srgbClr val="4B5563"/>
                    </a:solidFill>
                    <a:effectLst/>
                    <a:uLnTx/>
                    <a:uFillTx/>
                  </a:rPr>
                  <a:t>KV </a:t>
                </a:r>
                <a:r>
                  <a:rPr kumimoji="0" lang="en-US" sz="600" b="0" i="0" u="none" strike="noStrike" kern="0" cap="none" spc="0" normalizeH="0" baseline="0" noProof="0" dirty="0" err="1">
                    <a:ln>
                      <a:noFill/>
                    </a:ln>
                    <a:solidFill>
                      <a:srgbClr val="4B5563"/>
                    </a:solidFill>
                    <a:effectLst/>
                    <a:uLnTx/>
                    <a:uFillTx/>
                  </a:rPr>
                  <a:t>캐시</a:t>
                </a:r>
                <a:r>
                  <a:rPr lang="ko-KR" altLang="en-US" sz="600" kern="0" dirty="0">
                    <a:solidFill>
                      <a:srgbClr val="4B5563"/>
                    </a:solidFill>
                  </a:rPr>
                  <a:t>를 생성</a:t>
                </a:r>
                <a:endParaRPr kumimoji="0" lang="en-US" sz="600" b="0" i="0" u="none" strike="noStrike" kern="0" cap="none" spc="0" normalizeH="0" baseline="0" noProof="0" dirty="0">
                  <a:ln>
                    <a:noFill/>
                  </a:ln>
                  <a:solidFill>
                    <a:srgbClr val="1F2937"/>
                  </a:solidFill>
                  <a:effectLst/>
                  <a:uLnTx/>
                  <a:uFillTx/>
                </a:endParaRPr>
              </a:p>
            </p:txBody>
          </p:sp>
          <p:sp>
            <p:nvSpPr>
              <p:cNvPr id="330" name="Legend swatch 1"/>
              <p:cNvSpPr/>
              <p:nvPr/>
            </p:nvSpPr>
            <p:spPr>
              <a:xfrm>
                <a:off x="4186331" y="6291073"/>
                <a:ext cx="274320" cy="219456"/>
              </a:xfrm>
              <a:prstGeom prst="roundRect">
                <a:avLst>
                  <a:gd name="adj" fmla="val 16667"/>
                </a:avLst>
              </a:prstGeom>
              <a:solidFill>
                <a:srgbClr val="E5E7EB"/>
              </a:solidFill>
              <a:ln/>
            </p:spPr>
          </p:sp>
          <p:sp>
            <p:nvSpPr>
              <p:cNvPr id="331" name="Legend text 1"/>
              <p:cNvSpPr txBox="1"/>
              <p:nvPr/>
            </p:nvSpPr>
            <p:spPr>
              <a:xfrm>
                <a:off x="4552091" y="6236208"/>
                <a:ext cx="2651759" cy="32918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B5563"/>
                    </a:solidFill>
                    <a:effectLst/>
                    <a:uLnTx/>
                    <a:uFillTx/>
                  </a:rPr>
                  <a:t>KV 캐시에서 읽어 재사용</a:t>
                </a:r>
                <a:endParaRPr kumimoji="0" lang="en-US" sz="600" b="0" i="0" u="none" strike="noStrike" kern="0" cap="none" spc="0" normalizeH="0" baseline="0" noProof="0" dirty="0">
                  <a:ln>
                    <a:noFill/>
                  </a:ln>
                  <a:solidFill>
                    <a:srgbClr val="1F2937"/>
                  </a:solidFill>
                  <a:effectLst/>
                  <a:uLnTx/>
                  <a:uFillTx/>
                </a:endParaRPr>
              </a:p>
            </p:txBody>
          </p:sp>
          <p:sp>
            <p:nvSpPr>
              <p:cNvPr id="332" name="Legend swatch 2"/>
              <p:cNvSpPr/>
              <p:nvPr/>
            </p:nvSpPr>
            <p:spPr>
              <a:xfrm>
                <a:off x="6720840" y="6291073"/>
                <a:ext cx="274320" cy="219456"/>
              </a:xfrm>
              <a:prstGeom prst="roundRect">
                <a:avLst>
                  <a:gd name="adj" fmla="val 16667"/>
                </a:avLst>
              </a:prstGeom>
              <a:solidFill>
                <a:srgbClr val="F59E0B"/>
              </a:solidFill>
              <a:ln/>
            </p:spPr>
          </p:sp>
          <p:sp>
            <p:nvSpPr>
              <p:cNvPr id="333" name="Legend text 2"/>
              <p:cNvSpPr txBox="1"/>
              <p:nvPr/>
            </p:nvSpPr>
            <p:spPr>
              <a:xfrm>
                <a:off x="7086600" y="6236208"/>
                <a:ext cx="3291840" cy="329184"/>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B5563"/>
                    </a:solidFill>
                    <a:effectLst/>
                    <a:uLnTx/>
                    <a:uFillTx/>
                  </a:rPr>
                  <a:t>새 토큰만 계산해 캐시에 append</a:t>
                </a:r>
                <a:endParaRPr kumimoji="0" lang="en-US" sz="600" b="0" i="0" u="none" strike="noStrike" kern="0" cap="none" spc="0" normalizeH="0" baseline="0" noProof="0" dirty="0">
                  <a:ln>
                    <a:noFill/>
                  </a:ln>
                  <a:solidFill>
                    <a:srgbClr val="1F2937"/>
                  </a:solidFill>
                  <a:effectLst/>
                  <a:uLnTx/>
                  <a:uFillTx/>
                </a:endParaRPr>
              </a:p>
            </p:txBody>
          </p:sp>
          <p:sp>
            <p:nvSpPr>
              <p:cNvPr id="345" name="Row desc 0"/>
              <p:cNvSpPr txBox="1"/>
              <p:nvPr/>
            </p:nvSpPr>
            <p:spPr>
              <a:xfrm>
                <a:off x="11065669" y="2003662"/>
                <a:ext cx="1335754" cy="36729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700" b="1" kern="0" dirty="0">
                    <a:solidFill>
                      <a:srgbClr val="1F2937"/>
                    </a:solidFill>
                  </a:rPr>
                  <a:t>KV </a:t>
                </a:r>
                <a:r>
                  <a:rPr lang="ko-KR" altLang="en-US" sz="700" b="1" kern="0" dirty="0">
                    <a:solidFill>
                      <a:srgbClr val="1F2937"/>
                    </a:solidFill>
                  </a:rPr>
                  <a:t>캐시 생성</a:t>
                </a:r>
                <a:endParaRPr kumimoji="0" lang="en-US" sz="700" b="1" i="0" u="none" strike="noStrike" kern="0" cap="none" spc="0" normalizeH="0" baseline="0" noProof="0" dirty="0">
                  <a:ln>
                    <a:noFill/>
                  </a:ln>
                  <a:solidFill>
                    <a:srgbClr val="1F2937"/>
                  </a:solidFill>
                  <a:effectLst/>
                  <a:uLnTx/>
                  <a:uFillTx/>
                </a:endParaRPr>
              </a:p>
            </p:txBody>
          </p:sp>
          <p:sp>
            <p:nvSpPr>
              <p:cNvPr id="346" name="Row desc 0"/>
              <p:cNvSpPr txBox="1"/>
              <p:nvPr/>
            </p:nvSpPr>
            <p:spPr>
              <a:xfrm>
                <a:off x="11065669" y="2927561"/>
                <a:ext cx="1335754" cy="36729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sz="700" b="1" kern="0" noProof="0">
                    <a:solidFill>
                      <a:srgbClr val="1F2937"/>
                    </a:solidFill>
                  </a:rPr>
                  <a:t>추가 쓰기</a:t>
                </a:r>
                <a:endParaRPr kumimoji="0" lang="en-US" sz="700" b="1" i="0" u="none" strike="noStrike" kern="0" cap="none" spc="0" normalizeH="0" baseline="0" noProof="0" dirty="0">
                  <a:ln>
                    <a:noFill/>
                  </a:ln>
                  <a:solidFill>
                    <a:srgbClr val="1F2937"/>
                  </a:solidFill>
                  <a:effectLst/>
                  <a:uLnTx/>
                  <a:uFillTx/>
                </a:endParaRPr>
              </a:p>
            </p:txBody>
          </p:sp>
          <p:sp>
            <p:nvSpPr>
              <p:cNvPr id="347" name="Row desc 0"/>
              <p:cNvSpPr txBox="1"/>
              <p:nvPr/>
            </p:nvSpPr>
            <p:spPr>
              <a:xfrm>
                <a:off x="11065669" y="3894841"/>
                <a:ext cx="1335754" cy="36729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sz="700" b="1" kern="0" noProof="0">
                    <a:solidFill>
                      <a:srgbClr val="1F2937"/>
                    </a:solidFill>
                  </a:rPr>
                  <a:t>추가 쓰기</a:t>
                </a:r>
                <a:endParaRPr kumimoji="0" lang="en-US" sz="700" b="1" i="0" u="none" strike="noStrike" kern="0" cap="none" spc="0" normalizeH="0" baseline="0" noProof="0" dirty="0">
                  <a:ln>
                    <a:noFill/>
                  </a:ln>
                  <a:solidFill>
                    <a:srgbClr val="1F2937"/>
                  </a:solidFill>
                  <a:effectLst/>
                  <a:uLnTx/>
                  <a:uFillTx/>
                </a:endParaRPr>
              </a:p>
            </p:txBody>
          </p:sp>
          <p:sp>
            <p:nvSpPr>
              <p:cNvPr id="348" name="Row desc 0"/>
              <p:cNvSpPr txBox="1"/>
              <p:nvPr/>
            </p:nvSpPr>
            <p:spPr>
              <a:xfrm>
                <a:off x="11065669" y="4910919"/>
                <a:ext cx="1335754" cy="36729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sz="700" b="1" kern="0" noProof="0">
                    <a:solidFill>
                      <a:srgbClr val="1F2937"/>
                    </a:solidFill>
                  </a:rPr>
                  <a:t>추가 쓰기</a:t>
                </a:r>
                <a:endParaRPr kumimoji="0" lang="en-US" sz="700" b="1" i="0" u="none" strike="noStrike" kern="0" cap="none" spc="0" normalizeH="0" baseline="0" noProof="0" dirty="0">
                  <a:ln>
                    <a:noFill/>
                  </a:ln>
                  <a:solidFill>
                    <a:srgbClr val="1F2937"/>
                  </a:solidFill>
                  <a:effectLst/>
                  <a:uLnTx/>
                  <a:uFillTx/>
                </a:endParaRPr>
              </a:p>
            </p:txBody>
          </p:sp>
        </p:grpSp>
        <p:sp>
          <p:nvSpPr>
            <p:cNvPr id="334" name="순서도: 자기 디스크 333"/>
            <p:cNvSpPr/>
            <p:nvPr/>
          </p:nvSpPr>
          <p:spPr>
            <a:xfrm>
              <a:off x="10393431" y="1852110"/>
              <a:ext cx="1269999" cy="342089"/>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500" b="1" dirty="0"/>
                <a:t>오늘의 날씨는 </a:t>
              </a:r>
            </a:p>
          </p:txBody>
        </p:sp>
        <p:grpSp>
          <p:nvGrpSpPr>
            <p:cNvPr id="335" name="그룹 334"/>
            <p:cNvGrpSpPr/>
            <p:nvPr/>
          </p:nvGrpSpPr>
          <p:grpSpPr>
            <a:xfrm>
              <a:off x="10393431" y="2562394"/>
              <a:ext cx="1270000" cy="429936"/>
              <a:chOff x="10393431" y="2203845"/>
              <a:chExt cx="1270000" cy="429936"/>
            </a:xfrm>
          </p:grpSpPr>
          <p:sp>
            <p:nvSpPr>
              <p:cNvPr id="336" name="순서도: 자기 디스크 335"/>
              <p:cNvSpPr/>
              <p:nvPr/>
            </p:nvSpPr>
            <p:spPr>
              <a:xfrm>
                <a:off x="10393431" y="2203845"/>
                <a:ext cx="1270000" cy="339135"/>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ko-KR" altLang="en-US" sz="500" b="1" dirty="0">
                    <a:solidFill>
                      <a:prstClr val="white"/>
                    </a:solidFill>
                  </a:rPr>
                  <a:t>오늘의 날씨는</a:t>
                </a:r>
              </a:p>
            </p:txBody>
          </p:sp>
          <p:sp>
            <p:nvSpPr>
              <p:cNvPr id="337" name="순서도: 자기 디스크 336"/>
              <p:cNvSpPr/>
              <p:nvPr/>
            </p:nvSpPr>
            <p:spPr>
              <a:xfrm>
                <a:off x="10393431" y="2460845"/>
                <a:ext cx="1270000" cy="172936"/>
              </a:xfrm>
              <a:prstGeom prst="flowChartMagneticDisk">
                <a:avLst/>
              </a:prstGeom>
              <a:solidFill>
                <a:schemeClr val="accent4"/>
              </a:solidFill>
              <a:ln>
                <a:solidFill>
                  <a:schemeClr val="bg1">
                    <a:lumMod val="50000"/>
                  </a:schemeClr>
                </a:solidFill>
              </a:ln>
            </p:spPr>
            <p:txBody>
              <a:bodyPr wrap="square" lIns="0" tIns="0" rIns="0" bIns="0" rtlCol="0" anchor="ctr"/>
              <a:lstStyle/>
              <a:p>
                <a:pPr algn="ctr" latinLnBrk="0"/>
                <a:r>
                  <a:rPr lang="ko-KR" altLang="en-US" sz="500" b="1" kern="0" dirty="0">
                    <a:solidFill>
                      <a:srgbClr val="1F2937"/>
                    </a:solidFill>
                  </a:rPr>
                  <a:t>맑</a:t>
                </a:r>
              </a:p>
            </p:txBody>
          </p:sp>
        </p:grpSp>
        <p:grpSp>
          <p:nvGrpSpPr>
            <p:cNvPr id="338" name="그룹 337"/>
            <p:cNvGrpSpPr/>
            <p:nvPr/>
          </p:nvGrpSpPr>
          <p:grpSpPr>
            <a:xfrm>
              <a:off x="10393431" y="3266252"/>
              <a:ext cx="1270000" cy="500405"/>
              <a:chOff x="10393431" y="3007371"/>
              <a:chExt cx="1270000" cy="500405"/>
            </a:xfrm>
          </p:grpSpPr>
          <p:sp>
            <p:nvSpPr>
              <p:cNvPr id="339" name="순서도: 자기 디스크 338"/>
              <p:cNvSpPr/>
              <p:nvPr/>
            </p:nvSpPr>
            <p:spPr>
              <a:xfrm>
                <a:off x="10393431" y="3007371"/>
                <a:ext cx="1270000" cy="429755"/>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ko-KR" altLang="en-US" sz="500" b="1" dirty="0">
                    <a:solidFill>
                      <a:prstClr val="white"/>
                    </a:solidFill>
                  </a:rPr>
                  <a:t>오늘의 날씨는 맑</a:t>
                </a:r>
              </a:p>
            </p:txBody>
          </p:sp>
          <p:sp>
            <p:nvSpPr>
              <p:cNvPr id="340" name="순서도: 자기 디스크 339"/>
              <p:cNvSpPr/>
              <p:nvPr/>
            </p:nvSpPr>
            <p:spPr>
              <a:xfrm>
                <a:off x="10393431" y="3334840"/>
                <a:ext cx="1270000" cy="172936"/>
              </a:xfrm>
              <a:prstGeom prst="flowChartMagneticDisk">
                <a:avLst/>
              </a:prstGeom>
              <a:solidFill>
                <a:schemeClr val="accent4"/>
              </a:solidFill>
              <a:ln>
                <a:solidFill>
                  <a:schemeClr val="bg1">
                    <a:lumMod val="50000"/>
                  </a:schemeClr>
                </a:solidFill>
              </a:ln>
            </p:spPr>
            <p:txBody>
              <a:bodyPr wrap="square" lIns="0" tIns="0" rIns="0" bIns="0" rtlCol="0" anchor="ctr"/>
              <a:lstStyle/>
              <a:p>
                <a:pPr algn="ctr" latinLnBrk="0"/>
                <a:r>
                  <a:rPr lang="ko-KR" altLang="en-US" sz="500" b="1" kern="0" dirty="0">
                    <a:solidFill>
                      <a:srgbClr val="1F2937"/>
                    </a:solidFill>
                  </a:rPr>
                  <a:t>고</a:t>
                </a:r>
              </a:p>
            </p:txBody>
          </p:sp>
        </p:grpSp>
        <p:grpSp>
          <p:nvGrpSpPr>
            <p:cNvPr id="341" name="그룹 340"/>
            <p:cNvGrpSpPr/>
            <p:nvPr/>
          </p:nvGrpSpPr>
          <p:grpSpPr>
            <a:xfrm>
              <a:off x="10393431" y="4022234"/>
              <a:ext cx="1270000" cy="633428"/>
              <a:chOff x="10393431" y="3824085"/>
              <a:chExt cx="1270000" cy="633428"/>
            </a:xfrm>
          </p:grpSpPr>
          <p:sp>
            <p:nvSpPr>
              <p:cNvPr id="342" name="순서도: 자기 디스크 341"/>
              <p:cNvSpPr/>
              <p:nvPr/>
            </p:nvSpPr>
            <p:spPr>
              <a:xfrm>
                <a:off x="10393431" y="3824085"/>
                <a:ext cx="1270000" cy="552023"/>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500" b="1" dirty="0"/>
                  <a:t>오늘의 날씨는 맑고</a:t>
                </a:r>
              </a:p>
            </p:txBody>
          </p:sp>
          <p:sp>
            <p:nvSpPr>
              <p:cNvPr id="343" name="순서도: 자기 디스크 342"/>
              <p:cNvSpPr/>
              <p:nvPr/>
            </p:nvSpPr>
            <p:spPr>
              <a:xfrm>
                <a:off x="10393431" y="4284577"/>
                <a:ext cx="1270000" cy="172936"/>
              </a:xfrm>
              <a:prstGeom prst="flowChartMagneticDisk">
                <a:avLst/>
              </a:prstGeom>
              <a:solidFill>
                <a:schemeClr val="accent4"/>
              </a:solidFill>
              <a:ln>
                <a:solidFill>
                  <a:schemeClr val="bg1">
                    <a:lumMod val="50000"/>
                  </a:schemeClr>
                </a:solidFill>
              </a:ln>
            </p:spPr>
            <p:txBody>
              <a:bodyPr wrap="square" lIns="0" tIns="0" rIns="0" bIns="0" rtlCol="0" anchor="ctr"/>
              <a:lstStyle/>
              <a:p>
                <a:pPr algn="ctr" latinLnBrk="0"/>
                <a:r>
                  <a:rPr lang="ko-KR" altLang="en-US" sz="500" b="1" kern="0" dirty="0">
                    <a:solidFill>
                      <a:srgbClr val="1F2937"/>
                    </a:solidFill>
                  </a:rPr>
                  <a:t>바</a:t>
                </a:r>
              </a:p>
            </p:txBody>
          </p:sp>
        </p:grpSp>
      </p:grpSp>
      <p:sp>
        <p:nvSpPr>
          <p:cNvPr id="363" name="모서리가 둥근 직사각형 116">
            <a:extLst>
              <a:ext uri="{FF2B5EF4-FFF2-40B4-BE49-F238E27FC236}">
                <a16:creationId xmlns:a16="http://schemas.microsoft.com/office/drawing/2014/main" id="{D9D1E32B-3E06-4207-A46B-A6558444A1BC}"/>
              </a:ext>
            </a:extLst>
          </p:cNvPr>
          <p:cNvSpPr/>
          <p:nvPr/>
        </p:nvSpPr>
        <p:spPr>
          <a:xfrm>
            <a:off x="6268054" y="4780761"/>
            <a:ext cx="4960113" cy="1693012"/>
          </a:xfrm>
          <a:prstGeom prst="roundRect">
            <a:avLst>
              <a:gd name="adj" fmla="val 5842"/>
            </a:avLst>
          </a:prstGeom>
          <a:solidFill>
            <a:schemeClr val="bg1"/>
          </a:soli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64" name="자유형 363"/>
          <p:cNvSpPr/>
          <p:nvPr/>
        </p:nvSpPr>
        <p:spPr>
          <a:xfrm rot="205096">
            <a:off x="6854059" y="5272633"/>
            <a:ext cx="3979339" cy="692193"/>
          </a:xfrm>
          <a:custGeom>
            <a:avLst/>
            <a:gdLst>
              <a:gd name="connsiteX0" fmla="*/ 0 w 7688062"/>
              <a:gd name="connsiteY0" fmla="*/ 1510998 h 1510998"/>
              <a:gd name="connsiteX1" fmla="*/ 4403324 w 7688062"/>
              <a:gd name="connsiteY1" fmla="*/ 241491 h 1510998"/>
              <a:gd name="connsiteX2" fmla="*/ 7688062 w 7688062"/>
              <a:gd name="connsiteY2" fmla="*/ 1794 h 1510998"/>
            </a:gdLst>
            <a:ahLst/>
            <a:cxnLst>
              <a:cxn ang="0">
                <a:pos x="connsiteX0" y="connsiteY0"/>
              </a:cxn>
              <a:cxn ang="0">
                <a:pos x="connsiteX1" y="connsiteY1"/>
              </a:cxn>
              <a:cxn ang="0">
                <a:pos x="connsiteX2" y="connsiteY2"/>
              </a:cxn>
            </a:cxnLst>
            <a:rect l="l" t="t" r="r" b="b"/>
            <a:pathLst>
              <a:path w="7688062" h="1510998">
                <a:moveTo>
                  <a:pt x="0" y="1510998"/>
                </a:moveTo>
                <a:cubicBezTo>
                  <a:pt x="1560990" y="1002011"/>
                  <a:pt x="3121980" y="493025"/>
                  <a:pt x="4403324" y="241491"/>
                </a:cubicBezTo>
                <a:cubicBezTo>
                  <a:pt x="5684668" y="-10043"/>
                  <a:pt x="6686365" y="-4125"/>
                  <a:pt x="7688062" y="1794"/>
                </a:cubicBezTo>
              </a:path>
            </a:pathLst>
          </a:custGeom>
          <a:noFill/>
          <a:ln w="635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65" name="직사각형 364"/>
          <p:cNvSpPr/>
          <p:nvPr/>
        </p:nvSpPr>
        <p:spPr>
          <a:xfrm>
            <a:off x="9379124" y="6337311"/>
            <a:ext cx="1813978" cy="169277"/>
          </a:xfrm>
          <a:prstGeom prst="rect">
            <a:avLst/>
          </a:prstGeom>
        </p:spPr>
        <p:txBody>
          <a:bodyPr wrap="square">
            <a:spAutoFit/>
          </a:bodyPr>
          <a:lstStyle/>
          <a:p>
            <a:r>
              <a:rPr lang="en-US" altLang="ko-KR" sz="500" dirty="0"/>
              <a:t>DRAM </a:t>
            </a:r>
            <a:r>
              <a:rPr lang="ko-KR" altLang="en-US" sz="500" dirty="0"/>
              <a:t>및 </a:t>
            </a:r>
            <a:r>
              <a:rPr lang="en-US" altLang="ko-KR" sz="500" dirty="0"/>
              <a:t>NAND </a:t>
            </a:r>
            <a:r>
              <a:rPr lang="ko-KR" altLang="en-US" sz="500" dirty="0"/>
              <a:t>데이터 </a:t>
            </a:r>
            <a:r>
              <a:rPr lang="en-US" altLang="ko-KR" sz="500" dirty="0"/>
              <a:t>- Gartner Forecast </a:t>
            </a:r>
            <a:r>
              <a:rPr lang="ko-KR" altLang="en-US" sz="500" dirty="0"/>
              <a:t>문서 참고</a:t>
            </a:r>
          </a:p>
        </p:txBody>
      </p:sp>
      <p:cxnSp>
        <p:nvCxnSpPr>
          <p:cNvPr id="366" name="직선 연결선 365"/>
          <p:cNvCxnSpPr/>
          <p:nvPr/>
        </p:nvCxnSpPr>
        <p:spPr>
          <a:xfrm>
            <a:off x="6596223" y="5684020"/>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7" name="직선 연결선 366"/>
          <p:cNvCxnSpPr/>
          <p:nvPr/>
        </p:nvCxnSpPr>
        <p:spPr>
          <a:xfrm>
            <a:off x="6596223" y="5859285"/>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직선 연결선 367"/>
          <p:cNvCxnSpPr/>
          <p:nvPr/>
        </p:nvCxnSpPr>
        <p:spPr>
          <a:xfrm flipV="1">
            <a:off x="6596223" y="6032093"/>
            <a:ext cx="4267092" cy="2456"/>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9" name="직선 연결선 368"/>
          <p:cNvCxnSpPr/>
          <p:nvPr/>
        </p:nvCxnSpPr>
        <p:spPr>
          <a:xfrm>
            <a:off x="6596223" y="6209815"/>
            <a:ext cx="4267092" cy="0"/>
          </a:xfrm>
          <a:prstGeom prst="line">
            <a:avLst/>
          </a:prstGeom>
          <a:ln w="12700">
            <a:solidFill>
              <a:schemeClr val="tx1">
                <a:lumMod val="65000"/>
                <a:lumOff val="3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0" name="직선 연결선 369"/>
          <p:cNvCxnSpPr/>
          <p:nvPr/>
        </p:nvCxnSpPr>
        <p:spPr>
          <a:xfrm>
            <a:off x="6625681" y="5066928"/>
            <a:ext cx="0" cy="1142887"/>
          </a:xfrm>
          <a:prstGeom prst="line">
            <a:avLst/>
          </a:prstGeom>
          <a:ln w="12700">
            <a:solidFill>
              <a:schemeClr val="tx1">
                <a:lumMod val="65000"/>
                <a:lumOff val="3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1" name="직선 연결선 370"/>
          <p:cNvCxnSpPr/>
          <p:nvPr/>
        </p:nvCxnSpPr>
        <p:spPr>
          <a:xfrm>
            <a:off x="7156379"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2" name="직선 연결선 371"/>
          <p:cNvCxnSpPr/>
          <p:nvPr/>
        </p:nvCxnSpPr>
        <p:spPr>
          <a:xfrm>
            <a:off x="7687106"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3" name="직선 연결선 372"/>
          <p:cNvCxnSpPr/>
          <p:nvPr/>
        </p:nvCxnSpPr>
        <p:spPr>
          <a:xfrm>
            <a:off x="8219319"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직선 연결선 373"/>
          <p:cNvCxnSpPr/>
          <p:nvPr/>
        </p:nvCxnSpPr>
        <p:spPr>
          <a:xfrm>
            <a:off x="8745877"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5" name="직선 연결선 374"/>
          <p:cNvCxnSpPr/>
          <p:nvPr/>
        </p:nvCxnSpPr>
        <p:spPr>
          <a:xfrm>
            <a:off x="9277041"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6" name="직선 연결선 375"/>
          <p:cNvCxnSpPr/>
          <p:nvPr/>
        </p:nvCxnSpPr>
        <p:spPr>
          <a:xfrm>
            <a:off x="9807115"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7" name="직선 연결선 376"/>
          <p:cNvCxnSpPr/>
          <p:nvPr/>
        </p:nvCxnSpPr>
        <p:spPr>
          <a:xfrm>
            <a:off x="10335174"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8" name="TextBox 377"/>
          <p:cNvSpPr txBox="1"/>
          <p:nvPr/>
        </p:nvSpPr>
        <p:spPr>
          <a:xfrm>
            <a:off x="6758608" y="6198450"/>
            <a:ext cx="377302" cy="203878"/>
          </a:xfrm>
          <a:prstGeom prst="rect">
            <a:avLst/>
          </a:prstGeom>
          <a:noFill/>
        </p:spPr>
        <p:txBody>
          <a:bodyPr wrap="none" rtlCol="0">
            <a:spAutoFit/>
          </a:bodyPr>
          <a:lstStyle/>
          <a:p>
            <a:r>
              <a:rPr lang="en-US" altLang="ko-KR" sz="600" b="1" dirty="0"/>
              <a:t>2023</a:t>
            </a:r>
            <a:endParaRPr lang="ko-KR" altLang="en-US" sz="600" b="1" dirty="0"/>
          </a:p>
        </p:txBody>
      </p:sp>
      <p:sp>
        <p:nvSpPr>
          <p:cNvPr id="379" name="TextBox 378"/>
          <p:cNvSpPr txBox="1"/>
          <p:nvPr/>
        </p:nvSpPr>
        <p:spPr>
          <a:xfrm>
            <a:off x="7289321" y="6198450"/>
            <a:ext cx="377302" cy="203878"/>
          </a:xfrm>
          <a:prstGeom prst="rect">
            <a:avLst/>
          </a:prstGeom>
          <a:noFill/>
        </p:spPr>
        <p:txBody>
          <a:bodyPr wrap="none" rtlCol="0">
            <a:spAutoFit/>
          </a:bodyPr>
          <a:lstStyle/>
          <a:p>
            <a:r>
              <a:rPr lang="en-US" altLang="ko-KR" sz="600" b="1" dirty="0"/>
              <a:t>2024</a:t>
            </a:r>
            <a:endParaRPr lang="ko-KR" altLang="en-US" sz="600" b="1" dirty="0"/>
          </a:p>
        </p:txBody>
      </p:sp>
      <p:sp>
        <p:nvSpPr>
          <p:cNvPr id="380" name="TextBox 379"/>
          <p:cNvSpPr txBox="1"/>
          <p:nvPr/>
        </p:nvSpPr>
        <p:spPr>
          <a:xfrm>
            <a:off x="7820790" y="6198450"/>
            <a:ext cx="377302" cy="203878"/>
          </a:xfrm>
          <a:prstGeom prst="rect">
            <a:avLst/>
          </a:prstGeom>
          <a:noFill/>
        </p:spPr>
        <p:txBody>
          <a:bodyPr wrap="none" rtlCol="0">
            <a:spAutoFit/>
          </a:bodyPr>
          <a:lstStyle/>
          <a:p>
            <a:r>
              <a:rPr lang="en-US" altLang="ko-KR" sz="600" b="1" dirty="0"/>
              <a:t>2025</a:t>
            </a:r>
            <a:endParaRPr lang="ko-KR" altLang="en-US" sz="600" b="1" dirty="0"/>
          </a:p>
        </p:txBody>
      </p:sp>
      <p:sp>
        <p:nvSpPr>
          <p:cNvPr id="381" name="TextBox 380"/>
          <p:cNvSpPr txBox="1"/>
          <p:nvPr/>
        </p:nvSpPr>
        <p:spPr>
          <a:xfrm>
            <a:off x="8350176" y="6198450"/>
            <a:ext cx="377302" cy="203878"/>
          </a:xfrm>
          <a:prstGeom prst="rect">
            <a:avLst/>
          </a:prstGeom>
          <a:noFill/>
        </p:spPr>
        <p:txBody>
          <a:bodyPr wrap="none" rtlCol="0">
            <a:spAutoFit/>
          </a:bodyPr>
          <a:lstStyle/>
          <a:p>
            <a:r>
              <a:rPr lang="en-US" altLang="ko-KR" sz="600" b="1" dirty="0"/>
              <a:t>2026</a:t>
            </a:r>
            <a:endParaRPr lang="ko-KR" altLang="en-US" sz="600" b="1" dirty="0"/>
          </a:p>
        </p:txBody>
      </p:sp>
      <p:sp>
        <p:nvSpPr>
          <p:cNvPr id="382" name="TextBox 381"/>
          <p:cNvSpPr txBox="1"/>
          <p:nvPr/>
        </p:nvSpPr>
        <p:spPr>
          <a:xfrm>
            <a:off x="8879037" y="6198450"/>
            <a:ext cx="377302" cy="203878"/>
          </a:xfrm>
          <a:prstGeom prst="rect">
            <a:avLst/>
          </a:prstGeom>
          <a:noFill/>
        </p:spPr>
        <p:txBody>
          <a:bodyPr wrap="none" rtlCol="0">
            <a:spAutoFit/>
          </a:bodyPr>
          <a:lstStyle/>
          <a:p>
            <a:r>
              <a:rPr lang="en-US" altLang="ko-KR" sz="600" b="1" dirty="0"/>
              <a:t>2027</a:t>
            </a:r>
            <a:endParaRPr lang="ko-KR" altLang="en-US" sz="600" b="1" dirty="0"/>
          </a:p>
        </p:txBody>
      </p:sp>
      <p:sp>
        <p:nvSpPr>
          <p:cNvPr id="383" name="TextBox 382"/>
          <p:cNvSpPr txBox="1"/>
          <p:nvPr/>
        </p:nvSpPr>
        <p:spPr>
          <a:xfrm>
            <a:off x="9409911" y="6198450"/>
            <a:ext cx="377302" cy="203878"/>
          </a:xfrm>
          <a:prstGeom prst="rect">
            <a:avLst/>
          </a:prstGeom>
          <a:noFill/>
        </p:spPr>
        <p:txBody>
          <a:bodyPr wrap="none" rtlCol="0">
            <a:spAutoFit/>
          </a:bodyPr>
          <a:lstStyle/>
          <a:p>
            <a:r>
              <a:rPr lang="en-US" altLang="ko-KR" sz="600" b="1" dirty="0"/>
              <a:t>2028</a:t>
            </a:r>
            <a:endParaRPr lang="ko-KR" altLang="en-US" sz="600" b="1" dirty="0"/>
          </a:p>
        </p:txBody>
      </p:sp>
      <p:sp>
        <p:nvSpPr>
          <p:cNvPr id="384" name="TextBox 383"/>
          <p:cNvSpPr txBox="1"/>
          <p:nvPr/>
        </p:nvSpPr>
        <p:spPr>
          <a:xfrm>
            <a:off x="9938722" y="6198450"/>
            <a:ext cx="377302" cy="203878"/>
          </a:xfrm>
          <a:prstGeom prst="rect">
            <a:avLst/>
          </a:prstGeom>
          <a:noFill/>
        </p:spPr>
        <p:txBody>
          <a:bodyPr wrap="none" rtlCol="0">
            <a:spAutoFit/>
          </a:bodyPr>
          <a:lstStyle/>
          <a:p>
            <a:r>
              <a:rPr lang="en-US" altLang="ko-KR" sz="600" b="1" dirty="0"/>
              <a:t>2029</a:t>
            </a:r>
            <a:endParaRPr lang="ko-KR" altLang="en-US" sz="600" b="1" dirty="0"/>
          </a:p>
        </p:txBody>
      </p:sp>
      <p:sp>
        <p:nvSpPr>
          <p:cNvPr id="385" name="TextBox 384"/>
          <p:cNvSpPr txBox="1"/>
          <p:nvPr/>
        </p:nvSpPr>
        <p:spPr>
          <a:xfrm>
            <a:off x="10468232" y="6198450"/>
            <a:ext cx="377302" cy="203878"/>
          </a:xfrm>
          <a:prstGeom prst="rect">
            <a:avLst/>
          </a:prstGeom>
          <a:noFill/>
        </p:spPr>
        <p:txBody>
          <a:bodyPr wrap="none" rtlCol="0">
            <a:spAutoFit/>
          </a:bodyPr>
          <a:lstStyle/>
          <a:p>
            <a:r>
              <a:rPr lang="en-US" altLang="ko-KR" sz="600" b="1" dirty="0"/>
              <a:t>2030</a:t>
            </a:r>
            <a:endParaRPr lang="ko-KR" altLang="en-US" sz="600" b="1" dirty="0"/>
          </a:p>
        </p:txBody>
      </p:sp>
      <p:sp>
        <p:nvSpPr>
          <p:cNvPr id="386" name="TextBox 385"/>
          <p:cNvSpPr txBox="1"/>
          <p:nvPr/>
        </p:nvSpPr>
        <p:spPr>
          <a:xfrm flipV="1">
            <a:off x="6235558" y="5388128"/>
            <a:ext cx="276999" cy="555600"/>
          </a:xfrm>
          <a:prstGeom prst="rect">
            <a:avLst/>
          </a:prstGeom>
          <a:noFill/>
        </p:spPr>
        <p:txBody>
          <a:bodyPr vert="eaVert" wrap="none" rtlCol="0">
            <a:spAutoFit/>
          </a:bodyPr>
          <a:lstStyle/>
          <a:p>
            <a:r>
              <a:rPr lang="en-US" altLang="ko-KR" sz="600" dirty="0" err="1">
                <a:solidFill>
                  <a:schemeClr val="accent1">
                    <a:lumMod val="75000"/>
                  </a:schemeClr>
                </a:solidFill>
              </a:rPr>
              <a:t>Exabytes</a:t>
            </a:r>
            <a:r>
              <a:rPr lang="en-US" altLang="ko-KR" sz="600" dirty="0">
                <a:solidFill>
                  <a:schemeClr val="accent1">
                    <a:lumMod val="75000"/>
                  </a:schemeClr>
                </a:solidFill>
              </a:rPr>
              <a:t> (EB)</a:t>
            </a:r>
            <a:endParaRPr lang="ko-KR" altLang="en-US" sz="600" dirty="0">
              <a:solidFill>
                <a:schemeClr val="accent1">
                  <a:lumMod val="75000"/>
                </a:schemeClr>
              </a:solidFill>
            </a:endParaRPr>
          </a:p>
        </p:txBody>
      </p:sp>
      <p:sp>
        <p:nvSpPr>
          <p:cNvPr id="387" name="TextBox 386"/>
          <p:cNvSpPr txBox="1"/>
          <p:nvPr/>
        </p:nvSpPr>
        <p:spPr>
          <a:xfrm>
            <a:off x="6312496" y="5100782"/>
            <a:ext cx="320839" cy="203878"/>
          </a:xfrm>
          <a:prstGeom prst="rect">
            <a:avLst/>
          </a:prstGeom>
          <a:noFill/>
        </p:spPr>
        <p:txBody>
          <a:bodyPr wrap="none" rtlCol="0">
            <a:spAutoFit/>
          </a:bodyPr>
          <a:lstStyle/>
          <a:p>
            <a:pPr algn="r"/>
            <a:r>
              <a:rPr lang="en-US" altLang="ko-KR" sz="600" dirty="0">
                <a:solidFill>
                  <a:schemeClr val="accent1">
                    <a:lumMod val="75000"/>
                  </a:schemeClr>
                </a:solidFill>
              </a:rPr>
              <a:t>120</a:t>
            </a:r>
            <a:endParaRPr lang="ko-KR" altLang="en-US" sz="600" dirty="0">
              <a:solidFill>
                <a:schemeClr val="accent1">
                  <a:lumMod val="75000"/>
                </a:schemeClr>
              </a:solidFill>
            </a:endParaRPr>
          </a:p>
        </p:txBody>
      </p:sp>
      <p:sp>
        <p:nvSpPr>
          <p:cNvPr id="388" name="TextBox 387"/>
          <p:cNvSpPr txBox="1"/>
          <p:nvPr/>
        </p:nvSpPr>
        <p:spPr>
          <a:xfrm>
            <a:off x="6312496" y="5282383"/>
            <a:ext cx="320839" cy="203878"/>
          </a:xfrm>
          <a:prstGeom prst="rect">
            <a:avLst/>
          </a:prstGeom>
          <a:noFill/>
        </p:spPr>
        <p:txBody>
          <a:bodyPr wrap="none" rtlCol="0">
            <a:spAutoFit/>
          </a:bodyPr>
          <a:lstStyle/>
          <a:p>
            <a:pPr algn="r"/>
            <a:r>
              <a:rPr lang="en-US" altLang="ko-KR" sz="600" dirty="0">
                <a:solidFill>
                  <a:schemeClr val="accent1">
                    <a:lumMod val="75000"/>
                  </a:schemeClr>
                </a:solidFill>
              </a:rPr>
              <a:t>100</a:t>
            </a:r>
            <a:endParaRPr lang="ko-KR" altLang="en-US" sz="600" dirty="0">
              <a:solidFill>
                <a:schemeClr val="accent1">
                  <a:lumMod val="75000"/>
                </a:schemeClr>
              </a:solidFill>
            </a:endParaRPr>
          </a:p>
        </p:txBody>
      </p:sp>
      <p:sp>
        <p:nvSpPr>
          <p:cNvPr id="389" name="TextBox 388"/>
          <p:cNvSpPr txBox="1"/>
          <p:nvPr/>
        </p:nvSpPr>
        <p:spPr>
          <a:xfrm>
            <a:off x="6355673" y="5455882"/>
            <a:ext cx="277662" cy="203878"/>
          </a:xfrm>
          <a:prstGeom prst="rect">
            <a:avLst/>
          </a:prstGeom>
          <a:noFill/>
        </p:spPr>
        <p:txBody>
          <a:bodyPr wrap="none" rtlCol="0">
            <a:spAutoFit/>
          </a:bodyPr>
          <a:lstStyle/>
          <a:p>
            <a:pPr algn="r"/>
            <a:r>
              <a:rPr lang="en-US" altLang="ko-KR" sz="600" dirty="0">
                <a:solidFill>
                  <a:schemeClr val="accent1">
                    <a:lumMod val="75000"/>
                  </a:schemeClr>
                </a:solidFill>
              </a:rPr>
              <a:t>80</a:t>
            </a:r>
            <a:endParaRPr lang="ko-KR" altLang="en-US" sz="600" dirty="0">
              <a:solidFill>
                <a:schemeClr val="accent1">
                  <a:lumMod val="75000"/>
                </a:schemeClr>
              </a:solidFill>
            </a:endParaRPr>
          </a:p>
        </p:txBody>
      </p:sp>
      <p:sp>
        <p:nvSpPr>
          <p:cNvPr id="390" name="TextBox 389"/>
          <p:cNvSpPr txBox="1"/>
          <p:nvPr/>
        </p:nvSpPr>
        <p:spPr>
          <a:xfrm>
            <a:off x="6355672" y="5629382"/>
            <a:ext cx="277662" cy="203878"/>
          </a:xfrm>
          <a:prstGeom prst="rect">
            <a:avLst/>
          </a:prstGeom>
          <a:noFill/>
        </p:spPr>
        <p:txBody>
          <a:bodyPr wrap="none" rtlCol="0">
            <a:spAutoFit/>
          </a:bodyPr>
          <a:lstStyle/>
          <a:p>
            <a:pPr algn="r"/>
            <a:r>
              <a:rPr lang="en-US" altLang="ko-KR" sz="600" dirty="0">
                <a:solidFill>
                  <a:schemeClr val="accent1">
                    <a:lumMod val="75000"/>
                  </a:schemeClr>
                </a:solidFill>
              </a:rPr>
              <a:t>60</a:t>
            </a:r>
            <a:endParaRPr lang="ko-KR" altLang="en-US" sz="600" dirty="0">
              <a:solidFill>
                <a:schemeClr val="accent1">
                  <a:lumMod val="75000"/>
                </a:schemeClr>
              </a:solidFill>
            </a:endParaRPr>
          </a:p>
        </p:txBody>
      </p:sp>
      <p:sp>
        <p:nvSpPr>
          <p:cNvPr id="391" name="TextBox 390"/>
          <p:cNvSpPr txBox="1"/>
          <p:nvPr/>
        </p:nvSpPr>
        <p:spPr>
          <a:xfrm>
            <a:off x="6355673" y="5806413"/>
            <a:ext cx="277662" cy="203878"/>
          </a:xfrm>
          <a:prstGeom prst="rect">
            <a:avLst/>
          </a:prstGeom>
          <a:noFill/>
        </p:spPr>
        <p:txBody>
          <a:bodyPr wrap="none" rtlCol="0">
            <a:spAutoFit/>
          </a:bodyPr>
          <a:lstStyle/>
          <a:p>
            <a:pPr algn="r"/>
            <a:r>
              <a:rPr lang="en-US" altLang="ko-KR" sz="600" dirty="0">
                <a:solidFill>
                  <a:schemeClr val="accent1">
                    <a:lumMod val="75000"/>
                  </a:schemeClr>
                </a:solidFill>
              </a:rPr>
              <a:t>40</a:t>
            </a:r>
            <a:endParaRPr lang="ko-KR" altLang="en-US" sz="600" dirty="0">
              <a:solidFill>
                <a:schemeClr val="accent1">
                  <a:lumMod val="75000"/>
                </a:schemeClr>
              </a:solidFill>
            </a:endParaRPr>
          </a:p>
        </p:txBody>
      </p:sp>
      <p:sp>
        <p:nvSpPr>
          <p:cNvPr id="392" name="TextBox 391"/>
          <p:cNvSpPr txBox="1"/>
          <p:nvPr/>
        </p:nvSpPr>
        <p:spPr>
          <a:xfrm>
            <a:off x="6355673" y="5983466"/>
            <a:ext cx="277662" cy="203878"/>
          </a:xfrm>
          <a:prstGeom prst="rect">
            <a:avLst/>
          </a:prstGeom>
          <a:noFill/>
        </p:spPr>
        <p:txBody>
          <a:bodyPr wrap="none" rtlCol="0">
            <a:spAutoFit/>
          </a:bodyPr>
          <a:lstStyle/>
          <a:p>
            <a:pPr algn="r"/>
            <a:r>
              <a:rPr lang="en-US" altLang="ko-KR" sz="600" dirty="0">
                <a:solidFill>
                  <a:schemeClr val="accent1">
                    <a:lumMod val="75000"/>
                  </a:schemeClr>
                </a:solidFill>
              </a:rPr>
              <a:t>20</a:t>
            </a:r>
            <a:endParaRPr lang="ko-KR" altLang="en-US" sz="600" dirty="0">
              <a:solidFill>
                <a:schemeClr val="accent1">
                  <a:lumMod val="75000"/>
                </a:schemeClr>
              </a:solidFill>
            </a:endParaRPr>
          </a:p>
        </p:txBody>
      </p:sp>
      <p:sp>
        <p:nvSpPr>
          <p:cNvPr id="393" name="직사각형 392"/>
          <p:cNvSpPr/>
          <p:nvPr/>
        </p:nvSpPr>
        <p:spPr>
          <a:xfrm>
            <a:off x="6699049" y="5961971"/>
            <a:ext cx="189662" cy="2478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4" name="직사각형 393"/>
          <p:cNvSpPr/>
          <p:nvPr/>
        </p:nvSpPr>
        <p:spPr>
          <a:xfrm>
            <a:off x="6893350" y="5813263"/>
            <a:ext cx="189662" cy="396553"/>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5" name="직사각형 394"/>
          <p:cNvSpPr/>
          <p:nvPr/>
        </p:nvSpPr>
        <p:spPr>
          <a:xfrm>
            <a:off x="7229747" y="5942335"/>
            <a:ext cx="189662" cy="2674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6" name="직사각형 395"/>
          <p:cNvSpPr/>
          <p:nvPr/>
        </p:nvSpPr>
        <p:spPr>
          <a:xfrm>
            <a:off x="7424077" y="5788524"/>
            <a:ext cx="189662" cy="42129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7" name="직사각형 396"/>
          <p:cNvSpPr/>
          <p:nvPr/>
        </p:nvSpPr>
        <p:spPr>
          <a:xfrm>
            <a:off x="7760474" y="5871429"/>
            <a:ext cx="189662" cy="33838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398" name="직사각형 397"/>
          <p:cNvSpPr/>
          <p:nvPr/>
        </p:nvSpPr>
        <p:spPr>
          <a:xfrm>
            <a:off x="7956289" y="5733012"/>
            <a:ext cx="189662" cy="476802"/>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399" name="직사각형 398"/>
          <p:cNvSpPr/>
          <p:nvPr/>
        </p:nvSpPr>
        <p:spPr>
          <a:xfrm>
            <a:off x="8292687" y="5826341"/>
            <a:ext cx="189662" cy="38347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00" name="직사각형 399"/>
          <p:cNvSpPr/>
          <p:nvPr/>
        </p:nvSpPr>
        <p:spPr>
          <a:xfrm>
            <a:off x="8482848" y="5654034"/>
            <a:ext cx="189662" cy="55578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401" name="직사각형 400"/>
          <p:cNvSpPr/>
          <p:nvPr/>
        </p:nvSpPr>
        <p:spPr>
          <a:xfrm>
            <a:off x="8819245" y="5771747"/>
            <a:ext cx="189662" cy="43806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02" name="직사각형 401"/>
          <p:cNvSpPr/>
          <p:nvPr/>
        </p:nvSpPr>
        <p:spPr>
          <a:xfrm>
            <a:off x="9014012" y="5611805"/>
            <a:ext cx="189662" cy="59801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403" name="직사각형 402"/>
          <p:cNvSpPr/>
          <p:nvPr/>
        </p:nvSpPr>
        <p:spPr>
          <a:xfrm>
            <a:off x="9350664" y="5711437"/>
            <a:ext cx="189662" cy="49837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04" name="직사각형 403"/>
          <p:cNvSpPr/>
          <p:nvPr/>
        </p:nvSpPr>
        <p:spPr>
          <a:xfrm>
            <a:off x="9544340" y="5583555"/>
            <a:ext cx="189662" cy="62626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405" name="직사각형 404"/>
          <p:cNvSpPr/>
          <p:nvPr/>
        </p:nvSpPr>
        <p:spPr>
          <a:xfrm>
            <a:off x="9880482" y="5670889"/>
            <a:ext cx="189662" cy="53892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06" name="직사각형 405"/>
          <p:cNvSpPr/>
          <p:nvPr/>
        </p:nvSpPr>
        <p:spPr>
          <a:xfrm>
            <a:off x="10072144" y="5488603"/>
            <a:ext cx="189662" cy="721211"/>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sp>
        <p:nvSpPr>
          <p:cNvPr id="407" name="직사각형 406"/>
          <p:cNvSpPr/>
          <p:nvPr/>
        </p:nvSpPr>
        <p:spPr>
          <a:xfrm>
            <a:off x="10408541" y="5632935"/>
            <a:ext cx="189662" cy="5768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08" name="직사각형 407"/>
          <p:cNvSpPr/>
          <p:nvPr/>
        </p:nvSpPr>
        <p:spPr>
          <a:xfrm>
            <a:off x="10603106" y="5460457"/>
            <a:ext cx="189663" cy="74935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200"/>
          </a:p>
        </p:txBody>
      </p:sp>
      <p:cxnSp>
        <p:nvCxnSpPr>
          <p:cNvPr id="409" name="직선 화살표 연결선 408"/>
          <p:cNvCxnSpPr/>
          <p:nvPr/>
        </p:nvCxnSpPr>
        <p:spPr>
          <a:xfrm flipH="1">
            <a:off x="6625255" y="6004450"/>
            <a:ext cx="13220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0" name="직선 연결선 409"/>
          <p:cNvCxnSpPr/>
          <p:nvPr/>
        </p:nvCxnSpPr>
        <p:spPr>
          <a:xfrm>
            <a:off x="10866135" y="5066928"/>
            <a:ext cx="0" cy="1142887"/>
          </a:xfrm>
          <a:prstGeom prst="line">
            <a:avLst/>
          </a:prstGeom>
          <a:ln w="12700">
            <a:solidFill>
              <a:schemeClr val="bg1">
                <a:lumMod val="8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1" name="TextBox 410"/>
          <p:cNvSpPr txBox="1"/>
          <p:nvPr/>
        </p:nvSpPr>
        <p:spPr>
          <a:xfrm>
            <a:off x="10840211" y="5457665"/>
            <a:ext cx="295930" cy="203878"/>
          </a:xfrm>
          <a:prstGeom prst="rect">
            <a:avLst/>
          </a:prstGeom>
          <a:noFill/>
        </p:spPr>
        <p:txBody>
          <a:bodyPr wrap="none" rtlCol="0">
            <a:spAutoFit/>
          </a:bodyPr>
          <a:lstStyle/>
          <a:p>
            <a:r>
              <a:rPr lang="en-US" altLang="ko-KR" sz="600" dirty="0">
                <a:solidFill>
                  <a:schemeClr val="accent6">
                    <a:lumMod val="75000"/>
                  </a:schemeClr>
                </a:solidFill>
              </a:rPr>
              <a:t>1.6</a:t>
            </a:r>
            <a:endParaRPr lang="ko-KR" altLang="en-US" sz="600" dirty="0">
              <a:solidFill>
                <a:schemeClr val="accent6">
                  <a:lumMod val="75000"/>
                </a:schemeClr>
              </a:solidFill>
            </a:endParaRPr>
          </a:p>
        </p:txBody>
      </p:sp>
      <p:sp>
        <p:nvSpPr>
          <p:cNvPr id="412" name="TextBox 411"/>
          <p:cNvSpPr txBox="1"/>
          <p:nvPr/>
        </p:nvSpPr>
        <p:spPr>
          <a:xfrm>
            <a:off x="10840211" y="5627267"/>
            <a:ext cx="295930" cy="203878"/>
          </a:xfrm>
          <a:prstGeom prst="rect">
            <a:avLst/>
          </a:prstGeom>
          <a:noFill/>
        </p:spPr>
        <p:txBody>
          <a:bodyPr wrap="none" rtlCol="0">
            <a:spAutoFit/>
          </a:bodyPr>
          <a:lstStyle/>
          <a:p>
            <a:r>
              <a:rPr lang="en-US" altLang="ko-KR" sz="600" dirty="0">
                <a:solidFill>
                  <a:schemeClr val="accent6">
                    <a:lumMod val="75000"/>
                  </a:schemeClr>
                </a:solidFill>
              </a:rPr>
              <a:t>1.2</a:t>
            </a:r>
            <a:endParaRPr lang="ko-KR" altLang="en-US" sz="600" dirty="0">
              <a:solidFill>
                <a:schemeClr val="accent6">
                  <a:lumMod val="75000"/>
                </a:schemeClr>
              </a:solidFill>
            </a:endParaRPr>
          </a:p>
        </p:txBody>
      </p:sp>
      <p:sp>
        <p:nvSpPr>
          <p:cNvPr id="413" name="TextBox 412"/>
          <p:cNvSpPr txBox="1"/>
          <p:nvPr/>
        </p:nvSpPr>
        <p:spPr>
          <a:xfrm>
            <a:off x="10840211" y="5805507"/>
            <a:ext cx="295930" cy="203878"/>
          </a:xfrm>
          <a:prstGeom prst="rect">
            <a:avLst/>
          </a:prstGeom>
          <a:noFill/>
        </p:spPr>
        <p:txBody>
          <a:bodyPr wrap="none" rtlCol="0">
            <a:spAutoFit/>
          </a:bodyPr>
          <a:lstStyle/>
          <a:p>
            <a:r>
              <a:rPr lang="en-US" altLang="ko-KR" sz="600" dirty="0">
                <a:solidFill>
                  <a:schemeClr val="accent6">
                    <a:lumMod val="75000"/>
                  </a:schemeClr>
                </a:solidFill>
              </a:rPr>
              <a:t>0.8</a:t>
            </a:r>
            <a:endParaRPr lang="ko-KR" altLang="en-US" sz="600" dirty="0">
              <a:solidFill>
                <a:schemeClr val="accent6">
                  <a:lumMod val="75000"/>
                </a:schemeClr>
              </a:solidFill>
            </a:endParaRPr>
          </a:p>
        </p:txBody>
      </p:sp>
      <p:sp>
        <p:nvSpPr>
          <p:cNvPr id="414" name="TextBox 413"/>
          <p:cNvSpPr txBox="1"/>
          <p:nvPr/>
        </p:nvSpPr>
        <p:spPr>
          <a:xfrm>
            <a:off x="10840211" y="5979220"/>
            <a:ext cx="295930" cy="203878"/>
          </a:xfrm>
          <a:prstGeom prst="rect">
            <a:avLst/>
          </a:prstGeom>
          <a:noFill/>
        </p:spPr>
        <p:txBody>
          <a:bodyPr wrap="none" rtlCol="0">
            <a:spAutoFit/>
          </a:bodyPr>
          <a:lstStyle/>
          <a:p>
            <a:r>
              <a:rPr lang="en-US" altLang="ko-KR" sz="600" dirty="0">
                <a:solidFill>
                  <a:schemeClr val="accent6">
                    <a:lumMod val="75000"/>
                  </a:schemeClr>
                </a:solidFill>
              </a:rPr>
              <a:t>0.4</a:t>
            </a:r>
            <a:endParaRPr lang="ko-KR" altLang="en-US" sz="600" dirty="0">
              <a:solidFill>
                <a:schemeClr val="accent6">
                  <a:lumMod val="75000"/>
                </a:schemeClr>
              </a:solidFill>
            </a:endParaRPr>
          </a:p>
        </p:txBody>
      </p:sp>
      <p:sp>
        <p:nvSpPr>
          <p:cNvPr id="415" name="TextBox 414"/>
          <p:cNvSpPr txBox="1"/>
          <p:nvPr/>
        </p:nvSpPr>
        <p:spPr>
          <a:xfrm>
            <a:off x="10992114" y="5357822"/>
            <a:ext cx="276999" cy="626133"/>
          </a:xfrm>
          <a:prstGeom prst="rect">
            <a:avLst/>
          </a:prstGeom>
          <a:noFill/>
        </p:spPr>
        <p:txBody>
          <a:bodyPr vert="eaVert" wrap="none" rtlCol="0">
            <a:spAutoFit/>
          </a:bodyPr>
          <a:lstStyle/>
          <a:p>
            <a:r>
              <a:rPr lang="en-US" altLang="ko-KR" sz="600" dirty="0">
                <a:solidFill>
                  <a:schemeClr val="accent6">
                    <a:lumMod val="75000"/>
                  </a:schemeClr>
                </a:solidFill>
              </a:rPr>
              <a:t>Zettabytes (ZB)</a:t>
            </a:r>
            <a:endParaRPr lang="ko-KR" altLang="en-US" sz="600" dirty="0">
              <a:solidFill>
                <a:schemeClr val="accent6">
                  <a:lumMod val="75000"/>
                </a:schemeClr>
              </a:solidFill>
            </a:endParaRPr>
          </a:p>
        </p:txBody>
      </p:sp>
      <p:cxnSp>
        <p:nvCxnSpPr>
          <p:cNvPr id="416" name="직선 연결선 415"/>
          <p:cNvCxnSpPr/>
          <p:nvPr/>
        </p:nvCxnSpPr>
        <p:spPr>
          <a:xfrm>
            <a:off x="6596223" y="5158227"/>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7" name="직선 연결선 416"/>
          <p:cNvCxnSpPr/>
          <p:nvPr/>
        </p:nvCxnSpPr>
        <p:spPr>
          <a:xfrm>
            <a:off x="6596223" y="5333491"/>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8" name="직선 연결선 417"/>
          <p:cNvCxnSpPr/>
          <p:nvPr/>
        </p:nvCxnSpPr>
        <p:spPr>
          <a:xfrm>
            <a:off x="6596223" y="5508756"/>
            <a:ext cx="4267092" cy="0"/>
          </a:xfrm>
          <a:prstGeom prst="line">
            <a:avLst/>
          </a:prstGeom>
          <a:ln w="12700">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9" name="타원 418"/>
          <p:cNvSpPr/>
          <p:nvPr/>
        </p:nvSpPr>
        <p:spPr>
          <a:xfrm flipH="1">
            <a:off x="6872397" y="5469328"/>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0" name="타원 419"/>
          <p:cNvSpPr/>
          <p:nvPr/>
        </p:nvSpPr>
        <p:spPr>
          <a:xfrm flipH="1">
            <a:off x="7403109" y="5464917"/>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1" name="타원 420"/>
          <p:cNvSpPr/>
          <p:nvPr/>
        </p:nvSpPr>
        <p:spPr>
          <a:xfrm flipH="1">
            <a:off x="8463715" y="5344203"/>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2" name="타원 421"/>
          <p:cNvSpPr/>
          <p:nvPr/>
        </p:nvSpPr>
        <p:spPr>
          <a:xfrm flipH="1">
            <a:off x="8992826" y="5279525"/>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3" name="타원 422"/>
          <p:cNvSpPr/>
          <p:nvPr/>
        </p:nvSpPr>
        <p:spPr>
          <a:xfrm flipH="1">
            <a:off x="9523699" y="5210822"/>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4" name="타원 423"/>
          <p:cNvSpPr/>
          <p:nvPr/>
        </p:nvSpPr>
        <p:spPr>
          <a:xfrm flipH="1">
            <a:off x="10052510" y="5114943"/>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25" name="타원 424"/>
          <p:cNvSpPr/>
          <p:nvPr/>
        </p:nvSpPr>
        <p:spPr>
          <a:xfrm flipH="1">
            <a:off x="10582021" y="5055971"/>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cxnSp>
        <p:nvCxnSpPr>
          <p:cNvPr id="426" name="직선 연결선 425"/>
          <p:cNvCxnSpPr/>
          <p:nvPr/>
        </p:nvCxnSpPr>
        <p:spPr>
          <a:xfrm flipV="1">
            <a:off x="6909664" y="5484192"/>
            <a:ext cx="493445" cy="4412"/>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7" name="직선 연결선 426"/>
          <p:cNvCxnSpPr/>
          <p:nvPr/>
        </p:nvCxnSpPr>
        <p:spPr>
          <a:xfrm flipV="1">
            <a:off x="7440376" y="5441033"/>
            <a:ext cx="494203" cy="43159"/>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8" name="직선 연결선 427"/>
          <p:cNvCxnSpPr/>
          <p:nvPr/>
        </p:nvCxnSpPr>
        <p:spPr>
          <a:xfrm flipV="1">
            <a:off x="9030093" y="5230098"/>
            <a:ext cx="493606" cy="68703"/>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9" name="직선 연결선 428"/>
          <p:cNvCxnSpPr/>
          <p:nvPr/>
        </p:nvCxnSpPr>
        <p:spPr>
          <a:xfrm flipV="1">
            <a:off x="8500982" y="5298800"/>
            <a:ext cx="491843" cy="64678"/>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0" name="직선 연결선 429"/>
          <p:cNvCxnSpPr/>
          <p:nvPr/>
        </p:nvCxnSpPr>
        <p:spPr>
          <a:xfrm flipV="1">
            <a:off x="7971846" y="5363478"/>
            <a:ext cx="491869" cy="77555"/>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1" name="직선 연결선 430"/>
          <p:cNvCxnSpPr/>
          <p:nvPr/>
        </p:nvCxnSpPr>
        <p:spPr>
          <a:xfrm flipV="1">
            <a:off x="10089778" y="5075246"/>
            <a:ext cx="492244" cy="58972"/>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2" name="직선 연결선 431"/>
          <p:cNvCxnSpPr/>
          <p:nvPr/>
        </p:nvCxnSpPr>
        <p:spPr>
          <a:xfrm flipV="1">
            <a:off x="9560967" y="5134218"/>
            <a:ext cx="491544" cy="95880"/>
          </a:xfrm>
          <a:prstGeom prst="line">
            <a:avLst/>
          </a:prstGeom>
          <a:ln w="1270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3" name="TextBox 432"/>
          <p:cNvSpPr txBox="1"/>
          <p:nvPr/>
        </p:nvSpPr>
        <p:spPr>
          <a:xfrm>
            <a:off x="6727778" y="5297059"/>
            <a:ext cx="574921" cy="237858"/>
          </a:xfrm>
          <a:prstGeom prst="rect">
            <a:avLst/>
          </a:prstGeom>
          <a:noFill/>
        </p:spPr>
        <p:txBody>
          <a:bodyPr wrap="none" rtlCol="0">
            <a:spAutoFit/>
          </a:bodyPr>
          <a:lstStyle/>
          <a:p>
            <a:r>
              <a:rPr lang="en-US" altLang="ko-KR" sz="800" b="1" dirty="0">
                <a:solidFill>
                  <a:srgbClr val="7030A0"/>
                </a:solidFill>
              </a:rPr>
              <a:t>0.51 ZB</a:t>
            </a:r>
            <a:endParaRPr lang="ko-KR" altLang="en-US" sz="800" b="1" dirty="0">
              <a:solidFill>
                <a:srgbClr val="7030A0"/>
              </a:solidFill>
            </a:endParaRPr>
          </a:p>
        </p:txBody>
      </p:sp>
      <p:sp>
        <p:nvSpPr>
          <p:cNvPr id="434" name="TextBox 433"/>
          <p:cNvSpPr txBox="1"/>
          <p:nvPr/>
        </p:nvSpPr>
        <p:spPr>
          <a:xfrm>
            <a:off x="7245751" y="5291665"/>
            <a:ext cx="574921" cy="237858"/>
          </a:xfrm>
          <a:prstGeom prst="rect">
            <a:avLst/>
          </a:prstGeom>
          <a:noFill/>
        </p:spPr>
        <p:txBody>
          <a:bodyPr wrap="none" rtlCol="0">
            <a:spAutoFit/>
          </a:bodyPr>
          <a:lstStyle/>
          <a:p>
            <a:r>
              <a:rPr lang="en-US" altLang="ko-KR" sz="800" b="1" dirty="0">
                <a:solidFill>
                  <a:srgbClr val="7030A0"/>
                </a:solidFill>
              </a:rPr>
              <a:t>1.28 ZB</a:t>
            </a:r>
            <a:endParaRPr lang="ko-KR" altLang="en-US" sz="800" b="1" dirty="0">
              <a:solidFill>
                <a:srgbClr val="7030A0"/>
              </a:solidFill>
            </a:endParaRPr>
          </a:p>
        </p:txBody>
      </p:sp>
      <p:sp>
        <p:nvSpPr>
          <p:cNvPr id="435" name="TextBox 434"/>
          <p:cNvSpPr txBox="1"/>
          <p:nvPr/>
        </p:nvSpPr>
        <p:spPr>
          <a:xfrm>
            <a:off x="7803358" y="5238378"/>
            <a:ext cx="513477" cy="237858"/>
          </a:xfrm>
          <a:prstGeom prst="rect">
            <a:avLst/>
          </a:prstGeom>
          <a:noFill/>
        </p:spPr>
        <p:txBody>
          <a:bodyPr wrap="none" rtlCol="0">
            <a:spAutoFit/>
          </a:bodyPr>
          <a:lstStyle/>
          <a:p>
            <a:r>
              <a:rPr lang="en-US" altLang="ko-KR" sz="800" b="1" dirty="0">
                <a:solidFill>
                  <a:srgbClr val="7030A0"/>
                </a:solidFill>
              </a:rPr>
              <a:t>3.2 ZB</a:t>
            </a:r>
            <a:endParaRPr lang="ko-KR" altLang="en-US" sz="800" b="1" dirty="0">
              <a:solidFill>
                <a:srgbClr val="7030A0"/>
              </a:solidFill>
            </a:endParaRPr>
          </a:p>
        </p:txBody>
      </p:sp>
      <p:sp>
        <p:nvSpPr>
          <p:cNvPr id="436" name="TextBox 435"/>
          <p:cNvSpPr txBox="1"/>
          <p:nvPr/>
        </p:nvSpPr>
        <p:spPr>
          <a:xfrm>
            <a:off x="8870373" y="5097533"/>
            <a:ext cx="485246" cy="237858"/>
          </a:xfrm>
          <a:prstGeom prst="rect">
            <a:avLst/>
          </a:prstGeom>
          <a:noFill/>
        </p:spPr>
        <p:txBody>
          <a:bodyPr wrap="none" rtlCol="0">
            <a:spAutoFit/>
          </a:bodyPr>
          <a:lstStyle/>
          <a:p>
            <a:r>
              <a:rPr lang="en-US" altLang="ko-KR" sz="800" b="1" dirty="0">
                <a:solidFill>
                  <a:srgbClr val="7030A0"/>
                </a:solidFill>
              </a:rPr>
              <a:t>20 ZB</a:t>
            </a:r>
            <a:endParaRPr lang="ko-KR" altLang="en-US" sz="800" b="1" dirty="0">
              <a:solidFill>
                <a:srgbClr val="7030A0"/>
              </a:solidFill>
            </a:endParaRPr>
          </a:p>
        </p:txBody>
      </p:sp>
      <p:sp>
        <p:nvSpPr>
          <p:cNvPr id="437" name="TextBox 436"/>
          <p:cNvSpPr txBox="1"/>
          <p:nvPr/>
        </p:nvSpPr>
        <p:spPr>
          <a:xfrm>
            <a:off x="9397607" y="5024579"/>
            <a:ext cx="485246" cy="237858"/>
          </a:xfrm>
          <a:prstGeom prst="rect">
            <a:avLst/>
          </a:prstGeom>
          <a:noFill/>
        </p:spPr>
        <p:txBody>
          <a:bodyPr wrap="none" rtlCol="0">
            <a:spAutoFit/>
          </a:bodyPr>
          <a:lstStyle/>
          <a:p>
            <a:r>
              <a:rPr lang="en-US" altLang="ko-KR" sz="800" b="1" dirty="0">
                <a:solidFill>
                  <a:srgbClr val="7030A0"/>
                </a:solidFill>
              </a:rPr>
              <a:t>50 ZB</a:t>
            </a:r>
            <a:endParaRPr lang="ko-KR" altLang="en-US" sz="800" b="1" dirty="0">
              <a:solidFill>
                <a:srgbClr val="7030A0"/>
              </a:solidFill>
            </a:endParaRPr>
          </a:p>
        </p:txBody>
      </p:sp>
      <p:sp>
        <p:nvSpPr>
          <p:cNvPr id="438" name="TextBox 437"/>
          <p:cNvSpPr txBox="1"/>
          <p:nvPr/>
        </p:nvSpPr>
        <p:spPr>
          <a:xfrm>
            <a:off x="9895699" y="4946117"/>
            <a:ext cx="546690" cy="237858"/>
          </a:xfrm>
          <a:prstGeom prst="rect">
            <a:avLst/>
          </a:prstGeom>
          <a:noFill/>
        </p:spPr>
        <p:txBody>
          <a:bodyPr wrap="none" rtlCol="0">
            <a:spAutoFit/>
          </a:bodyPr>
          <a:lstStyle/>
          <a:p>
            <a:r>
              <a:rPr lang="en-US" altLang="ko-KR" sz="800" b="1" dirty="0">
                <a:solidFill>
                  <a:srgbClr val="7030A0"/>
                </a:solidFill>
              </a:rPr>
              <a:t>125 ZB</a:t>
            </a:r>
            <a:endParaRPr lang="ko-KR" altLang="en-US" sz="800" b="1" dirty="0">
              <a:solidFill>
                <a:srgbClr val="7030A0"/>
              </a:solidFill>
            </a:endParaRPr>
          </a:p>
        </p:txBody>
      </p:sp>
      <p:sp>
        <p:nvSpPr>
          <p:cNvPr id="439" name="TextBox 438"/>
          <p:cNvSpPr txBox="1"/>
          <p:nvPr/>
        </p:nvSpPr>
        <p:spPr>
          <a:xfrm>
            <a:off x="10401392" y="4873681"/>
            <a:ext cx="636366" cy="237858"/>
          </a:xfrm>
          <a:prstGeom prst="rect">
            <a:avLst/>
          </a:prstGeom>
          <a:noFill/>
        </p:spPr>
        <p:txBody>
          <a:bodyPr wrap="none" rtlCol="0">
            <a:spAutoFit/>
          </a:bodyPr>
          <a:lstStyle/>
          <a:p>
            <a:r>
              <a:rPr lang="en-US" altLang="ko-KR" sz="800" b="1" dirty="0">
                <a:solidFill>
                  <a:srgbClr val="7030A0"/>
                </a:solidFill>
              </a:rPr>
              <a:t>312.5 ZB</a:t>
            </a:r>
            <a:endParaRPr lang="ko-KR" altLang="en-US" sz="800" b="1" dirty="0">
              <a:solidFill>
                <a:srgbClr val="7030A0"/>
              </a:solidFill>
            </a:endParaRPr>
          </a:p>
        </p:txBody>
      </p:sp>
      <p:sp>
        <p:nvSpPr>
          <p:cNvPr id="440" name="TextBox 439"/>
          <p:cNvSpPr txBox="1"/>
          <p:nvPr/>
        </p:nvSpPr>
        <p:spPr>
          <a:xfrm>
            <a:off x="8362900" y="5163732"/>
            <a:ext cx="423800" cy="237858"/>
          </a:xfrm>
          <a:prstGeom prst="rect">
            <a:avLst/>
          </a:prstGeom>
          <a:noFill/>
        </p:spPr>
        <p:txBody>
          <a:bodyPr wrap="none" rtlCol="0">
            <a:spAutoFit/>
          </a:bodyPr>
          <a:lstStyle/>
          <a:p>
            <a:r>
              <a:rPr lang="en-US" altLang="ko-KR" sz="800" b="1" dirty="0">
                <a:solidFill>
                  <a:srgbClr val="7030A0"/>
                </a:solidFill>
              </a:rPr>
              <a:t>8 ZB</a:t>
            </a:r>
            <a:endParaRPr lang="ko-KR" altLang="en-US" sz="800" b="1" dirty="0">
              <a:solidFill>
                <a:srgbClr val="7030A0"/>
              </a:solidFill>
            </a:endParaRPr>
          </a:p>
        </p:txBody>
      </p:sp>
      <p:cxnSp>
        <p:nvCxnSpPr>
          <p:cNvPr id="441" name="직선 화살표 연결선 440"/>
          <p:cNvCxnSpPr/>
          <p:nvPr/>
        </p:nvCxnSpPr>
        <p:spPr>
          <a:xfrm>
            <a:off x="10742370" y="5475565"/>
            <a:ext cx="132202" cy="0"/>
          </a:xfrm>
          <a:prstGeom prst="straightConnector1">
            <a:avLst/>
          </a:prstGeom>
          <a:ln w="19050">
            <a:tailEnd type="triangle"/>
          </a:ln>
        </p:spPr>
        <p:style>
          <a:lnRef idx="1">
            <a:schemeClr val="accent6"/>
          </a:lnRef>
          <a:fillRef idx="0">
            <a:schemeClr val="accent6"/>
          </a:fillRef>
          <a:effectRef idx="0">
            <a:schemeClr val="accent6"/>
          </a:effectRef>
          <a:fontRef idx="minor">
            <a:schemeClr val="tx1"/>
          </a:fontRef>
        </p:style>
      </p:cxnSp>
      <p:sp>
        <p:nvSpPr>
          <p:cNvPr id="442" name="TextBox 441"/>
          <p:cNvSpPr txBox="1"/>
          <p:nvPr/>
        </p:nvSpPr>
        <p:spPr>
          <a:xfrm>
            <a:off x="10840211" y="5100782"/>
            <a:ext cx="295930" cy="203878"/>
          </a:xfrm>
          <a:prstGeom prst="rect">
            <a:avLst/>
          </a:prstGeom>
          <a:noFill/>
        </p:spPr>
        <p:txBody>
          <a:bodyPr wrap="none" rtlCol="0">
            <a:spAutoFit/>
          </a:bodyPr>
          <a:lstStyle/>
          <a:p>
            <a:r>
              <a:rPr lang="en-US" altLang="ko-KR" sz="600" dirty="0">
                <a:solidFill>
                  <a:schemeClr val="accent6">
                    <a:lumMod val="75000"/>
                  </a:schemeClr>
                </a:solidFill>
              </a:rPr>
              <a:t>2.4</a:t>
            </a:r>
            <a:endParaRPr lang="ko-KR" altLang="en-US" sz="600" dirty="0">
              <a:solidFill>
                <a:schemeClr val="accent6">
                  <a:lumMod val="75000"/>
                </a:schemeClr>
              </a:solidFill>
            </a:endParaRPr>
          </a:p>
        </p:txBody>
      </p:sp>
      <p:sp>
        <p:nvSpPr>
          <p:cNvPr id="443" name="TextBox 442"/>
          <p:cNvSpPr txBox="1"/>
          <p:nvPr/>
        </p:nvSpPr>
        <p:spPr>
          <a:xfrm>
            <a:off x="10840211" y="5278832"/>
            <a:ext cx="295930" cy="203878"/>
          </a:xfrm>
          <a:prstGeom prst="rect">
            <a:avLst/>
          </a:prstGeom>
          <a:noFill/>
        </p:spPr>
        <p:txBody>
          <a:bodyPr wrap="none" rtlCol="0">
            <a:spAutoFit/>
          </a:bodyPr>
          <a:lstStyle/>
          <a:p>
            <a:r>
              <a:rPr lang="en-US" altLang="ko-KR" sz="600" dirty="0">
                <a:solidFill>
                  <a:schemeClr val="accent6">
                    <a:lumMod val="75000"/>
                  </a:schemeClr>
                </a:solidFill>
              </a:rPr>
              <a:t>2.0</a:t>
            </a:r>
            <a:endParaRPr lang="ko-KR" altLang="en-US" sz="600" dirty="0">
              <a:solidFill>
                <a:schemeClr val="accent6">
                  <a:lumMod val="75000"/>
                </a:schemeClr>
              </a:solidFill>
            </a:endParaRPr>
          </a:p>
        </p:txBody>
      </p:sp>
      <p:grpSp>
        <p:nvGrpSpPr>
          <p:cNvPr id="444" name="그룹 443"/>
          <p:cNvGrpSpPr/>
          <p:nvPr/>
        </p:nvGrpSpPr>
        <p:grpSpPr>
          <a:xfrm>
            <a:off x="6713929" y="4758947"/>
            <a:ext cx="2119250" cy="301902"/>
            <a:chOff x="1945564" y="2880508"/>
            <a:chExt cx="4094381" cy="659026"/>
          </a:xfrm>
        </p:grpSpPr>
        <p:sp>
          <p:nvSpPr>
            <p:cNvPr id="448" name="직사각형 447"/>
            <p:cNvSpPr/>
            <p:nvPr/>
          </p:nvSpPr>
          <p:spPr>
            <a:xfrm>
              <a:off x="1945564" y="3027859"/>
              <a:ext cx="108000" cy="108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449" name="직사각형 448"/>
            <p:cNvSpPr/>
            <p:nvPr/>
          </p:nvSpPr>
          <p:spPr>
            <a:xfrm>
              <a:off x="1945564" y="3221475"/>
              <a:ext cx="108000" cy="10800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400"/>
            </a:p>
          </p:txBody>
        </p:sp>
        <p:sp>
          <p:nvSpPr>
            <p:cNvPr id="450" name="TextBox 449"/>
            <p:cNvSpPr txBox="1"/>
            <p:nvPr/>
          </p:nvSpPr>
          <p:spPr>
            <a:xfrm>
              <a:off x="2008785" y="2905210"/>
              <a:ext cx="1821653" cy="403110"/>
            </a:xfrm>
            <a:prstGeom prst="rect">
              <a:avLst/>
            </a:prstGeom>
            <a:noFill/>
          </p:spPr>
          <p:txBody>
            <a:bodyPr wrap="none" rtlCol="0">
              <a:spAutoFit/>
            </a:bodyPr>
            <a:lstStyle/>
            <a:p>
              <a:r>
                <a:rPr lang="en-US" altLang="ko-KR" sz="600" dirty="0"/>
                <a:t>DRAM Total Supplied</a:t>
              </a:r>
              <a:endParaRPr lang="ko-KR" altLang="en-US" sz="600" dirty="0"/>
            </a:p>
          </p:txBody>
        </p:sp>
        <p:sp>
          <p:nvSpPr>
            <p:cNvPr id="451" name="TextBox 450"/>
            <p:cNvSpPr txBox="1"/>
            <p:nvPr/>
          </p:nvSpPr>
          <p:spPr>
            <a:xfrm>
              <a:off x="2008785" y="3103514"/>
              <a:ext cx="1824748" cy="403110"/>
            </a:xfrm>
            <a:prstGeom prst="rect">
              <a:avLst/>
            </a:prstGeom>
            <a:noFill/>
          </p:spPr>
          <p:txBody>
            <a:bodyPr wrap="none" rtlCol="0">
              <a:spAutoFit/>
            </a:bodyPr>
            <a:lstStyle/>
            <a:p>
              <a:r>
                <a:rPr lang="en-US" altLang="ko-KR" sz="600" dirty="0"/>
                <a:t>NAND Total Supplied</a:t>
              </a:r>
              <a:endParaRPr lang="ko-KR" altLang="en-US" sz="600" dirty="0"/>
            </a:p>
          </p:txBody>
        </p:sp>
        <p:sp>
          <p:nvSpPr>
            <p:cNvPr id="452" name="타원 451"/>
            <p:cNvSpPr/>
            <p:nvPr/>
          </p:nvSpPr>
          <p:spPr>
            <a:xfrm flipH="1">
              <a:off x="3847065" y="3008608"/>
              <a:ext cx="111930" cy="152481"/>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453" name="TextBox 452"/>
            <p:cNvSpPr txBox="1"/>
            <p:nvPr/>
          </p:nvSpPr>
          <p:spPr>
            <a:xfrm>
              <a:off x="3900330" y="2880508"/>
              <a:ext cx="2127985" cy="403110"/>
            </a:xfrm>
            <a:prstGeom prst="rect">
              <a:avLst/>
            </a:prstGeom>
            <a:noFill/>
          </p:spPr>
          <p:txBody>
            <a:bodyPr wrap="square" rtlCol="0">
              <a:spAutoFit/>
            </a:bodyPr>
            <a:lstStyle/>
            <a:p>
              <a:r>
                <a:rPr lang="en-US" altLang="ko-KR" sz="600" dirty="0" err="1"/>
                <a:t>KVcache</a:t>
              </a:r>
              <a:r>
                <a:rPr lang="en-US" altLang="ko-KR" sz="600" dirty="0"/>
                <a:t> Demand (x2.5/Y)</a:t>
              </a:r>
              <a:endParaRPr lang="ko-KR" altLang="en-US" sz="600" dirty="0"/>
            </a:p>
          </p:txBody>
        </p:sp>
        <p:sp>
          <p:nvSpPr>
            <p:cNvPr id="454" name="직사각형 453"/>
            <p:cNvSpPr/>
            <p:nvPr/>
          </p:nvSpPr>
          <p:spPr>
            <a:xfrm>
              <a:off x="3829221" y="3216441"/>
              <a:ext cx="192510" cy="209031"/>
            </a:xfrm>
            <a:prstGeom prst="rect">
              <a:avLst/>
            </a:prstGeom>
            <a:solidFill>
              <a:schemeClr val="bg1">
                <a:lumMod val="9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ko-KR" altLang="en-US" sz="1400"/>
            </a:p>
          </p:txBody>
        </p:sp>
        <p:sp>
          <p:nvSpPr>
            <p:cNvPr id="455" name="TextBox 454"/>
            <p:cNvSpPr txBox="1"/>
            <p:nvPr/>
          </p:nvSpPr>
          <p:spPr>
            <a:xfrm>
              <a:off x="3883817" y="3102831"/>
              <a:ext cx="2156128" cy="436703"/>
            </a:xfrm>
            <a:prstGeom prst="rect">
              <a:avLst/>
            </a:prstGeom>
            <a:noFill/>
          </p:spPr>
          <p:txBody>
            <a:bodyPr wrap="none" rtlCol="0">
              <a:spAutoFit/>
            </a:bodyPr>
            <a:lstStyle/>
            <a:p>
              <a:r>
                <a:rPr lang="en-US" altLang="ko-KR" sz="700" dirty="0"/>
                <a:t>model</a:t>
              </a:r>
              <a:r>
                <a:rPr lang="ko-KR" altLang="en-US" sz="700" dirty="0"/>
                <a:t> </a:t>
              </a:r>
              <a:r>
                <a:rPr lang="en-US" altLang="ko-KR" sz="700" dirty="0"/>
                <a:t>size (saturation)</a:t>
              </a:r>
              <a:endParaRPr lang="ko-KR" altLang="en-US" sz="700" dirty="0"/>
            </a:p>
          </p:txBody>
        </p:sp>
      </p:grpSp>
      <p:sp>
        <p:nvSpPr>
          <p:cNvPr id="445" name="타원 444"/>
          <p:cNvSpPr/>
          <p:nvPr/>
        </p:nvSpPr>
        <p:spPr>
          <a:xfrm flipH="1">
            <a:off x="7934020" y="5419876"/>
            <a:ext cx="37267" cy="32983"/>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446" name="TextBox 445"/>
          <p:cNvSpPr txBox="1"/>
          <p:nvPr/>
        </p:nvSpPr>
        <p:spPr>
          <a:xfrm>
            <a:off x="10574712" y="5285223"/>
            <a:ext cx="388928" cy="186888"/>
          </a:xfrm>
          <a:prstGeom prst="rect">
            <a:avLst/>
          </a:prstGeom>
          <a:noFill/>
        </p:spPr>
        <p:txBody>
          <a:bodyPr wrap="none" rtlCol="0">
            <a:spAutoFit/>
          </a:bodyPr>
          <a:lstStyle/>
          <a:p>
            <a:r>
              <a:rPr lang="en-US" altLang="ko-KR" sz="500" b="1" dirty="0">
                <a:solidFill>
                  <a:schemeClr val="accent6">
                    <a:lumMod val="75000"/>
                  </a:schemeClr>
                </a:solidFill>
              </a:rPr>
              <a:t>1.7 ZB</a:t>
            </a:r>
            <a:endParaRPr lang="ko-KR" altLang="en-US" sz="500" b="1" dirty="0">
              <a:solidFill>
                <a:schemeClr val="accent6">
                  <a:lumMod val="75000"/>
                </a:schemeClr>
              </a:solidFill>
            </a:endParaRPr>
          </a:p>
        </p:txBody>
      </p:sp>
      <p:sp>
        <p:nvSpPr>
          <p:cNvPr id="447" name="TextBox 446"/>
          <p:cNvSpPr txBox="1"/>
          <p:nvPr/>
        </p:nvSpPr>
        <p:spPr>
          <a:xfrm>
            <a:off x="10387971" y="5534207"/>
            <a:ext cx="368999" cy="186888"/>
          </a:xfrm>
          <a:prstGeom prst="rect">
            <a:avLst/>
          </a:prstGeom>
          <a:noFill/>
        </p:spPr>
        <p:txBody>
          <a:bodyPr wrap="none" rtlCol="0">
            <a:spAutoFit/>
          </a:bodyPr>
          <a:lstStyle/>
          <a:p>
            <a:r>
              <a:rPr lang="en-US" altLang="ko-KR" sz="500" b="1" dirty="0">
                <a:solidFill>
                  <a:schemeClr val="accent1">
                    <a:lumMod val="75000"/>
                  </a:schemeClr>
                </a:solidFill>
              </a:rPr>
              <a:t>66 EB</a:t>
            </a:r>
            <a:endParaRPr lang="ko-KR" altLang="en-US" sz="500" b="1" dirty="0">
              <a:solidFill>
                <a:schemeClr val="accent1">
                  <a:lumMod val="75000"/>
                </a:schemeClr>
              </a:solidFill>
            </a:endParaRPr>
          </a:p>
        </p:txBody>
      </p:sp>
      <p:sp>
        <p:nvSpPr>
          <p:cNvPr id="456" name="직사각형 455"/>
          <p:cNvSpPr/>
          <p:nvPr/>
        </p:nvSpPr>
        <p:spPr>
          <a:xfrm>
            <a:off x="11548066" y="5101283"/>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ZB</a:t>
            </a:r>
          </a:p>
          <a:p>
            <a:pPr algn="ctr"/>
            <a:r>
              <a:rPr lang="en-US" altLang="ko-KR" sz="400" dirty="0"/>
              <a:t>(10</a:t>
            </a:r>
            <a:r>
              <a:rPr lang="en-US" altLang="ko-KR" sz="400" baseline="30000" dirty="0"/>
              <a:t>21</a:t>
            </a:r>
            <a:r>
              <a:rPr lang="en-US" altLang="ko-KR" sz="400" dirty="0"/>
              <a:t>)</a:t>
            </a:r>
            <a:endParaRPr lang="ko-KR" altLang="en-US" sz="400" dirty="0"/>
          </a:p>
        </p:txBody>
      </p:sp>
      <p:sp>
        <p:nvSpPr>
          <p:cNvPr id="457" name="직사각형 456"/>
          <p:cNvSpPr/>
          <p:nvPr/>
        </p:nvSpPr>
        <p:spPr>
          <a:xfrm>
            <a:off x="11548066" y="5378951"/>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EB</a:t>
            </a:r>
            <a:br>
              <a:rPr lang="en-US" altLang="ko-KR" sz="900" dirty="0"/>
            </a:br>
            <a:r>
              <a:rPr lang="en-US" altLang="ko-KR" sz="400" dirty="0"/>
              <a:t>(10</a:t>
            </a:r>
            <a:r>
              <a:rPr lang="en-US" altLang="ko-KR" sz="400" baseline="30000" dirty="0"/>
              <a:t>18</a:t>
            </a:r>
            <a:r>
              <a:rPr lang="en-US" altLang="ko-KR" sz="400" dirty="0"/>
              <a:t>)</a:t>
            </a:r>
            <a:endParaRPr lang="ko-KR" altLang="en-US" sz="400" dirty="0"/>
          </a:p>
        </p:txBody>
      </p:sp>
      <p:sp>
        <p:nvSpPr>
          <p:cNvPr id="458" name="직사각형 457"/>
          <p:cNvSpPr/>
          <p:nvPr/>
        </p:nvSpPr>
        <p:spPr>
          <a:xfrm>
            <a:off x="11548066" y="5656035"/>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PB</a:t>
            </a:r>
          </a:p>
          <a:p>
            <a:pPr algn="ctr"/>
            <a:r>
              <a:rPr lang="en-US" altLang="ko-KR" sz="400" dirty="0"/>
              <a:t>(10</a:t>
            </a:r>
            <a:r>
              <a:rPr lang="en-US" altLang="ko-KR" sz="400" baseline="30000" dirty="0"/>
              <a:t>15</a:t>
            </a:r>
            <a:r>
              <a:rPr lang="en-US" altLang="ko-KR" sz="400" dirty="0"/>
              <a:t>)</a:t>
            </a:r>
            <a:endParaRPr lang="ko-KR" altLang="en-US" sz="400" dirty="0"/>
          </a:p>
        </p:txBody>
      </p:sp>
      <p:sp>
        <p:nvSpPr>
          <p:cNvPr id="459" name="직사각형 458"/>
          <p:cNvSpPr/>
          <p:nvPr/>
        </p:nvSpPr>
        <p:spPr>
          <a:xfrm>
            <a:off x="11548066" y="5933196"/>
            <a:ext cx="233529" cy="275661"/>
          </a:xfrm>
          <a:prstGeom prst="rect">
            <a:avLst/>
          </a:prstGeom>
          <a:solidFill>
            <a:schemeClr val="bg1">
              <a:lumMod val="85000"/>
            </a:schemeClr>
          </a:solidFill>
          <a:ln w="19050">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altLang="ko-KR" sz="900" dirty="0"/>
              <a:t>TB</a:t>
            </a:r>
          </a:p>
          <a:p>
            <a:pPr algn="ctr"/>
            <a:r>
              <a:rPr lang="en-US" altLang="ko-KR" sz="300" dirty="0"/>
              <a:t>(10</a:t>
            </a:r>
            <a:r>
              <a:rPr lang="en-US" altLang="ko-KR" sz="300" baseline="30000" dirty="0"/>
              <a:t>12</a:t>
            </a:r>
            <a:r>
              <a:rPr lang="en-US" altLang="ko-KR" sz="300" dirty="0"/>
              <a:t>)</a:t>
            </a:r>
            <a:endParaRPr lang="ko-KR" altLang="en-US" sz="300" dirty="0"/>
          </a:p>
        </p:txBody>
      </p:sp>
      <p:cxnSp>
        <p:nvCxnSpPr>
          <p:cNvPr id="460" name="구부러진 연결선 459"/>
          <p:cNvCxnSpPr>
            <a:stCxn id="459" idx="1"/>
            <a:endCxn id="458" idx="1"/>
          </p:cNvCxnSpPr>
          <p:nvPr/>
        </p:nvCxnSpPr>
        <p:spPr>
          <a:xfrm rot="10800000">
            <a:off x="11548066" y="5793867"/>
            <a:ext cx="12700" cy="277161"/>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cxnSp>
        <p:nvCxnSpPr>
          <p:cNvPr id="461" name="구부러진 연결선 460"/>
          <p:cNvCxnSpPr>
            <a:stCxn id="458" idx="1"/>
            <a:endCxn id="457" idx="1"/>
          </p:cNvCxnSpPr>
          <p:nvPr/>
        </p:nvCxnSpPr>
        <p:spPr>
          <a:xfrm rot="10800000">
            <a:off x="11548066" y="5516782"/>
            <a:ext cx="12700" cy="277084"/>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cxnSp>
        <p:nvCxnSpPr>
          <p:cNvPr id="462" name="구부러진 연결선 461"/>
          <p:cNvCxnSpPr>
            <a:stCxn id="457" idx="1"/>
            <a:endCxn id="456" idx="1"/>
          </p:cNvCxnSpPr>
          <p:nvPr/>
        </p:nvCxnSpPr>
        <p:spPr>
          <a:xfrm rot="10800000">
            <a:off x="11548066" y="5239114"/>
            <a:ext cx="12700" cy="277668"/>
          </a:xfrm>
          <a:prstGeom prst="curvedConnector3">
            <a:avLst>
              <a:gd name="adj1" fmla="val 1800000"/>
            </a:avLst>
          </a:prstGeom>
          <a:ln w="19050">
            <a:solidFill>
              <a:schemeClr val="bg1">
                <a:lumMod val="50000"/>
              </a:schemeClr>
            </a:solidFill>
            <a:tailEnd type="triangle"/>
          </a:ln>
        </p:spPr>
        <p:style>
          <a:lnRef idx="2">
            <a:schemeClr val="dk1"/>
          </a:lnRef>
          <a:fillRef idx="1">
            <a:schemeClr val="lt1"/>
          </a:fillRef>
          <a:effectRef idx="0">
            <a:schemeClr val="dk1"/>
          </a:effectRef>
          <a:fontRef idx="minor">
            <a:schemeClr val="dk1"/>
          </a:fontRef>
        </p:style>
      </p:cxnSp>
      <p:sp>
        <p:nvSpPr>
          <p:cNvPr id="463" name="TextBox 462"/>
          <p:cNvSpPr txBox="1"/>
          <p:nvPr/>
        </p:nvSpPr>
        <p:spPr>
          <a:xfrm>
            <a:off x="11271645" y="5359014"/>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464" name="TextBox 463"/>
          <p:cNvSpPr txBox="1"/>
          <p:nvPr/>
        </p:nvSpPr>
        <p:spPr>
          <a:xfrm>
            <a:off x="11278113" y="5636370"/>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465" name="TextBox 464"/>
          <p:cNvSpPr txBox="1"/>
          <p:nvPr/>
        </p:nvSpPr>
        <p:spPr>
          <a:xfrm>
            <a:off x="11278615" y="5927066"/>
            <a:ext cx="195204" cy="169898"/>
          </a:xfrm>
          <a:prstGeom prst="rect">
            <a:avLst/>
          </a:prstGeom>
          <a:solidFill>
            <a:schemeClr val="bg1"/>
          </a:solidFill>
        </p:spPr>
        <p:txBody>
          <a:bodyPr wrap="square" lIns="0" tIns="0" rIns="0" bIns="0" rtlCol="0">
            <a:spAutoFit/>
          </a:bodyPr>
          <a:lstStyle/>
          <a:p>
            <a:pPr algn="ctr"/>
            <a:r>
              <a:rPr lang="en-US" altLang="ko-KR" sz="500" b="1" dirty="0"/>
              <a:t>x1000</a:t>
            </a:r>
            <a:endParaRPr lang="ko-KR" altLang="en-US" sz="500" b="1" dirty="0"/>
          </a:p>
        </p:txBody>
      </p:sp>
      <p:sp>
        <p:nvSpPr>
          <p:cNvPr id="24" name="직사각형 23"/>
          <p:cNvSpPr/>
          <p:nvPr/>
        </p:nvSpPr>
        <p:spPr>
          <a:xfrm>
            <a:off x="6775829" y="3774869"/>
            <a:ext cx="3128212" cy="320601"/>
          </a:xfrm>
          <a:prstGeom prst="rect">
            <a:avLst/>
          </a:prstGeom>
        </p:spPr>
        <p:txBody>
          <a:bodyPr>
            <a:spAutoFit/>
          </a:bodyPr>
          <a:lstStyle/>
          <a:p>
            <a:pPr lvl="0">
              <a:spcAft>
                <a:spcPts val="100"/>
              </a:spcAft>
            </a:pPr>
            <a:r>
              <a:rPr lang="en-US" altLang="ko-KR" sz="700" dirty="0">
                <a:solidFill>
                  <a:srgbClr val="808080"/>
                </a:solidFill>
                <a:ea typeface="맑은 고딕"/>
                <a:cs typeface="맑은 고딕"/>
              </a:rPr>
              <a:t>※ 70B</a:t>
            </a:r>
            <a:r>
              <a:rPr lang="ko-KR" altLang="en-US" sz="700" dirty="0">
                <a:solidFill>
                  <a:srgbClr val="808080"/>
                </a:solidFill>
                <a:ea typeface="맑은 고딕"/>
                <a:cs typeface="맑은 고딕"/>
              </a:rPr>
              <a:t>급 모델</a:t>
            </a:r>
            <a:r>
              <a:rPr lang="en-US" altLang="ko-KR" sz="700" dirty="0">
                <a:solidFill>
                  <a:srgbClr val="808080"/>
                </a:solidFill>
                <a:ea typeface="맑은 고딕"/>
                <a:cs typeface="맑은 고딕"/>
              </a:rPr>
              <a:t>, FP16 </a:t>
            </a:r>
            <a:r>
              <a:rPr lang="ko-KR" altLang="en-US" sz="700" dirty="0">
                <a:solidFill>
                  <a:srgbClr val="808080"/>
                </a:solidFill>
                <a:ea typeface="맑은 고딕"/>
                <a:cs typeface="맑은 고딕"/>
              </a:rPr>
              <a:t>기준 </a:t>
            </a:r>
            <a:endParaRPr lang="en-US" altLang="ko-KR" sz="700" dirty="0">
              <a:solidFill>
                <a:srgbClr val="808080"/>
              </a:solidFill>
              <a:ea typeface="맑은 고딕"/>
              <a:cs typeface="맑은 고딕"/>
            </a:endParaRPr>
          </a:p>
          <a:p>
            <a:pPr lvl="0">
              <a:spcAft>
                <a:spcPts val="100"/>
              </a:spcAft>
            </a:pPr>
            <a:r>
              <a:rPr lang="en-US" altLang="ko-KR" sz="700" dirty="0">
                <a:solidFill>
                  <a:srgbClr val="808080"/>
                </a:solidFill>
                <a:ea typeface="맑은 고딕"/>
                <a:cs typeface="맑은 고딕"/>
              </a:rPr>
              <a:t>※ </a:t>
            </a:r>
            <a:r>
              <a:rPr lang="ko-KR" altLang="en-US" sz="700" dirty="0">
                <a:solidFill>
                  <a:srgbClr val="808080"/>
                </a:solidFill>
                <a:ea typeface="맑은 고딕"/>
                <a:cs typeface="맑은 고딕"/>
              </a:rPr>
              <a:t>서비스 필요 용량 </a:t>
            </a:r>
            <a:r>
              <a:rPr lang="en-US" altLang="ko-KR" sz="700" dirty="0">
                <a:solidFill>
                  <a:srgbClr val="808080"/>
                </a:solidFill>
                <a:ea typeface="맑은 고딕"/>
                <a:cs typeface="맑은 고딕"/>
              </a:rPr>
              <a:t>= </a:t>
            </a:r>
            <a:r>
              <a:rPr lang="ko-KR" altLang="en-US" sz="700" b="1" dirty="0">
                <a:solidFill>
                  <a:srgbClr val="C00000"/>
                </a:solidFill>
                <a:ea typeface="맑은 고딕"/>
                <a:cs typeface="맑은 고딕"/>
              </a:rPr>
              <a:t>문맥 길이 </a:t>
            </a:r>
            <a:r>
              <a:rPr lang="en-US" altLang="ko-KR" sz="700" b="1" dirty="0">
                <a:solidFill>
                  <a:srgbClr val="C00000"/>
                </a:solidFill>
                <a:ea typeface="맑은 고딕"/>
                <a:cs typeface="맑은 고딕"/>
              </a:rPr>
              <a:t>× </a:t>
            </a:r>
            <a:r>
              <a:rPr lang="ko-KR" altLang="en-US" sz="700" b="1" dirty="0">
                <a:solidFill>
                  <a:srgbClr val="C00000"/>
                </a:solidFill>
                <a:ea typeface="맑은 고딕"/>
                <a:cs typeface="맑은 고딕"/>
              </a:rPr>
              <a:t>동시 사용자 수</a:t>
            </a:r>
          </a:p>
        </p:txBody>
      </p:sp>
      <p:sp>
        <p:nvSpPr>
          <p:cNvPr id="26" name="직사각형 25"/>
          <p:cNvSpPr/>
          <p:nvPr/>
        </p:nvSpPr>
        <p:spPr>
          <a:xfrm>
            <a:off x="6285848" y="4478556"/>
            <a:ext cx="4883260" cy="246221"/>
          </a:xfrm>
          <a:prstGeom prst="rect">
            <a:avLst/>
          </a:prstGeom>
        </p:spPr>
        <p:txBody>
          <a:bodyPr wrap="square">
            <a:spAutoFit/>
          </a:bodyPr>
          <a:lstStyle/>
          <a:p>
            <a:pPr lvl="0"/>
            <a:r>
              <a:rPr lang="en-US" altLang="ko-KR" sz="1000" b="1" dirty="0" err="1">
                <a:solidFill>
                  <a:prstClr val="black"/>
                </a:solidFill>
              </a:rPr>
              <a:t>KVcache</a:t>
            </a:r>
            <a:r>
              <a:rPr lang="en-US" altLang="ko-KR" sz="1000" b="1" dirty="0">
                <a:solidFill>
                  <a:prstClr val="black"/>
                </a:solidFill>
              </a:rPr>
              <a:t> size(‘30</a:t>
            </a:r>
            <a:r>
              <a:rPr lang="ko-KR" altLang="en-US" sz="1000" b="1" dirty="0">
                <a:solidFill>
                  <a:prstClr val="black"/>
                </a:solidFill>
              </a:rPr>
              <a:t>년</a:t>
            </a:r>
            <a:r>
              <a:rPr lang="en-US" altLang="ko-KR" sz="1000" b="1" dirty="0">
                <a:solidFill>
                  <a:prstClr val="black"/>
                </a:solidFill>
              </a:rPr>
              <a:t>,312 ZB),</a:t>
            </a:r>
            <a:r>
              <a:rPr lang="ko-KR" altLang="en-US" sz="1000" b="1" dirty="0">
                <a:solidFill>
                  <a:prstClr val="black"/>
                </a:solidFill>
              </a:rPr>
              <a:t> 총 </a:t>
            </a:r>
            <a:r>
              <a:rPr lang="en-US" altLang="ko-KR" sz="1000" b="1" dirty="0">
                <a:solidFill>
                  <a:prstClr val="black"/>
                </a:solidFill>
              </a:rPr>
              <a:t>NAND </a:t>
            </a:r>
            <a:r>
              <a:rPr lang="ko-KR" altLang="en-US" sz="1000" b="1" dirty="0">
                <a:solidFill>
                  <a:prstClr val="black"/>
                </a:solidFill>
              </a:rPr>
              <a:t>예상 공급</a:t>
            </a:r>
            <a:r>
              <a:rPr lang="en-US" altLang="ko-KR" sz="1000" b="1" dirty="0">
                <a:solidFill>
                  <a:prstClr val="black"/>
                </a:solidFill>
              </a:rPr>
              <a:t>(1.76 ZB) </a:t>
            </a:r>
            <a:r>
              <a:rPr lang="ko-KR" altLang="en-US" sz="1000" b="1" dirty="0">
                <a:solidFill>
                  <a:prstClr val="black"/>
                </a:solidFill>
              </a:rPr>
              <a:t>대비</a:t>
            </a:r>
            <a:r>
              <a:rPr lang="en-US" altLang="ko-KR" sz="1000" b="1" dirty="0">
                <a:solidFill>
                  <a:prstClr val="black"/>
                </a:solidFill>
              </a:rPr>
              <a:t> 177</a:t>
            </a:r>
            <a:r>
              <a:rPr lang="ko-KR" altLang="en-US" sz="1000" b="1" dirty="0">
                <a:solidFill>
                  <a:prstClr val="black"/>
                </a:solidFill>
              </a:rPr>
              <a:t>배 필요 </a:t>
            </a:r>
            <a:endParaRPr lang="en-US" altLang="ko-KR" sz="400" b="1" dirty="0">
              <a:solidFill>
                <a:prstClr val="black"/>
              </a:solidFill>
            </a:endParaRPr>
          </a:p>
        </p:txBody>
      </p:sp>
      <p:sp>
        <p:nvSpPr>
          <p:cNvPr id="467" name="직사각형 466"/>
          <p:cNvSpPr/>
          <p:nvPr/>
        </p:nvSpPr>
        <p:spPr>
          <a:xfrm>
            <a:off x="10755818" y="3483207"/>
            <a:ext cx="1112332" cy="320601"/>
          </a:xfrm>
          <a:prstGeom prst="rect">
            <a:avLst/>
          </a:prstGeom>
        </p:spPr>
        <p:txBody>
          <a:bodyPr wrap="square">
            <a:spAutoFit/>
          </a:bodyPr>
          <a:lstStyle/>
          <a:p>
            <a:pPr lvl="0">
              <a:spcAft>
                <a:spcPts val="100"/>
              </a:spcAft>
            </a:pPr>
            <a:r>
              <a:rPr lang="en-US" altLang="ko-KR" sz="700" dirty="0">
                <a:solidFill>
                  <a:srgbClr val="808080"/>
                </a:solidFill>
                <a:ea typeface="맑은 고딕"/>
                <a:cs typeface="맑은 고딕"/>
              </a:rPr>
              <a:t>128K </a:t>
            </a:r>
            <a:r>
              <a:rPr lang="ko-KR" altLang="en-US" sz="700" dirty="0">
                <a:solidFill>
                  <a:srgbClr val="808080"/>
                </a:solidFill>
                <a:ea typeface="맑은 고딕"/>
                <a:cs typeface="맑은 고딕"/>
              </a:rPr>
              <a:t>토큰</a:t>
            </a:r>
            <a:r>
              <a:rPr lang="en-US" altLang="ko-KR" sz="700" dirty="0">
                <a:solidFill>
                  <a:srgbClr val="808080"/>
                </a:solidFill>
                <a:ea typeface="맑은 고딕"/>
                <a:cs typeface="맑은 고딕"/>
              </a:rPr>
              <a:t>: </a:t>
            </a:r>
          </a:p>
          <a:p>
            <a:pPr lvl="0">
              <a:spcAft>
                <a:spcPts val="100"/>
              </a:spcAft>
            </a:pPr>
            <a:r>
              <a:rPr lang="ko-KR" altLang="en-US" sz="700" dirty="0">
                <a:solidFill>
                  <a:srgbClr val="808080"/>
                </a:solidFill>
                <a:ea typeface="맑은 고딕"/>
                <a:cs typeface="맑은 고딕"/>
              </a:rPr>
              <a:t>소설책 약 </a:t>
            </a:r>
            <a:r>
              <a:rPr lang="en-US" altLang="ko-KR" sz="700" dirty="0">
                <a:solidFill>
                  <a:srgbClr val="808080"/>
                </a:solidFill>
                <a:ea typeface="맑은 고딕"/>
                <a:cs typeface="맑은 고딕"/>
              </a:rPr>
              <a:t>1~2</a:t>
            </a:r>
            <a:r>
              <a:rPr lang="ko-KR" altLang="en-US" sz="700" dirty="0">
                <a:solidFill>
                  <a:srgbClr val="808080"/>
                </a:solidFill>
                <a:ea typeface="맑은 고딕"/>
                <a:cs typeface="맑은 고딕"/>
              </a:rPr>
              <a:t>권 길이</a:t>
            </a:r>
            <a:endParaRPr lang="en-US" altLang="ko-KR" sz="700" dirty="0">
              <a:solidFill>
                <a:srgbClr val="808080"/>
              </a:solidFill>
              <a:ea typeface="맑은 고딕"/>
              <a:cs typeface="맑은 고딕"/>
            </a:endParaRPr>
          </a:p>
        </p:txBody>
      </p:sp>
      <p:sp>
        <p:nvSpPr>
          <p:cNvPr id="468" name="Cache caption"/>
          <p:cNvSpPr txBox="1"/>
          <p:nvPr/>
        </p:nvSpPr>
        <p:spPr>
          <a:xfrm>
            <a:off x="8422936" y="1528041"/>
            <a:ext cx="943696" cy="207215"/>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4B5563"/>
                </a:solidFill>
                <a:effectLst/>
                <a:uLnTx/>
                <a:uFillTx/>
              </a:rPr>
              <a:t>1step</a:t>
            </a:r>
            <a:r>
              <a:rPr kumimoji="0" lang="ko-KR" altLang="en-US" sz="600" b="0" i="0" u="none" strike="noStrike" kern="0" cap="none" spc="0" normalizeH="0" baseline="0" noProof="0" dirty="0">
                <a:ln>
                  <a:noFill/>
                </a:ln>
                <a:solidFill>
                  <a:srgbClr val="4B5563"/>
                </a:solidFill>
                <a:effectLst/>
                <a:uLnTx/>
                <a:uFillTx/>
              </a:rPr>
              <a:t>에 한 </a:t>
            </a:r>
            <a:r>
              <a:rPr kumimoji="0" lang="ko-KR" altLang="en-US" sz="600" b="0" i="0" u="none" strike="noStrike" kern="0" cap="none" spc="0" normalizeH="0" baseline="0" noProof="0" dirty="0" err="1">
                <a:ln>
                  <a:noFill/>
                </a:ln>
                <a:solidFill>
                  <a:srgbClr val="4B5563"/>
                </a:solidFill>
                <a:effectLst/>
                <a:uLnTx/>
                <a:uFillTx/>
              </a:rPr>
              <a:t>토큰씩</a:t>
            </a:r>
            <a:r>
              <a:rPr kumimoji="0" lang="ko-KR" altLang="en-US" sz="600" b="0" i="0" u="none" strike="noStrike" kern="0" cap="none" spc="0" normalizeH="0" baseline="0" noProof="0" dirty="0">
                <a:ln>
                  <a:noFill/>
                </a:ln>
                <a:solidFill>
                  <a:srgbClr val="4B5563"/>
                </a:solidFill>
                <a:effectLst/>
                <a:uLnTx/>
                <a:uFillTx/>
              </a:rPr>
              <a:t> 생성</a:t>
            </a:r>
            <a:endParaRPr kumimoji="0" lang="en-US" sz="600" b="0" i="0" u="none" strike="noStrike" kern="0" cap="none" spc="0" normalizeH="0" baseline="0" noProof="0" dirty="0">
              <a:ln>
                <a:noFill/>
              </a:ln>
              <a:solidFill>
                <a:srgbClr val="1F2937"/>
              </a:solidFill>
              <a:effectLst/>
              <a:uLnTx/>
              <a:uFillTx/>
            </a:endParaRPr>
          </a:p>
        </p:txBody>
      </p:sp>
    </p:spTree>
    <p:extLst>
      <p:ext uri="{BB962C8B-B14F-4D97-AF65-F5344CB8AC3E}">
        <p14:creationId xmlns:p14="http://schemas.microsoft.com/office/powerpoint/2010/main" val="188481516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1552</Words>
  <Application>Microsoft Office PowerPoint</Application>
  <PresentationFormat>와이드스크린</PresentationFormat>
  <Paragraphs>300</Paragraphs>
  <Slides>2</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Noto Sans KR</vt:lpstr>
      <vt:lpstr>맑은 고딕</vt:lpstr>
      <vt:lpstr>Arial</vt:lpstr>
      <vt:lpstr>Cambria Math</vt:lpstr>
      <vt:lpstr>Office 테마</vt:lpstr>
      <vt:lpstr>과제 배경</vt:lpstr>
      <vt:lpstr>배경 지식 (Agent, KV 캐시, Prefill/Decode)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과제 배경</dc:title>
  <dc:creator>SAMSUNG</dc:creator>
  <cp:lastModifiedBy>SAMSUNG</cp:lastModifiedBy>
  <cp:revision>1</cp:revision>
  <dcterms:created xsi:type="dcterms:W3CDTF">2026-10-27T14:24:26Z</dcterms:created>
  <dcterms:modified xsi:type="dcterms:W3CDTF">2026-10-27T14:24:52Z</dcterms:modified>
</cp:coreProperties>
</file>